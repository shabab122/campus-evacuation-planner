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NOTES
Good morning. Our project is the Campus Emergency Evacuation Route Planner. We propose using A* search to find a safer available exit. The key idea is to consider both travel distance and hazard cost, rather than choosing an exit only because it is close.
The map on this slide introduces the idea of one starting point, multiple exits, and different corridor conditions. We will explain the problem, the route model, our algorithms, and the implementation plan.
DETAILS FOR QUESTIONS / PRESENTER REFERENCE
This is an AI Lab project proposal prepared by the project team. The grid is illustrative; it is not a real campus floor plan or a computed result.
[Sources]
User-provided file: Campus_Emergency_Evacuation_Light_Theme.pptx, slide 1.
User-provided file: Campus_Emergency_Evacuation_Route_Planner_Dark_10_Slide_Deck_Final.pptx, slide 1.
This is a cue-based condensation of the supplied proposal, not an independently verified system or research update.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NOTES
The problem is that a familiar route can become unsafe during an emergency. Fire, smoke, crowding, or a blocked corridor can change the safety of a path.
The nearest exit may also be unavailable, so a short route is not automatically a suitable route. At the same time, people need fast and clear guidance from their room to a valid exit.
These points explain why our model considers corridor risk as well as distance. That is the problem our proposed planner addresses.
DETAILS FOR QUESTIONS / PRESENTER REFERENCE
Original four points: hazards change route safety; the nearest exit may be unavailable; people need fast guidance; distance alone is insufficient. A collapsed path is another blocked-path example in the original proposal.
[Sources]
User-provided file: Campus_Emergency_Evacuation_Light_Theme.pptx, slide 2.
User-provided file: Campus_Emergency_Evacuation_Route_Planner_Dark_10_Slide_Deck_Final.pptx, slide 2.
This is a cue-based condensation of the supplied proposal, not an independently verified system or research update.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NOTES
We model the campus floor as a weighted grid. A cell can represent a room, corridor, wall, exit, or hazard. The map contains one starting room and multiple possible exits.
The example costs are one for a normal corridor, three for a crowded corridor, and eight for a smoke zone. Fire or a collapsed path is marked as blocked. An exit is a goal node; the route taken to reach it determines the total cost.
The first version uses a static grid. When the map changes, the system runs A* again.
DETAILS FOR QUESTIONS / PRESENTER REFERENCE
Input: start room, exits, walls, hazards, and corridor costs. Output: route, chosen exit, and total route cost. Movement costs represent distance and corridor conditions. The proposal labels 1, 3, and 8 as example movement costs. The prior light-theme notes also distinguish costly cells from blocked cells: high-risk cells retain a cost, while blocked cells are not traversable. The grid shown here is illustrative, not an evaluated search result.
[Sources]
User-provided file: Campus_Emergency_Evacuation_Light_Theme.pptx, slide 3.
User-provided file: Campus_Emergency_Evacuation_Route_Planner_Dark_10_Slide_Deck_Final.pptx, slide 3.
This is a cue-based condensation of the supplied proposal, not an independently verified system or research update.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NOTES
Our proposed solution has four steps. First, we choose the start room, exits, walls, and hazards. Second, we assign a movement cost to each walkable cell. Third, A* evaluates the routes to reachable exits. Finally, we show the selected route, exit, and performance metrics.
The route objective is to find the lowest combined travel and hazard cost. We also want to visualize the search and compare the algorithms, so that the demonstration shows not just a route but also how the planner performs.
DETAILS FOR QUESTIONS / PRESENTER REFERENCE
Original routing objectives: avoid walls, blocked corridors, fire, and high-risk smoke zones; choose a safe route to an available exit; compare six search algorithms. Original evaluation objectives: measure cost, path length, explored nodes, and execution time; visualize the search for a live demonstration. The source describes searching across reachable exits; implementation details are not added here.
[Sources]
User-provided file: Campus_Emergency_Evacuation_Light_Theme.pptx, slide 4.
User-provided file: Campus_Emergency_Evacuation_Route_Planner_Dark_10_Slide_Deck_Final.pptx, slide 4.
This is a cue-based condensation of the supplied proposal, not an independently verified system or research update.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NOTES
The interface will bring together six main features. An interactive map will show rooms, corridors, exits, walls, and hazards. Users will choose a start room and possible exits, then edit the hazard scenario.
After a search, the visualization will display explored cells, the selected route, and the chosen exit. The comparison feature will run the six algorithms on the same map. The results will report route cost, path length, explored nodes, and execution time.
Together, these features support the planned live demonstration.
DETAILS FOR QUESTIONS / PRESENTER REFERENCE
The six algorithms named in the source are A*, BFS, DFS, Dijkstra, UCS, and Greedy. Hazard editing includes crowding, smoke, fire, and blocked cells. The proposal supports one starting room and one or more possible exits.
[Sources]
User-provided file: Campus_Emergency_Evacuation_Light_Theme.pptx, slide 5.
User-provided file: Campus_Emergency_Evacuation_Route_Planner_Dark_10_Slide_Deck_Final.pptx, slide 5.
This is a cue-based condensation of the supplied proposal, not an independently verified system or research update.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NOTES
A* uses the formula f of n equals g of n plus h of n. Here, g is the actual cost from the start to the current node. In our project, the corridor and hazard costs affect this value.
The h value estimates the distance from the current node to an exit. Our proposal uses Manhattan distance, as shown below. The f value gives the search priority.
The process starts by placing the start node in the open set. It selects the node with the lowest f value, updates valid neighbors and their costs, and stops when a goal exit is reached.
DETAILS FOR QUESTIONS / PRESENTER REFERENCE
Why it fits this project, as stated in the source: hazard costs affect g(n), and the heuristic reduces unnecessary exploration. The equation is the source's per-exit Manhattan expression. The source does not spell out the detailed implementation for combining the heuristic across multiple exits; no additional implementation rule is inferred here.
[Sources]
User-provided file: Campus_Emergency_Evacuation_Light_Theme.pptx, slide 6.
User-provided file: Campus_Emergency_Evacuation_Route_Planner_Dark_10_Slide_Deck_Final.pptx, slide 6.
This is a cue-based condensation of the supplied proposal, not an independently verified system or research update.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NOTES
A* is the main planner, and we will compare it with BFS, DFS, Dijkstra, UCS, and Greedy. The slide lists the algorithms rather than explaining each one in full.
For a fair comparison, every algorithm will use the same map, start, exits, and hazards. We will check whether it finds a path, which exit it selects, the total route cost, path length, nodes explored, and execution time.
This lets us compare the result and the search effort on the same scenario.
DETAILS FOR QUESTIONS / PRESENTER REFERENCE
Algorithm descriptions retained from the original proposal:
BFS: shortest path when every walkable cell has equal cost.
DFS: finds a route but does not guarantee the best route.
Dijkstra: lowest-cost route when hazard costs differ.
UCS: expands the path with the lowest accumulated cost.
Greedy: uses the heuristic quickly but may miss the best route.
The source lists Dijkstra and UCS separately. This deck preserves that comparison plan; it does not add an explanation of their relationship or claim independent experimental results.
[Sources]
User-provided file: Campus_Emergency_Evacuation_Light_Theme.pptx, slide 7.
User-provided file: Campus_Emergency_Evacuation_Route_Planner_Dark_10_Slide_Deck_Final.pptx, slide 7.
This is a cue-based condensation of the supplied proposal, not an independently verified system or research update.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NOTES
Python will handle the search logic. The proposal leaves the visualization choice open between Pygame and Streamlit. NumPy represents the grid, Pandas stores experiment results, Matplotlib creates comparison charts, and Git with GitHub supports version control and collaboration.
The work is divided among four members. Member one handles the map and scenarios. Member two handles A* and feature integration. Member three handles the other algorithms and evaluation. Member four handles the interface and final delivery. Scenario testing and presentation practice are shared.
DETAILS FOR QUESTIONS / PRESENTER REFERENCE
Full team assignment retained from the source:
Member 1, slides 2-3: map design, cost rules, hazards, and test scenarios.
Member 2, slides 4-5: A* implementation and feature integration.
Member 3, slides 6-7: other algorithms, comparison metrics, and results.
Member 4, slides 8-9: interface, integration, documentation, and final demo.
Pygame or Streamlit remains an undecided option in the proposal; the deck does not imply that a choice has been made.
[Sources]
User-provided file: Campus_Emergency_Evacuation_Light_Theme.pptx, slide 8.
User-provided file: Campus_Emergency_Evacuation_Route_Planner_Dark_10_Slide_Deck_Final.pptx, slide 8.
This is a cue-based condensation of the supplied proposal, not an independently verified system or research update.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NOTES
Our plan covers three weeks. In week one, we define the grid, symbols, and cost rules, then implement BFS and basic A*. The milestone is a working route on a static map.
In week two, we add hazards and multiple exits, implement the remaining algorithms, and record comparison metrics.
In week three, we build the visualization, test blocked and unsafe exit cases, and finalize the documentation and slides. The final milestone is a complete live demonstration.
DETAILS FOR QUESTIONS / PRESENTER REFERENCE
Full demo sequence from the source:
1. Select the room and hazards.
2. Run A*.
3. Show a farther safe exit.
4. Compare six algorithms.
5. Explain f, g, h, and team roles.
Week 2 algorithms: DFS, Dijkstra, UCS, and Greedy. Week 2 milestone in the original: safe route and comparison data. These are planned activities and milestones, not claims that implementation or testing is complete.
[Sources]
User-provided file: Campus_Emergency_Evacuation_Light_Theme.pptx, slide 9.
User-provided file: Campus_Emergency_Evacuation_Route_Planner_Dark_10_Slide_Deck_Final.pptx, slide 9.
This is a cue-based condensation of the supplied proposal, not an independently verified system or research update.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NOTES
To conclude, our proposal combines travel distance and hazard cost to guide the route search. We will demonstrate the route visually and compare the algorithms on the same scenarios. Thank you. We welcome your questions.
[Sources]
User-provided file: Campus_Emergency_Evacuation_Light_Theme.pptx, slide 10.
User-provided file: Campus_Emergency_Evacuation_Route_Planner_Dark_10_Slide_Deck_Final.pptx, slide 10.
This is a cue-based condensation of the supplied proposal, not an independently verified system or research update.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F"/>
        </a:solidFill>
      </p:bgPr>
    </p:bg>
    <p:spTree>
      <p:nvGrpSpPr>
        <p:cNvPr id="1" name=""/>
        <p:cNvGrpSpPr/>
        <p:nvPr/>
      </p:nvGrpSpPr>
      <p:grpSpPr>
        <a:xfrm>
          <a:off x="0" y="0"/>
          <a:ext cx="0" cy="0"/>
          <a:chOff x="0" y="0"/>
          <a:chExt cx="0" cy="0"/>
        </a:xfrm>
      </p:grpSpPr>
      <p:sp>
        <p:nvSpPr>
          <p:cNvPr id="4" name="Shape 2"/>
          <p:cNvSpPr/>
          <p:nvPr/>
        </p:nvSpPr>
        <p:spPr>
          <a:xfrm>
            <a:off x="585216" y="6451092"/>
            <a:ext cx="11021568" cy="0"/>
          </a:xfrm>
          <a:prstGeom prst="line">
            <a:avLst/>
          </a:prstGeom>
          <a:noFill/>
          <a:ln w="9525">
            <a:solidFill>
              <a:srgbClr val="DFE6F2"/>
            </a:solidFill>
            <a:prstDash val="solid"/>
            <a:headEnd type="none"/>
            <a:tailEnd type="none"/>
          </a:ln>
        </p:spPr>
        <p:txBody>
          <a:bodyPr/>
          <a:p/>
        </p:txBody>
      </p:sp>
      <p:sp>
        <p:nvSpPr>
          <p:cNvPr id="6" name="Shape 4"/>
          <p:cNvSpPr/>
          <p:nvPr/>
        </p:nvSpPr>
        <p:spPr>
          <a:xfrm>
            <a:off x="10131552" y="6588252"/>
            <a:ext cx="27432" cy="27432"/>
          </a:xfrm>
          <a:prstGeom prst="ellipse">
            <a:avLst/>
          </a:prstGeom>
          <a:solidFill>
            <a:srgbClr val="6C5CE7"/>
          </a:solidFill>
          <a:ln w="12700">
            <a:solidFill>
              <a:srgbClr val="6C5CE7">
                <a:alpha val="0"/>
              </a:srgbClr>
            </a:solidFill>
            <a:prstDash val="solid"/>
          </a:ln>
        </p:spPr>
        <p:txBody>
          <a:bodyPr/>
          <a:p/>
        </p:txBody>
      </p:sp>
      <p:sp>
        <p:nvSpPr>
          <p:cNvPr id="7" name="Shape 5"/>
          <p:cNvSpPr/>
          <p:nvPr/>
        </p:nvSpPr>
        <p:spPr>
          <a:xfrm>
            <a:off x="10232136" y="6588252"/>
            <a:ext cx="27432" cy="27432"/>
          </a:xfrm>
          <a:prstGeom prst="ellipse">
            <a:avLst/>
          </a:prstGeom>
          <a:solidFill>
            <a:srgbClr val="DFE6F2"/>
          </a:solidFill>
          <a:ln w="12700">
            <a:solidFill>
              <a:srgbClr val="DFE6F2">
                <a:alpha val="0"/>
              </a:srgbClr>
            </a:solidFill>
            <a:prstDash val="solid"/>
          </a:ln>
        </p:spPr>
        <p:txBody>
          <a:bodyPr/>
          <a:p/>
        </p:txBody>
      </p:sp>
      <p:sp>
        <p:nvSpPr>
          <p:cNvPr id="8" name="Shape 6"/>
          <p:cNvSpPr/>
          <p:nvPr/>
        </p:nvSpPr>
        <p:spPr>
          <a:xfrm>
            <a:off x="10332720" y="6588252"/>
            <a:ext cx="27432" cy="27432"/>
          </a:xfrm>
          <a:prstGeom prst="ellipse">
            <a:avLst/>
          </a:prstGeom>
          <a:solidFill>
            <a:srgbClr val="DFE6F2"/>
          </a:solidFill>
          <a:ln w="12700">
            <a:solidFill>
              <a:srgbClr val="DFE6F2">
                <a:alpha val="0"/>
              </a:srgbClr>
            </a:solidFill>
            <a:prstDash val="solid"/>
          </a:ln>
        </p:spPr>
        <p:txBody>
          <a:bodyPr/>
          <a:p/>
        </p:txBody>
      </p:sp>
      <p:sp>
        <p:nvSpPr>
          <p:cNvPr id="9" name="Shape 7"/>
          <p:cNvSpPr/>
          <p:nvPr/>
        </p:nvSpPr>
        <p:spPr>
          <a:xfrm>
            <a:off x="10433304" y="6588252"/>
            <a:ext cx="27432" cy="27432"/>
          </a:xfrm>
          <a:prstGeom prst="ellipse">
            <a:avLst/>
          </a:prstGeom>
          <a:solidFill>
            <a:srgbClr val="DFE6F2"/>
          </a:solidFill>
          <a:ln w="12700">
            <a:solidFill>
              <a:srgbClr val="DFE6F2">
                <a:alpha val="0"/>
              </a:srgbClr>
            </a:solidFill>
            <a:prstDash val="solid"/>
          </a:ln>
        </p:spPr>
        <p:txBody>
          <a:bodyPr/>
          <a:p/>
        </p:txBody>
      </p:sp>
      <p:sp>
        <p:nvSpPr>
          <p:cNvPr id="10" name="Shape 8"/>
          <p:cNvSpPr/>
          <p:nvPr/>
        </p:nvSpPr>
        <p:spPr>
          <a:xfrm>
            <a:off x="10533888" y="6588252"/>
            <a:ext cx="27432" cy="27432"/>
          </a:xfrm>
          <a:prstGeom prst="ellipse">
            <a:avLst/>
          </a:prstGeom>
          <a:solidFill>
            <a:srgbClr val="DFE6F2"/>
          </a:solidFill>
          <a:ln w="12700">
            <a:solidFill>
              <a:srgbClr val="DFE6F2">
                <a:alpha val="0"/>
              </a:srgbClr>
            </a:solidFill>
            <a:prstDash val="solid"/>
          </a:ln>
        </p:spPr>
        <p:txBody>
          <a:bodyPr/>
          <a:p/>
        </p:txBody>
      </p:sp>
      <p:sp>
        <p:nvSpPr>
          <p:cNvPr id="11" name="Shape 9"/>
          <p:cNvSpPr/>
          <p:nvPr/>
        </p:nvSpPr>
        <p:spPr>
          <a:xfrm>
            <a:off x="10634472" y="6588252"/>
            <a:ext cx="27432" cy="27432"/>
          </a:xfrm>
          <a:prstGeom prst="ellipse">
            <a:avLst/>
          </a:prstGeom>
          <a:solidFill>
            <a:srgbClr val="DFE6F2"/>
          </a:solidFill>
          <a:ln w="12700">
            <a:solidFill>
              <a:srgbClr val="DFE6F2">
                <a:alpha val="0"/>
              </a:srgbClr>
            </a:solidFill>
            <a:prstDash val="solid"/>
          </a:ln>
        </p:spPr>
        <p:txBody>
          <a:bodyPr/>
          <a:p/>
        </p:txBody>
      </p:sp>
      <p:sp>
        <p:nvSpPr>
          <p:cNvPr id="12" name="Shape 10"/>
          <p:cNvSpPr/>
          <p:nvPr/>
        </p:nvSpPr>
        <p:spPr>
          <a:xfrm>
            <a:off x="10735056" y="6588252"/>
            <a:ext cx="27432" cy="27432"/>
          </a:xfrm>
          <a:prstGeom prst="ellipse">
            <a:avLst/>
          </a:prstGeom>
          <a:solidFill>
            <a:srgbClr val="DFE6F2"/>
          </a:solidFill>
          <a:ln w="12700">
            <a:solidFill>
              <a:srgbClr val="DFE6F2">
                <a:alpha val="0"/>
              </a:srgbClr>
            </a:solidFill>
            <a:prstDash val="solid"/>
          </a:ln>
        </p:spPr>
        <p:txBody>
          <a:bodyPr/>
          <a:p/>
        </p:txBody>
      </p:sp>
      <p:sp>
        <p:nvSpPr>
          <p:cNvPr id="13" name="Shape 11"/>
          <p:cNvSpPr/>
          <p:nvPr/>
        </p:nvSpPr>
        <p:spPr>
          <a:xfrm>
            <a:off x="10835640" y="6588252"/>
            <a:ext cx="27432" cy="27432"/>
          </a:xfrm>
          <a:prstGeom prst="ellipse">
            <a:avLst/>
          </a:prstGeom>
          <a:solidFill>
            <a:srgbClr val="DFE6F2"/>
          </a:solidFill>
          <a:ln w="12700">
            <a:solidFill>
              <a:srgbClr val="DFE6F2">
                <a:alpha val="0"/>
              </a:srgbClr>
            </a:solidFill>
            <a:prstDash val="solid"/>
          </a:ln>
        </p:spPr>
        <p:txBody>
          <a:bodyPr/>
          <a:p/>
        </p:txBody>
      </p:sp>
      <p:sp>
        <p:nvSpPr>
          <p:cNvPr id="14" name="Shape 12"/>
          <p:cNvSpPr/>
          <p:nvPr/>
        </p:nvSpPr>
        <p:spPr>
          <a:xfrm>
            <a:off x="10936224" y="6588252"/>
            <a:ext cx="27432" cy="27432"/>
          </a:xfrm>
          <a:prstGeom prst="ellipse">
            <a:avLst/>
          </a:prstGeom>
          <a:solidFill>
            <a:srgbClr val="DFE6F2"/>
          </a:solidFill>
          <a:ln w="12700">
            <a:solidFill>
              <a:srgbClr val="DFE6F2">
                <a:alpha val="0"/>
              </a:srgbClr>
            </a:solidFill>
            <a:prstDash val="solid"/>
          </a:ln>
        </p:spPr>
        <p:txBody>
          <a:bodyPr/>
          <a:p/>
        </p:txBody>
      </p:sp>
      <p:sp>
        <p:nvSpPr>
          <p:cNvPr id="15" name="Shape 13"/>
          <p:cNvSpPr/>
          <p:nvPr/>
        </p:nvSpPr>
        <p:spPr>
          <a:xfrm>
            <a:off x="11036808" y="6588252"/>
            <a:ext cx="27432" cy="27432"/>
          </a:xfrm>
          <a:prstGeom prst="ellipse">
            <a:avLst/>
          </a:prstGeom>
          <a:solidFill>
            <a:srgbClr val="DFE6F2"/>
          </a:solidFill>
          <a:ln w="12700">
            <a:solidFill>
              <a:srgbClr val="DFE6F2">
                <a:alpha val="0"/>
              </a:srgbClr>
            </a:solidFill>
            <a:prstDash val="solid"/>
          </a:ln>
        </p:spPr>
        <p:txBody>
          <a:bodyPr/>
          <a:p/>
        </p:txBody>
      </p:sp>
      <p:sp>
        <p:nvSpPr>
          <p:cNvPr id="16" name="Text 14"/>
          <p:cNvSpPr/>
          <p:nvPr/>
        </p:nvSpPr>
        <p:spPr>
          <a:xfrm>
            <a:off x="11228832" y="6519672"/>
            <a:ext cx="338328" cy="173736"/>
          </a:xfrm>
          <a:prstGeom prst="rect">
            <a:avLst/>
          </a:prstGeom>
          <a:noFill/>
          <a:ln/>
        </p:spPr>
        <p:txBody>
          <a:bodyPr wrap="square" lIns="0" tIns="0" rIns="0" bIns="0" rtlCol="0" anchor="ctr">
            <a:normAutofit/>
          </a:bodyPr>
          <a:lstStyle/>
          <a:p>
            <a:pPr algn="ctr" indent="0" marL="0">
              <a:buNone/>
            </a:pPr>
            <a:r>
              <a:rPr lang="en-US" sz="920" b="1" dirty="0">
                <a:solidFill>
                  <a:srgbClr val="4E5F7B"/>
                </a:solidFill>
                <a:latin typeface="Arial" pitchFamily="34" charset="0"/>
                <a:ea typeface="Arial" pitchFamily="34" charset="-122"/>
                <a:cs typeface="Arial" pitchFamily="34" charset="-120"/>
              </a:rPr>
              <a:t>01</a:t>
            </a:r>
            <a:endParaRPr lang="en-US" sz="920" dirty="0"/>
          </a:p>
        </p:txBody>
      </p:sp>
      <p:sp>
        <p:nvSpPr>
          <p:cNvPr id="17" name="Text 15"/>
          <p:cNvSpPr/>
          <p:nvPr/>
        </p:nvSpPr>
        <p:spPr>
          <a:xfrm>
            <a:off x="585216" y="987552"/>
            <a:ext cx="5522976" cy="1920240"/>
          </a:xfrm>
          <a:prstGeom prst="rect">
            <a:avLst/>
          </a:prstGeom>
          <a:noFill/>
          <a:ln/>
        </p:spPr>
        <p:txBody>
          <a:bodyPr wrap="square" lIns="0" tIns="0" rIns="0" bIns="0" rtlCol="0" anchor="ctr">
            <a:normAutofit/>
          </a:bodyPr>
          <a:lstStyle/>
          <a:p>
            <a:pPr algn="l" indent="0" marL="0">
              <a:buNone/>
            </a:pPr>
            <a:r>
              <a:rPr lang="en-US" sz="3800" b="1" dirty="0">
                <a:solidFill>
                  <a:srgbClr val="25344E"/>
                </a:solidFill>
                <a:latin typeface="Arial" pitchFamily="34" charset="0"/>
                <a:ea typeface="Arial" pitchFamily="34" charset="-122"/>
                <a:cs typeface="Arial" pitchFamily="34" charset="-120"/>
              </a:rPr>
              <a:t>Campus Emergency</a:t>
            </a:r>
            <a:endParaRPr lang="en-US" sz="3800" dirty="0"/>
          </a:p>
          <a:p>
            <a:pPr algn="l" indent="0" marL="0">
              <a:buNone/>
            </a:pPr>
            <a:r>
              <a:rPr lang="en-US" sz="3800" b="1" dirty="0">
                <a:solidFill>
                  <a:srgbClr val="25344E"/>
                </a:solidFill>
                <a:latin typeface="Arial" pitchFamily="34" charset="0"/>
                <a:ea typeface="Arial" pitchFamily="34" charset="-122"/>
                <a:cs typeface="Arial" pitchFamily="34" charset="-120"/>
              </a:rPr>
              <a:t>Evacuation Route</a:t>
            </a:r>
            <a:endParaRPr lang="en-US" sz="3800" dirty="0"/>
          </a:p>
          <a:p>
            <a:pPr algn="l" indent="0" marL="0">
              <a:buNone/>
            </a:pPr>
            <a:r>
              <a:rPr lang="en-US" sz="3800" b="1" dirty="0">
                <a:solidFill>
                  <a:srgbClr val="25344E"/>
                </a:solidFill>
                <a:latin typeface="Arial" pitchFamily="34" charset="0"/>
                <a:ea typeface="Arial" pitchFamily="34" charset="-122"/>
                <a:cs typeface="Arial" pitchFamily="34" charset="-120"/>
              </a:rPr>
              <a:t>Planner</a:t>
            </a:r>
            <a:endParaRPr lang="en-US" sz="3800" dirty="0"/>
          </a:p>
        </p:txBody>
      </p:sp>
      <p:sp>
        <p:nvSpPr>
          <p:cNvPr id="18" name="Text 16"/>
          <p:cNvSpPr/>
          <p:nvPr/>
        </p:nvSpPr>
        <p:spPr>
          <a:xfrm>
            <a:off x="585216" y="3118104"/>
            <a:ext cx="5394960" cy="749808"/>
          </a:xfrm>
          <a:prstGeom prst="rect">
            <a:avLst/>
          </a:prstGeom>
          <a:noFill/>
          <a:ln/>
        </p:spPr>
        <p:txBody>
          <a:bodyPr wrap="square" lIns="0" tIns="0" rIns="0" bIns="0" rtlCol="0" anchor="ctr">
            <a:normAutofit/>
          </a:bodyPr>
          <a:lstStyle/>
          <a:p>
            <a:pPr algn="l" indent="0" marL="0">
              <a:buNone/>
            </a:pPr>
            <a:r>
              <a:rPr lang="en-US" sz="2400" dirty="0">
                <a:solidFill>
                  <a:srgbClr val="4E5F7B"/>
                </a:solidFill>
                <a:latin typeface="Arial" pitchFamily="34" charset="0"/>
                <a:ea typeface="Arial" pitchFamily="34" charset="-122"/>
                <a:cs typeface="Arial" pitchFamily="34" charset="-120"/>
              </a:rPr>
              <a:t>A* search for safer</a:t>
            </a:r>
            <a:endParaRPr lang="en-US" sz="2400" dirty="0"/>
          </a:p>
          <a:p>
            <a:pPr algn="l" indent="0" marL="0">
              <a:buNone/>
            </a:pPr>
            <a:r>
              <a:rPr lang="en-US" sz="2400" dirty="0">
                <a:solidFill>
                  <a:srgbClr val="4E5F7B"/>
                </a:solidFill>
                <a:latin typeface="Arial" pitchFamily="34" charset="0"/>
                <a:ea typeface="Arial" pitchFamily="34" charset="-122"/>
                <a:cs typeface="Arial" pitchFamily="34" charset="-120"/>
              </a:rPr>
              <a:t>evacuation routes</a:t>
            </a:r>
            <a:endParaRPr lang="en-US" sz="2400" dirty="0"/>
          </a:p>
        </p:txBody>
      </p:sp>
      <p:sp>
        <p:nvSpPr>
          <p:cNvPr id="19" name="Shape 17"/>
          <p:cNvSpPr/>
          <p:nvPr/>
        </p:nvSpPr>
        <p:spPr>
          <a:xfrm>
            <a:off x="585216" y="4114800"/>
            <a:ext cx="5358384" cy="512064"/>
          </a:xfrm>
          <a:prstGeom prst="roundRect">
            <a:avLst>
              <a:gd name="adj" fmla="val 18571"/>
            </a:avLst>
          </a:prstGeom>
          <a:solidFill>
            <a:srgbClr val="E7F6F2"/>
          </a:solidFill>
          <a:ln w="10160">
            <a:solidFill>
              <a:srgbClr val="E7F6F2"/>
            </a:solidFill>
            <a:prstDash val="solid"/>
          </a:ln>
        </p:spPr>
        <p:txBody>
          <a:bodyPr/>
          <a:p/>
        </p:txBody>
      </p:sp>
      <p:sp>
        <p:nvSpPr>
          <p:cNvPr id="20" name="Text 18"/>
          <p:cNvSpPr/>
          <p:nvPr/>
        </p:nvSpPr>
        <p:spPr>
          <a:xfrm>
            <a:off x="749808" y="4169663"/>
            <a:ext cx="5029200" cy="402336"/>
          </a:xfrm>
          <a:prstGeom prst="rect">
            <a:avLst/>
          </a:prstGeom>
          <a:noFill/>
          <a:ln/>
        </p:spPr>
        <p:txBody>
          <a:bodyPr wrap="square" lIns="0" tIns="0" rIns="0" bIns="0" rtlCol="0" anchor="ctr">
            <a:normAutofit/>
          </a:bodyPr>
          <a:lstStyle/>
          <a:p>
            <a:pPr algn="ctr" indent="0" marL="0">
              <a:buNone/>
            </a:pPr>
            <a:r>
              <a:rPr lang="en-US" sz="2200" b="1" dirty="0">
                <a:solidFill>
                  <a:srgbClr val="138D87"/>
                </a:solidFill>
                <a:latin typeface="Arial" pitchFamily="34" charset="0"/>
                <a:ea typeface="Arial" pitchFamily="34" charset="-122"/>
                <a:cs typeface="Arial" pitchFamily="34" charset="-120"/>
              </a:rPr>
              <a:t>Distance + hazard cost</a:t>
            </a:r>
            <a:endParaRPr lang="en-US" sz="2200" dirty="0"/>
          </a:p>
        </p:txBody>
      </p:sp>
      <p:sp>
        <p:nvSpPr>
          <p:cNvPr id="21" name="Text 19"/>
          <p:cNvSpPr/>
          <p:nvPr/>
        </p:nvSpPr>
        <p:spPr>
          <a:xfrm>
            <a:off x="585216" y="4764024"/>
            <a:ext cx="5358384" cy="219456"/>
          </a:xfrm>
          <a:prstGeom prst="rect">
            <a:avLst/>
          </a:prstGeom>
          <a:noFill/>
          <a:ln/>
        </p:spPr>
        <p:txBody>
          <a:bodyPr wrap="none" lIns="0" tIns="0" rIns="0" bIns="0" rtlCol="0" anchor="ctr">
            <a:noAutofit/>
          </a:bodyPr>
          <a:lstStyle/>
          <a:p>
            <a:pPr algn="ctr" indent="0" marL="0">
              <a:spcBef>
                <a:spcPts val="0"/>
              </a:spcBef>
              <a:spcAft>
                <a:spcPts val="0"/>
              </a:spcAft>
              <a:buNone/>
            </a:pPr>
            <a:r>
              <a:rPr sz="1250" b="1">
                <a:solidFill>
                  <a:srgbClr val="4E5F7B"/>
                </a:solidFill>
                <a:latin typeface="Arial"/>
              </a:rPr>
              <a:t>Presented by</a:t>
            </a:r>
            <a:endParaRPr lang="en-US" sz="1250" dirty="0"/>
          </a:p>
        </p:txBody>
      </p:sp>
      <p:sp>
        <p:nvSpPr>
          <p:cNvPr id="22" name="Shape 20"/>
          <p:cNvSpPr/>
          <p:nvPr/>
        </p:nvSpPr>
        <p:spPr>
          <a:xfrm>
            <a:off x="6528816" y="1097280"/>
            <a:ext cx="5074920" cy="5093208"/>
          </a:xfrm>
          <a:prstGeom prst="roundRect">
            <a:avLst>
              <a:gd name="adj" fmla="val 2342"/>
            </a:avLst>
          </a:prstGeom>
          <a:solidFill>
            <a:srgbClr val="FFFFFF"/>
          </a:solidFill>
          <a:ln w="10160">
            <a:solidFill>
              <a:srgbClr val="DFE6F2"/>
            </a:solidFill>
            <a:prstDash val="solid"/>
          </a:ln>
        </p:spPr>
        <p:txBody>
          <a:bodyPr/>
          <a:p/>
        </p:txBody>
      </p:sp>
      <p:sp>
        <p:nvSpPr>
          <p:cNvPr id="23" name="Shape 21"/>
          <p:cNvSpPr/>
          <p:nvPr/>
        </p:nvSpPr>
        <p:spPr>
          <a:xfrm>
            <a:off x="7178040" y="1353312"/>
            <a:ext cx="3758184" cy="329184"/>
          </a:xfrm>
          <a:prstGeom prst="roundRect">
            <a:avLst>
              <a:gd name="adj" fmla="val 36111"/>
            </a:avLst>
          </a:prstGeom>
          <a:solidFill>
            <a:srgbClr val="EFECFD"/>
          </a:solidFill>
          <a:ln w="10160">
            <a:solidFill>
              <a:srgbClr val="EFECFD"/>
            </a:solidFill>
            <a:prstDash val="solid"/>
          </a:ln>
        </p:spPr>
        <p:txBody>
          <a:bodyPr/>
          <a:p/>
        </p:txBody>
      </p:sp>
      <p:sp>
        <p:nvSpPr>
          <p:cNvPr id="24" name="Text 22"/>
          <p:cNvSpPr/>
          <p:nvPr/>
        </p:nvSpPr>
        <p:spPr>
          <a:xfrm>
            <a:off x="7251192" y="1376172"/>
            <a:ext cx="3611880" cy="283464"/>
          </a:xfrm>
          <a:prstGeom prst="rect">
            <a:avLst/>
          </a:prstGeom>
          <a:noFill/>
          <a:ln/>
        </p:spPr>
        <p:txBody>
          <a:bodyPr wrap="square" lIns="0" tIns="0" rIns="0" bIns="0" rtlCol="0" anchor="ctr">
            <a:normAutofit/>
          </a:bodyPr>
          <a:lstStyle/>
          <a:p>
            <a:pPr algn="ctr" indent="0" marL="0">
              <a:buNone/>
            </a:pPr>
            <a:r>
              <a:rPr lang="en-US" sz="1150" b="1" dirty="0">
                <a:solidFill>
                  <a:srgbClr val="6C5CE7"/>
                </a:solidFill>
                <a:latin typeface="Arial" pitchFamily="34" charset="0"/>
                <a:ea typeface="Arial" pitchFamily="34" charset="-122"/>
                <a:cs typeface="Arial" pitchFamily="34" charset="-120"/>
              </a:rPr>
              <a:t>ILLUSTRATIVE GRID</a:t>
            </a:r>
            <a:endParaRPr lang="en-US" sz="1150" dirty="0"/>
          </a:p>
        </p:txBody>
      </p:sp>
      <p:sp>
        <p:nvSpPr>
          <p:cNvPr id="25" name="Shape 23"/>
          <p:cNvSpPr/>
          <p:nvPr/>
        </p:nvSpPr>
        <p:spPr>
          <a:xfrm>
            <a:off x="7461504" y="1892808"/>
            <a:ext cx="493776" cy="493776"/>
          </a:xfrm>
          <a:prstGeom prst="roundRect">
            <a:avLst>
              <a:gd name="adj" fmla="val 8333"/>
            </a:avLst>
          </a:prstGeom>
          <a:solidFill>
            <a:srgbClr val="138D87"/>
          </a:solidFill>
          <a:ln w="10160">
            <a:solidFill>
              <a:srgbClr val="138D87"/>
            </a:solidFill>
            <a:prstDash val="solid"/>
          </a:ln>
        </p:spPr>
        <p:txBody>
          <a:bodyPr/>
          <a:p/>
        </p:txBody>
      </p:sp>
      <p:sp>
        <p:nvSpPr>
          <p:cNvPr id="26" name="Text 24"/>
          <p:cNvSpPr/>
          <p:nvPr/>
        </p:nvSpPr>
        <p:spPr>
          <a:xfrm>
            <a:off x="7479792" y="1911096"/>
            <a:ext cx="457200" cy="45720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S</a:t>
            </a:r>
            <a:endParaRPr lang="en-US" sz="1800" dirty="0"/>
          </a:p>
        </p:txBody>
      </p:sp>
      <p:sp>
        <p:nvSpPr>
          <p:cNvPr id="27" name="Shape 25"/>
          <p:cNvSpPr/>
          <p:nvPr/>
        </p:nvSpPr>
        <p:spPr>
          <a:xfrm>
            <a:off x="7996428" y="1892808"/>
            <a:ext cx="493776" cy="493776"/>
          </a:xfrm>
          <a:prstGeom prst="roundRect">
            <a:avLst>
              <a:gd name="adj" fmla="val 8333"/>
            </a:avLst>
          </a:prstGeom>
          <a:solidFill>
            <a:srgbClr val="EAF0F7"/>
          </a:solidFill>
          <a:ln w="10160">
            <a:solidFill>
              <a:srgbClr val="EAF0F7"/>
            </a:solidFill>
            <a:prstDash val="solid"/>
          </a:ln>
        </p:spPr>
        <p:txBody>
          <a:bodyPr/>
          <a:p/>
        </p:txBody>
      </p:sp>
      <p:sp>
        <p:nvSpPr>
          <p:cNvPr id="28" name="Shape 26"/>
          <p:cNvSpPr/>
          <p:nvPr/>
        </p:nvSpPr>
        <p:spPr>
          <a:xfrm>
            <a:off x="8531352" y="1892808"/>
            <a:ext cx="493776" cy="493776"/>
          </a:xfrm>
          <a:prstGeom prst="roundRect">
            <a:avLst>
              <a:gd name="adj" fmla="val 8333"/>
            </a:avLst>
          </a:prstGeom>
          <a:solidFill>
            <a:srgbClr val="BAC7D8"/>
          </a:solidFill>
          <a:ln w="10160">
            <a:solidFill>
              <a:srgbClr val="BAC7D8"/>
            </a:solidFill>
            <a:prstDash val="solid"/>
          </a:ln>
        </p:spPr>
        <p:txBody>
          <a:bodyPr/>
          <a:p/>
        </p:txBody>
      </p:sp>
      <p:sp>
        <p:nvSpPr>
          <p:cNvPr id="29" name="Shape 27"/>
          <p:cNvSpPr/>
          <p:nvPr/>
        </p:nvSpPr>
        <p:spPr>
          <a:xfrm>
            <a:off x="9066276" y="1892808"/>
            <a:ext cx="493776" cy="493776"/>
          </a:xfrm>
          <a:prstGeom prst="roundRect">
            <a:avLst>
              <a:gd name="adj" fmla="val 8333"/>
            </a:avLst>
          </a:prstGeom>
          <a:solidFill>
            <a:srgbClr val="EAF0F7"/>
          </a:solidFill>
          <a:ln w="10160">
            <a:solidFill>
              <a:srgbClr val="EAF0F7"/>
            </a:solidFill>
            <a:prstDash val="solid"/>
          </a:ln>
        </p:spPr>
        <p:txBody>
          <a:bodyPr/>
          <a:p/>
        </p:txBody>
      </p:sp>
      <p:sp>
        <p:nvSpPr>
          <p:cNvPr id="30" name="Shape 28"/>
          <p:cNvSpPr/>
          <p:nvPr/>
        </p:nvSpPr>
        <p:spPr>
          <a:xfrm>
            <a:off x="9601200" y="1892808"/>
            <a:ext cx="493776" cy="493776"/>
          </a:xfrm>
          <a:prstGeom prst="roundRect">
            <a:avLst>
              <a:gd name="adj" fmla="val 8333"/>
            </a:avLst>
          </a:prstGeom>
          <a:solidFill>
            <a:srgbClr val="EAF0F7"/>
          </a:solidFill>
          <a:ln w="10160">
            <a:solidFill>
              <a:srgbClr val="EAF0F7"/>
            </a:solidFill>
            <a:prstDash val="solid"/>
          </a:ln>
        </p:spPr>
        <p:txBody>
          <a:bodyPr/>
          <a:p/>
        </p:txBody>
      </p:sp>
      <p:sp>
        <p:nvSpPr>
          <p:cNvPr id="31" name="Shape 29"/>
          <p:cNvSpPr/>
          <p:nvPr/>
        </p:nvSpPr>
        <p:spPr>
          <a:xfrm>
            <a:off x="10136124" y="1892808"/>
            <a:ext cx="493776" cy="493776"/>
          </a:xfrm>
          <a:prstGeom prst="roundRect">
            <a:avLst>
              <a:gd name="adj" fmla="val 8333"/>
            </a:avLst>
          </a:prstGeom>
          <a:solidFill>
            <a:srgbClr val="EFECFD"/>
          </a:solidFill>
          <a:ln w="10160">
            <a:solidFill>
              <a:srgbClr val="EFECFD"/>
            </a:solidFill>
            <a:prstDash val="solid"/>
          </a:ln>
        </p:spPr>
        <p:txBody>
          <a:bodyPr/>
          <a:p/>
        </p:txBody>
      </p:sp>
      <p:sp>
        <p:nvSpPr>
          <p:cNvPr id="32" name="Text 30"/>
          <p:cNvSpPr/>
          <p:nvPr/>
        </p:nvSpPr>
        <p:spPr>
          <a:xfrm>
            <a:off x="10154412" y="1911096"/>
            <a:ext cx="457200" cy="457200"/>
          </a:xfrm>
          <a:prstGeom prst="rect">
            <a:avLst/>
          </a:prstGeom>
          <a:noFill/>
          <a:ln/>
        </p:spPr>
        <p:txBody>
          <a:bodyPr wrap="square" lIns="0" tIns="0" rIns="0" bIns="0" rtlCol="0" anchor="ctr">
            <a:normAutofit/>
          </a:bodyPr>
          <a:lstStyle/>
          <a:p>
            <a:pPr algn="ctr" indent="0" marL="0">
              <a:buNone/>
            </a:pPr>
            <a:r>
              <a:rPr lang="en-US" sz="900" b="1" dirty="0">
                <a:solidFill>
                  <a:srgbClr val="6C5CE7"/>
                </a:solidFill>
                <a:latin typeface="Arial" pitchFamily="34" charset="0"/>
                <a:ea typeface="Arial" pitchFamily="34" charset="-122"/>
                <a:cs typeface="Arial" pitchFamily="34" charset="-120"/>
              </a:rPr>
              <a:t>EXIT</a:t>
            </a:r>
            <a:endParaRPr lang="en-US" sz="900" dirty="0"/>
          </a:p>
        </p:txBody>
      </p:sp>
      <p:sp>
        <p:nvSpPr>
          <p:cNvPr id="33" name="Shape 31"/>
          <p:cNvSpPr/>
          <p:nvPr/>
        </p:nvSpPr>
        <p:spPr>
          <a:xfrm>
            <a:off x="7461504" y="2427732"/>
            <a:ext cx="493776" cy="493776"/>
          </a:xfrm>
          <a:prstGeom prst="roundRect">
            <a:avLst>
              <a:gd name="adj" fmla="val 8333"/>
            </a:avLst>
          </a:prstGeom>
          <a:solidFill>
            <a:srgbClr val="C7EAE2"/>
          </a:solidFill>
          <a:ln w="10160">
            <a:solidFill>
              <a:srgbClr val="C7EAE2"/>
            </a:solidFill>
            <a:prstDash val="solid"/>
          </a:ln>
        </p:spPr>
        <p:txBody>
          <a:bodyPr/>
          <a:p/>
        </p:txBody>
      </p:sp>
      <p:sp>
        <p:nvSpPr>
          <p:cNvPr id="34" name="Shape 32"/>
          <p:cNvSpPr/>
          <p:nvPr/>
        </p:nvSpPr>
        <p:spPr>
          <a:xfrm>
            <a:off x="7667244" y="2633472"/>
            <a:ext cx="82296" cy="82296"/>
          </a:xfrm>
          <a:prstGeom prst="ellipse">
            <a:avLst/>
          </a:prstGeom>
          <a:solidFill>
            <a:srgbClr val="138D87"/>
          </a:solidFill>
          <a:ln w="12700">
            <a:solidFill>
              <a:srgbClr val="138D87">
                <a:alpha val="0"/>
              </a:srgbClr>
            </a:solidFill>
            <a:prstDash val="solid"/>
          </a:ln>
        </p:spPr>
        <p:txBody>
          <a:bodyPr/>
          <a:p/>
        </p:txBody>
      </p:sp>
      <p:sp>
        <p:nvSpPr>
          <p:cNvPr id="35" name="Shape 33"/>
          <p:cNvSpPr/>
          <p:nvPr/>
        </p:nvSpPr>
        <p:spPr>
          <a:xfrm>
            <a:off x="7996428" y="2427732"/>
            <a:ext cx="493776" cy="493776"/>
          </a:xfrm>
          <a:prstGeom prst="roundRect">
            <a:avLst>
              <a:gd name="adj" fmla="val 8333"/>
            </a:avLst>
          </a:prstGeom>
          <a:solidFill>
            <a:srgbClr val="EAF0F7"/>
          </a:solidFill>
          <a:ln w="10160">
            <a:solidFill>
              <a:srgbClr val="EAF0F7"/>
            </a:solidFill>
            <a:prstDash val="solid"/>
          </a:ln>
        </p:spPr>
        <p:txBody>
          <a:bodyPr/>
          <a:p/>
        </p:txBody>
      </p:sp>
      <p:sp>
        <p:nvSpPr>
          <p:cNvPr id="36" name="Shape 34"/>
          <p:cNvSpPr/>
          <p:nvPr/>
        </p:nvSpPr>
        <p:spPr>
          <a:xfrm>
            <a:off x="8531352" y="2427732"/>
            <a:ext cx="493776" cy="493776"/>
          </a:xfrm>
          <a:prstGeom prst="roundRect">
            <a:avLst>
              <a:gd name="adj" fmla="val 8333"/>
            </a:avLst>
          </a:prstGeom>
          <a:solidFill>
            <a:srgbClr val="BAC7D8"/>
          </a:solidFill>
          <a:ln w="10160">
            <a:solidFill>
              <a:srgbClr val="BAC7D8"/>
            </a:solidFill>
            <a:prstDash val="solid"/>
          </a:ln>
        </p:spPr>
        <p:txBody>
          <a:bodyPr/>
          <a:p/>
        </p:txBody>
      </p:sp>
      <p:sp>
        <p:nvSpPr>
          <p:cNvPr id="37" name="Shape 35"/>
          <p:cNvSpPr/>
          <p:nvPr/>
        </p:nvSpPr>
        <p:spPr>
          <a:xfrm>
            <a:off x="9066276" y="2427732"/>
            <a:ext cx="493776" cy="493776"/>
          </a:xfrm>
          <a:prstGeom prst="roundRect">
            <a:avLst>
              <a:gd name="adj" fmla="val 8333"/>
            </a:avLst>
          </a:prstGeom>
          <a:solidFill>
            <a:srgbClr val="EAF0F7"/>
          </a:solidFill>
          <a:ln w="10160">
            <a:solidFill>
              <a:srgbClr val="EAF0F7"/>
            </a:solidFill>
            <a:prstDash val="solid"/>
          </a:ln>
        </p:spPr>
        <p:txBody>
          <a:bodyPr/>
          <a:p/>
        </p:txBody>
      </p:sp>
      <p:sp>
        <p:nvSpPr>
          <p:cNvPr id="38" name="Shape 36"/>
          <p:cNvSpPr/>
          <p:nvPr/>
        </p:nvSpPr>
        <p:spPr>
          <a:xfrm>
            <a:off x="9601200" y="2427732"/>
            <a:ext cx="493776" cy="493776"/>
          </a:xfrm>
          <a:prstGeom prst="roundRect">
            <a:avLst>
              <a:gd name="adj" fmla="val 8333"/>
            </a:avLst>
          </a:prstGeom>
          <a:solidFill>
            <a:srgbClr val="E6DFFA"/>
          </a:solidFill>
          <a:ln w="10160">
            <a:solidFill>
              <a:srgbClr val="E6DFFA"/>
            </a:solidFill>
            <a:prstDash val="solid"/>
          </a:ln>
        </p:spPr>
        <p:txBody>
          <a:bodyPr/>
          <a:p/>
        </p:txBody>
      </p:sp>
      <p:sp>
        <p:nvSpPr>
          <p:cNvPr id="39" name="Text 37"/>
          <p:cNvSpPr/>
          <p:nvPr/>
        </p:nvSpPr>
        <p:spPr>
          <a:xfrm>
            <a:off x="9619488" y="2446020"/>
            <a:ext cx="457200" cy="457200"/>
          </a:xfrm>
          <a:prstGeom prst="rect">
            <a:avLst/>
          </a:prstGeom>
          <a:noFill/>
          <a:ln/>
        </p:spPr>
        <p:txBody>
          <a:bodyPr wrap="square" lIns="0" tIns="0" rIns="0" bIns="0" rtlCol="0" anchor="ctr">
            <a:normAutofit/>
          </a:bodyPr>
          <a:lstStyle/>
          <a:p>
            <a:pPr algn="ctr" indent="0" marL="0">
              <a:buNone/>
            </a:pPr>
            <a:r>
              <a:rPr lang="en-US" sz="1700" b="1" dirty="0">
                <a:solidFill>
                  <a:srgbClr val="6C5CE7"/>
                </a:solidFill>
                <a:latin typeface="Arial" pitchFamily="34" charset="0"/>
                <a:ea typeface="Arial" pitchFamily="34" charset="-122"/>
                <a:cs typeface="Arial" pitchFamily="34" charset="-120"/>
              </a:rPr>
              <a:t>8</a:t>
            </a:r>
            <a:endParaRPr lang="en-US" sz="1700" dirty="0"/>
          </a:p>
        </p:txBody>
      </p:sp>
      <p:sp>
        <p:nvSpPr>
          <p:cNvPr id="40" name="Shape 38"/>
          <p:cNvSpPr/>
          <p:nvPr/>
        </p:nvSpPr>
        <p:spPr>
          <a:xfrm>
            <a:off x="10136124" y="2427732"/>
            <a:ext cx="493776" cy="493776"/>
          </a:xfrm>
          <a:prstGeom prst="roundRect">
            <a:avLst>
              <a:gd name="adj" fmla="val 8333"/>
            </a:avLst>
          </a:prstGeom>
          <a:solidFill>
            <a:srgbClr val="EAF0F7"/>
          </a:solidFill>
          <a:ln w="10160">
            <a:solidFill>
              <a:srgbClr val="EAF0F7"/>
            </a:solidFill>
            <a:prstDash val="solid"/>
          </a:ln>
        </p:spPr>
        <p:txBody>
          <a:bodyPr/>
          <a:p/>
        </p:txBody>
      </p:sp>
      <p:sp>
        <p:nvSpPr>
          <p:cNvPr id="41" name="Shape 39"/>
          <p:cNvSpPr/>
          <p:nvPr/>
        </p:nvSpPr>
        <p:spPr>
          <a:xfrm>
            <a:off x="7461504" y="2962656"/>
            <a:ext cx="493776" cy="493776"/>
          </a:xfrm>
          <a:prstGeom prst="roundRect">
            <a:avLst>
              <a:gd name="adj" fmla="val 8333"/>
            </a:avLst>
          </a:prstGeom>
          <a:solidFill>
            <a:srgbClr val="C7EAE2"/>
          </a:solidFill>
          <a:ln w="10160">
            <a:solidFill>
              <a:srgbClr val="C7EAE2"/>
            </a:solidFill>
            <a:prstDash val="solid"/>
          </a:ln>
        </p:spPr>
        <p:txBody>
          <a:bodyPr/>
          <a:p/>
        </p:txBody>
      </p:sp>
      <p:sp>
        <p:nvSpPr>
          <p:cNvPr id="42" name="Shape 40"/>
          <p:cNvSpPr/>
          <p:nvPr/>
        </p:nvSpPr>
        <p:spPr>
          <a:xfrm>
            <a:off x="7667244" y="3168396"/>
            <a:ext cx="82296" cy="82296"/>
          </a:xfrm>
          <a:prstGeom prst="ellipse">
            <a:avLst/>
          </a:prstGeom>
          <a:solidFill>
            <a:srgbClr val="138D87"/>
          </a:solidFill>
          <a:ln w="12700">
            <a:solidFill>
              <a:srgbClr val="138D87">
                <a:alpha val="0"/>
              </a:srgbClr>
            </a:solidFill>
            <a:prstDash val="solid"/>
          </a:ln>
        </p:spPr>
        <p:txBody>
          <a:bodyPr/>
          <a:p/>
        </p:txBody>
      </p:sp>
      <p:sp>
        <p:nvSpPr>
          <p:cNvPr id="43" name="Shape 41"/>
          <p:cNvSpPr/>
          <p:nvPr/>
        </p:nvSpPr>
        <p:spPr>
          <a:xfrm>
            <a:off x="7996428" y="2962656"/>
            <a:ext cx="493776" cy="493776"/>
          </a:xfrm>
          <a:prstGeom prst="roundRect">
            <a:avLst>
              <a:gd name="adj" fmla="val 8333"/>
            </a:avLst>
          </a:prstGeom>
          <a:solidFill>
            <a:srgbClr val="EAF0F7"/>
          </a:solidFill>
          <a:ln w="10160">
            <a:solidFill>
              <a:srgbClr val="EAF0F7"/>
            </a:solidFill>
            <a:prstDash val="solid"/>
          </a:ln>
        </p:spPr>
        <p:txBody>
          <a:bodyPr/>
          <a:p/>
        </p:txBody>
      </p:sp>
      <p:sp>
        <p:nvSpPr>
          <p:cNvPr id="44" name="Shape 42"/>
          <p:cNvSpPr/>
          <p:nvPr/>
        </p:nvSpPr>
        <p:spPr>
          <a:xfrm>
            <a:off x="8531352" y="2962656"/>
            <a:ext cx="493776" cy="493776"/>
          </a:xfrm>
          <a:prstGeom prst="roundRect">
            <a:avLst>
              <a:gd name="adj" fmla="val 8333"/>
            </a:avLst>
          </a:prstGeom>
          <a:solidFill>
            <a:srgbClr val="BAC7D8"/>
          </a:solidFill>
          <a:ln w="10160">
            <a:solidFill>
              <a:srgbClr val="BAC7D8"/>
            </a:solidFill>
            <a:prstDash val="solid"/>
          </a:ln>
        </p:spPr>
        <p:txBody>
          <a:bodyPr/>
          <a:p/>
        </p:txBody>
      </p:sp>
      <p:sp>
        <p:nvSpPr>
          <p:cNvPr id="45" name="Shape 43"/>
          <p:cNvSpPr/>
          <p:nvPr/>
        </p:nvSpPr>
        <p:spPr>
          <a:xfrm>
            <a:off x="9066276" y="2962656"/>
            <a:ext cx="493776" cy="493776"/>
          </a:xfrm>
          <a:prstGeom prst="roundRect">
            <a:avLst>
              <a:gd name="adj" fmla="val 8333"/>
            </a:avLst>
          </a:prstGeom>
          <a:solidFill>
            <a:srgbClr val="FFF4DE"/>
          </a:solidFill>
          <a:ln w="10160">
            <a:solidFill>
              <a:srgbClr val="FFF4DE"/>
            </a:solidFill>
            <a:prstDash val="solid"/>
          </a:ln>
        </p:spPr>
        <p:txBody>
          <a:bodyPr/>
          <a:p/>
        </p:txBody>
      </p:sp>
      <p:sp>
        <p:nvSpPr>
          <p:cNvPr id="46" name="Text 44"/>
          <p:cNvSpPr/>
          <p:nvPr/>
        </p:nvSpPr>
        <p:spPr>
          <a:xfrm>
            <a:off x="9084564" y="2980944"/>
            <a:ext cx="457200" cy="457200"/>
          </a:xfrm>
          <a:prstGeom prst="rect">
            <a:avLst/>
          </a:prstGeom>
          <a:noFill/>
          <a:ln/>
        </p:spPr>
        <p:txBody>
          <a:bodyPr wrap="square" lIns="0" tIns="0" rIns="0" bIns="0" rtlCol="0" anchor="ctr">
            <a:normAutofit/>
          </a:bodyPr>
          <a:lstStyle/>
          <a:p>
            <a:pPr algn="ctr" indent="0" marL="0">
              <a:buNone/>
            </a:pPr>
            <a:r>
              <a:rPr lang="en-US" sz="1700" b="1" dirty="0">
                <a:solidFill>
                  <a:srgbClr val="C48B25"/>
                </a:solidFill>
                <a:latin typeface="Arial" pitchFamily="34" charset="0"/>
                <a:ea typeface="Arial" pitchFamily="34" charset="-122"/>
                <a:cs typeface="Arial" pitchFamily="34" charset="-120"/>
              </a:rPr>
              <a:t>3</a:t>
            </a:r>
            <a:endParaRPr lang="en-US" sz="1700" dirty="0"/>
          </a:p>
        </p:txBody>
      </p:sp>
      <p:sp>
        <p:nvSpPr>
          <p:cNvPr id="47" name="Shape 45"/>
          <p:cNvSpPr/>
          <p:nvPr/>
        </p:nvSpPr>
        <p:spPr>
          <a:xfrm>
            <a:off x="9601200" y="2962656"/>
            <a:ext cx="493776" cy="493776"/>
          </a:xfrm>
          <a:prstGeom prst="roundRect">
            <a:avLst>
              <a:gd name="adj" fmla="val 8333"/>
            </a:avLst>
          </a:prstGeom>
          <a:solidFill>
            <a:srgbClr val="EAF0F7"/>
          </a:solidFill>
          <a:ln w="10160">
            <a:solidFill>
              <a:srgbClr val="EAF0F7"/>
            </a:solidFill>
            <a:prstDash val="solid"/>
          </a:ln>
        </p:spPr>
        <p:txBody>
          <a:bodyPr/>
          <a:p/>
        </p:txBody>
      </p:sp>
      <p:sp>
        <p:nvSpPr>
          <p:cNvPr id="48" name="Shape 46"/>
          <p:cNvSpPr/>
          <p:nvPr/>
        </p:nvSpPr>
        <p:spPr>
          <a:xfrm>
            <a:off x="10136124" y="2962656"/>
            <a:ext cx="493776" cy="493776"/>
          </a:xfrm>
          <a:prstGeom prst="roundRect">
            <a:avLst>
              <a:gd name="adj" fmla="val 8333"/>
            </a:avLst>
          </a:prstGeom>
          <a:solidFill>
            <a:srgbClr val="EAF0F7"/>
          </a:solidFill>
          <a:ln w="10160">
            <a:solidFill>
              <a:srgbClr val="EAF0F7"/>
            </a:solidFill>
            <a:prstDash val="solid"/>
          </a:ln>
        </p:spPr>
        <p:txBody>
          <a:bodyPr/>
          <a:p/>
        </p:txBody>
      </p:sp>
      <p:sp>
        <p:nvSpPr>
          <p:cNvPr id="49" name="Shape 47"/>
          <p:cNvSpPr/>
          <p:nvPr/>
        </p:nvSpPr>
        <p:spPr>
          <a:xfrm>
            <a:off x="7461504" y="3497580"/>
            <a:ext cx="493776" cy="493776"/>
          </a:xfrm>
          <a:prstGeom prst="roundRect">
            <a:avLst>
              <a:gd name="adj" fmla="val 8333"/>
            </a:avLst>
          </a:prstGeom>
          <a:solidFill>
            <a:srgbClr val="C7EAE2"/>
          </a:solidFill>
          <a:ln w="10160">
            <a:solidFill>
              <a:srgbClr val="C7EAE2"/>
            </a:solidFill>
            <a:prstDash val="solid"/>
          </a:ln>
        </p:spPr>
        <p:txBody>
          <a:bodyPr/>
          <a:p/>
        </p:txBody>
      </p:sp>
      <p:sp>
        <p:nvSpPr>
          <p:cNvPr id="50" name="Shape 48"/>
          <p:cNvSpPr/>
          <p:nvPr/>
        </p:nvSpPr>
        <p:spPr>
          <a:xfrm>
            <a:off x="7667244" y="3703320"/>
            <a:ext cx="82296" cy="82296"/>
          </a:xfrm>
          <a:prstGeom prst="ellipse">
            <a:avLst/>
          </a:prstGeom>
          <a:solidFill>
            <a:srgbClr val="138D87"/>
          </a:solidFill>
          <a:ln w="12700">
            <a:solidFill>
              <a:srgbClr val="138D87">
                <a:alpha val="0"/>
              </a:srgbClr>
            </a:solidFill>
            <a:prstDash val="solid"/>
          </a:ln>
        </p:spPr>
        <p:txBody>
          <a:bodyPr/>
          <a:p/>
        </p:txBody>
      </p:sp>
      <p:sp>
        <p:nvSpPr>
          <p:cNvPr id="51" name="Shape 49"/>
          <p:cNvSpPr/>
          <p:nvPr/>
        </p:nvSpPr>
        <p:spPr>
          <a:xfrm>
            <a:off x="7996428" y="3497580"/>
            <a:ext cx="493776" cy="493776"/>
          </a:xfrm>
          <a:prstGeom prst="roundRect">
            <a:avLst>
              <a:gd name="adj" fmla="val 8333"/>
            </a:avLst>
          </a:prstGeom>
          <a:solidFill>
            <a:srgbClr val="EAF0F7"/>
          </a:solidFill>
          <a:ln w="10160">
            <a:solidFill>
              <a:srgbClr val="EAF0F7"/>
            </a:solidFill>
            <a:prstDash val="solid"/>
          </a:ln>
        </p:spPr>
        <p:txBody>
          <a:bodyPr/>
          <a:p/>
        </p:txBody>
      </p:sp>
      <p:sp>
        <p:nvSpPr>
          <p:cNvPr id="52" name="Shape 50"/>
          <p:cNvSpPr/>
          <p:nvPr/>
        </p:nvSpPr>
        <p:spPr>
          <a:xfrm>
            <a:off x="8531352" y="3497580"/>
            <a:ext cx="493776" cy="493776"/>
          </a:xfrm>
          <a:prstGeom prst="roundRect">
            <a:avLst>
              <a:gd name="adj" fmla="val 8333"/>
            </a:avLst>
          </a:prstGeom>
          <a:solidFill>
            <a:srgbClr val="BAC7D8"/>
          </a:solidFill>
          <a:ln w="10160">
            <a:solidFill>
              <a:srgbClr val="BAC7D8"/>
            </a:solidFill>
            <a:prstDash val="solid"/>
          </a:ln>
        </p:spPr>
        <p:txBody>
          <a:bodyPr/>
          <a:p/>
        </p:txBody>
      </p:sp>
      <p:sp>
        <p:nvSpPr>
          <p:cNvPr id="53" name="Shape 51"/>
          <p:cNvSpPr/>
          <p:nvPr/>
        </p:nvSpPr>
        <p:spPr>
          <a:xfrm>
            <a:off x="9066276" y="3497580"/>
            <a:ext cx="493776" cy="493776"/>
          </a:xfrm>
          <a:prstGeom prst="roundRect">
            <a:avLst>
              <a:gd name="adj" fmla="val 8333"/>
            </a:avLst>
          </a:prstGeom>
          <a:solidFill>
            <a:srgbClr val="EAF0F7"/>
          </a:solidFill>
          <a:ln w="10160">
            <a:solidFill>
              <a:srgbClr val="EAF0F7"/>
            </a:solidFill>
            <a:prstDash val="solid"/>
          </a:ln>
        </p:spPr>
        <p:txBody>
          <a:bodyPr/>
          <a:p/>
        </p:txBody>
      </p:sp>
      <p:sp>
        <p:nvSpPr>
          <p:cNvPr id="54" name="Shape 52"/>
          <p:cNvSpPr/>
          <p:nvPr/>
        </p:nvSpPr>
        <p:spPr>
          <a:xfrm>
            <a:off x="9601200" y="3497580"/>
            <a:ext cx="493776" cy="493776"/>
          </a:xfrm>
          <a:prstGeom prst="roundRect">
            <a:avLst>
              <a:gd name="adj" fmla="val 8333"/>
            </a:avLst>
          </a:prstGeom>
          <a:solidFill>
            <a:srgbClr val="EAF0F7"/>
          </a:solidFill>
          <a:ln w="10160">
            <a:solidFill>
              <a:srgbClr val="EAF0F7"/>
            </a:solidFill>
            <a:prstDash val="solid"/>
          </a:ln>
        </p:spPr>
        <p:txBody>
          <a:bodyPr/>
          <a:p/>
        </p:txBody>
      </p:sp>
      <p:sp>
        <p:nvSpPr>
          <p:cNvPr id="55" name="Shape 53"/>
          <p:cNvSpPr/>
          <p:nvPr/>
        </p:nvSpPr>
        <p:spPr>
          <a:xfrm>
            <a:off x="10136124" y="3497580"/>
            <a:ext cx="493776" cy="493776"/>
          </a:xfrm>
          <a:prstGeom prst="roundRect">
            <a:avLst>
              <a:gd name="adj" fmla="val 8333"/>
            </a:avLst>
          </a:prstGeom>
          <a:solidFill>
            <a:srgbClr val="EAF0F7"/>
          </a:solidFill>
          <a:ln w="10160">
            <a:solidFill>
              <a:srgbClr val="EAF0F7"/>
            </a:solidFill>
            <a:prstDash val="solid"/>
          </a:ln>
        </p:spPr>
        <p:txBody>
          <a:bodyPr/>
          <a:p/>
        </p:txBody>
      </p:sp>
      <p:sp>
        <p:nvSpPr>
          <p:cNvPr id="56" name="Shape 54"/>
          <p:cNvSpPr/>
          <p:nvPr/>
        </p:nvSpPr>
        <p:spPr>
          <a:xfrm>
            <a:off x="7461504" y="4032504"/>
            <a:ext cx="493776" cy="493776"/>
          </a:xfrm>
          <a:prstGeom prst="roundRect">
            <a:avLst>
              <a:gd name="adj" fmla="val 8333"/>
            </a:avLst>
          </a:prstGeom>
          <a:solidFill>
            <a:srgbClr val="C7EAE2"/>
          </a:solidFill>
          <a:ln w="10160">
            <a:solidFill>
              <a:srgbClr val="C7EAE2"/>
            </a:solidFill>
            <a:prstDash val="solid"/>
          </a:ln>
        </p:spPr>
        <p:txBody>
          <a:bodyPr/>
          <a:p/>
        </p:txBody>
      </p:sp>
      <p:sp>
        <p:nvSpPr>
          <p:cNvPr id="57" name="Shape 55"/>
          <p:cNvSpPr/>
          <p:nvPr/>
        </p:nvSpPr>
        <p:spPr>
          <a:xfrm>
            <a:off x="7667244" y="4238244"/>
            <a:ext cx="82296" cy="82296"/>
          </a:xfrm>
          <a:prstGeom prst="ellipse">
            <a:avLst/>
          </a:prstGeom>
          <a:solidFill>
            <a:srgbClr val="138D87"/>
          </a:solidFill>
          <a:ln w="12700">
            <a:solidFill>
              <a:srgbClr val="138D87">
                <a:alpha val="0"/>
              </a:srgbClr>
            </a:solidFill>
            <a:prstDash val="solid"/>
          </a:ln>
        </p:spPr>
        <p:txBody>
          <a:bodyPr/>
          <a:p/>
        </p:txBody>
      </p:sp>
      <p:sp>
        <p:nvSpPr>
          <p:cNvPr id="58" name="Shape 56"/>
          <p:cNvSpPr/>
          <p:nvPr/>
        </p:nvSpPr>
        <p:spPr>
          <a:xfrm>
            <a:off x="7996428" y="4032504"/>
            <a:ext cx="493776" cy="493776"/>
          </a:xfrm>
          <a:prstGeom prst="roundRect">
            <a:avLst>
              <a:gd name="adj" fmla="val 8333"/>
            </a:avLst>
          </a:prstGeom>
          <a:solidFill>
            <a:srgbClr val="EAF0F7"/>
          </a:solidFill>
          <a:ln w="10160">
            <a:solidFill>
              <a:srgbClr val="EAF0F7"/>
            </a:solidFill>
            <a:prstDash val="solid"/>
          </a:ln>
        </p:spPr>
        <p:txBody>
          <a:bodyPr/>
          <a:p/>
        </p:txBody>
      </p:sp>
      <p:sp>
        <p:nvSpPr>
          <p:cNvPr id="59" name="Shape 57"/>
          <p:cNvSpPr/>
          <p:nvPr/>
        </p:nvSpPr>
        <p:spPr>
          <a:xfrm>
            <a:off x="8531352" y="4032504"/>
            <a:ext cx="493776" cy="493776"/>
          </a:xfrm>
          <a:prstGeom prst="roundRect">
            <a:avLst>
              <a:gd name="adj" fmla="val 8333"/>
            </a:avLst>
          </a:prstGeom>
          <a:solidFill>
            <a:srgbClr val="EAF0F7"/>
          </a:solidFill>
          <a:ln w="10160">
            <a:solidFill>
              <a:srgbClr val="EAF0F7"/>
            </a:solidFill>
            <a:prstDash val="solid"/>
          </a:ln>
        </p:spPr>
        <p:txBody>
          <a:bodyPr/>
          <a:p/>
        </p:txBody>
      </p:sp>
      <p:sp>
        <p:nvSpPr>
          <p:cNvPr id="60" name="Shape 58"/>
          <p:cNvSpPr/>
          <p:nvPr/>
        </p:nvSpPr>
        <p:spPr>
          <a:xfrm>
            <a:off x="9066276" y="4032504"/>
            <a:ext cx="493776" cy="493776"/>
          </a:xfrm>
          <a:prstGeom prst="roundRect">
            <a:avLst>
              <a:gd name="adj" fmla="val 8333"/>
            </a:avLst>
          </a:prstGeom>
          <a:solidFill>
            <a:srgbClr val="FDEDF0"/>
          </a:solidFill>
          <a:ln w="10160">
            <a:solidFill>
              <a:srgbClr val="FDEDF0"/>
            </a:solidFill>
            <a:prstDash val="solid"/>
          </a:ln>
        </p:spPr>
        <p:txBody>
          <a:bodyPr/>
          <a:p/>
        </p:txBody>
      </p:sp>
      <p:sp>
        <p:nvSpPr>
          <p:cNvPr id="61" name="Text 59"/>
          <p:cNvSpPr/>
          <p:nvPr/>
        </p:nvSpPr>
        <p:spPr>
          <a:xfrm>
            <a:off x="9084564" y="4050792"/>
            <a:ext cx="457200" cy="457200"/>
          </a:xfrm>
          <a:prstGeom prst="rect">
            <a:avLst/>
          </a:prstGeom>
          <a:noFill/>
          <a:ln/>
        </p:spPr>
        <p:txBody>
          <a:bodyPr wrap="square" lIns="0" tIns="0" rIns="0" bIns="0" rtlCol="0" anchor="ctr">
            <a:normAutofit/>
          </a:bodyPr>
          <a:lstStyle/>
          <a:p>
            <a:pPr algn="ctr" indent="0" marL="0">
              <a:buNone/>
            </a:pPr>
            <a:r>
              <a:rPr lang="en-US" sz="1800" b="1" dirty="0">
                <a:solidFill>
                  <a:srgbClr val="D56371"/>
                </a:solidFill>
                <a:latin typeface="Arial" pitchFamily="34" charset="0"/>
                <a:ea typeface="Arial" pitchFamily="34" charset="-122"/>
                <a:cs typeface="Arial" pitchFamily="34" charset="-120"/>
              </a:rPr>
              <a:t>X</a:t>
            </a:r>
            <a:endParaRPr lang="en-US" sz="1800" dirty="0"/>
          </a:p>
        </p:txBody>
      </p:sp>
      <p:sp>
        <p:nvSpPr>
          <p:cNvPr id="62" name="Shape 60"/>
          <p:cNvSpPr/>
          <p:nvPr/>
        </p:nvSpPr>
        <p:spPr>
          <a:xfrm>
            <a:off x="9601200" y="4032504"/>
            <a:ext cx="493776" cy="493776"/>
          </a:xfrm>
          <a:prstGeom prst="roundRect">
            <a:avLst>
              <a:gd name="adj" fmla="val 8333"/>
            </a:avLst>
          </a:prstGeom>
          <a:solidFill>
            <a:srgbClr val="BAC7D8"/>
          </a:solidFill>
          <a:ln w="10160">
            <a:solidFill>
              <a:srgbClr val="BAC7D8"/>
            </a:solidFill>
            <a:prstDash val="solid"/>
          </a:ln>
        </p:spPr>
        <p:txBody>
          <a:bodyPr/>
          <a:p/>
        </p:txBody>
      </p:sp>
      <p:sp>
        <p:nvSpPr>
          <p:cNvPr id="63" name="Shape 61"/>
          <p:cNvSpPr/>
          <p:nvPr/>
        </p:nvSpPr>
        <p:spPr>
          <a:xfrm>
            <a:off x="10136124" y="4032504"/>
            <a:ext cx="493776" cy="493776"/>
          </a:xfrm>
          <a:prstGeom prst="roundRect">
            <a:avLst>
              <a:gd name="adj" fmla="val 8333"/>
            </a:avLst>
          </a:prstGeom>
          <a:solidFill>
            <a:srgbClr val="EAF0F7"/>
          </a:solidFill>
          <a:ln w="10160">
            <a:solidFill>
              <a:srgbClr val="EAF0F7"/>
            </a:solidFill>
            <a:prstDash val="solid"/>
          </a:ln>
        </p:spPr>
        <p:txBody>
          <a:bodyPr/>
          <a:p/>
        </p:txBody>
      </p:sp>
      <p:sp>
        <p:nvSpPr>
          <p:cNvPr id="64" name="Shape 62"/>
          <p:cNvSpPr/>
          <p:nvPr/>
        </p:nvSpPr>
        <p:spPr>
          <a:xfrm>
            <a:off x="7461504" y="4567428"/>
            <a:ext cx="493776" cy="493776"/>
          </a:xfrm>
          <a:prstGeom prst="roundRect">
            <a:avLst>
              <a:gd name="adj" fmla="val 8333"/>
            </a:avLst>
          </a:prstGeom>
          <a:solidFill>
            <a:srgbClr val="C7EAE2"/>
          </a:solidFill>
          <a:ln w="10160">
            <a:solidFill>
              <a:srgbClr val="C7EAE2"/>
            </a:solidFill>
            <a:prstDash val="solid"/>
          </a:ln>
        </p:spPr>
        <p:txBody>
          <a:bodyPr/>
          <a:p/>
        </p:txBody>
      </p:sp>
      <p:sp>
        <p:nvSpPr>
          <p:cNvPr id="65" name="Shape 63"/>
          <p:cNvSpPr/>
          <p:nvPr/>
        </p:nvSpPr>
        <p:spPr>
          <a:xfrm>
            <a:off x="7667244" y="4773168"/>
            <a:ext cx="82296" cy="82296"/>
          </a:xfrm>
          <a:prstGeom prst="ellipse">
            <a:avLst/>
          </a:prstGeom>
          <a:solidFill>
            <a:srgbClr val="138D87"/>
          </a:solidFill>
          <a:ln w="12700">
            <a:solidFill>
              <a:srgbClr val="138D87">
                <a:alpha val="0"/>
              </a:srgbClr>
            </a:solidFill>
            <a:prstDash val="solid"/>
          </a:ln>
        </p:spPr>
        <p:txBody>
          <a:bodyPr/>
          <a:p/>
        </p:txBody>
      </p:sp>
      <p:sp>
        <p:nvSpPr>
          <p:cNvPr id="66" name="Shape 64"/>
          <p:cNvSpPr/>
          <p:nvPr/>
        </p:nvSpPr>
        <p:spPr>
          <a:xfrm>
            <a:off x="7996428" y="4567428"/>
            <a:ext cx="493776" cy="493776"/>
          </a:xfrm>
          <a:prstGeom prst="roundRect">
            <a:avLst>
              <a:gd name="adj" fmla="val 8333"/>
            </a:avLst>
          </a:prstGeom>
          <a:solidFill>
            <a:srgbClr val="C7EAE2"/>
          </a:solidFill>
          <a:ln w="10160">
            <a:solidFill>
              <a:srgbClr val="C7EAE2"/>
            </a:solidFill>
            <a:prstDash val="solid"/>
          </a:ln>
        </p:spPr>
        <p:txBody>
          <a:bodyPr/>
          <a:p/>
        </p:txBody>
      </p:sp>
      <p:sp>
        <p:nvSpPr>
          <p:cNvPr id="67" name="Shape 65"/>
          <p:cNvSpPr/>
          <p:nvPr/>
        </p:nvSpPr>
        <p:spPr>
          <a:xfrm>
            <a:off x="8202168" y="4773168"/>
            <a:ext cx="82296" cy="82296"/>
          </a:xfrm>
          <a:prstGeom prst="ellipse">
            <a:avLst/>
          </a:prstGeom>
          <a:solidFill>
            <a:srgbClr val="138D87"/>
          </a:solidFill>
          <a:ln w="12700">
            <a:solidFill>
              <a:srgbClr val="138D87">
                <a:alpha val="0"/>
              </a:srgbClr>
            </a:solidFill>
            <a:prstDash val="solid"/>
          </a:ln>
        </p:spPr>
        <p:txBody>
          <a:bodyPr/>
          <a:p/>
        </p:txBody>
      </p:sp>
      <p:sp>
        <p:nvSpPr>
          <p:cNvPr id="68" name="Shape 66"/>
          <p:cNvSpPr/>
          <p:nvPr/>
        </p:nvSpPr>
        <p:spPr>
          <a:xfrm>
            <a:off x="8531352" y="4567428"/>
            <a:ext cx="493776" cy="493776"/>
          </a:xfrm>
          <a:prstGeom prst="roundRect">
            <a:avLst>
              <a:gd name="adj" fmla="val 8333"/>
            </a:avLst>
          </a:prstGeom>
          <a:solidFill>
            <a:srgbClr val="C7EAE2"/>
          </a:solidFill>
          <a:ln w="10160">
            <a:solidFill>
              <a:srgbClr val="C7EAE2"/>
            </a:solidFill>
            <a:prstDash val="solid"/>
          </a:ln>
        </p:spPr>
        <p:txBody>
          <a:bodyPr/>
          <a:p/>
        </p:txBody>
      </p:sp>
      <p:sp>
        <p:nvSpPr>
          <p:cNvPr id="69" name="Shape 67"/>
          <p:cNvSpPr/>
          <p:nvPr/>
        </p:nvSpPr>
        <p:spPr>
          <a:xfrm>
            <a:off x="8737092" y="4773168"/>
            <a:ext cx="82296" cy="82296"/>
          </a:xfrm>
          <a:prstGeom prst="ellipse">
            <a:avLst/>
          </a:prstGeom>
          <a:solidFill>
            <a:srgbClr val="138D87"/>
          </a:solidFill>
          <a:ln w="12700">
            <a:solidFill>
              <a:srgbClr val="138D87">
                <a:alpha val="0"/>
              </a:srgbClr>
            </a:solidFill>
            <a:prstDash val="solid"/>
          </a:ln>
        </p:spPr>
        <p:txBody>
          <a:bodyPr/>
          <a:p/>
        </p:txBody>
      </p:sp>
      <p:sp>
        <p:nvSpPr>
          <p:cNvPr id="70" name="Shape 68"/>
          <p:cNvSpPr/>
          <p:nvPr/>
        </p:nvSpPr>
        <p:spPr>
          <a:xfrm>
            <a:off x="9066276" y="4567428"/>
            <a:ext cx="493776" cy="493776"/>
          </a:xfrm>
          <a:prstGeom prst="roundRect">
            <a:avLst>
              <a:gd name="adj" fmla="val 8333"/>
            </a:avLst>
          </a:prstGeom>
          <a:solidFill>
            <a:srgbClr val="C7EAE2"/>
          </a:solidFill>
          <a:ln w="10160">
            <a:solidFill>
              <a:srgbClr val="C7EAE2"/>
            </a:solidFill>
            <a:prstDash val="solid"/>
          </a:ln>
        </p:spPr>
        <p:txBody>
          <a:bodyPr/>
          <a:p/>
        </p:txBody>
      </p:sp>
      <p:sp>
        <p:nvSpPr>
          <p:cNvPr id="71" name="Shape 69"/>
          <p:cNvSpPr/>
          <p:nvPr/>
        </p:nvSpPr>
        <p:spPr>
          <a:xfrm>
            <a:off x="9272016" y="4773168"/>
            <a:ext cx="82296" cy="82296"/>
          </a:xfrm>
          <a:prstGeom prst="ellipse">
            <a:avLst/>
          </a:prstGeom>
          <a:solidFill>
            <a:srgbClr val="138D87"/>
          </a:solidFill>
          <a:ln w="12700">
            <a:solidFill>
              <a:srgbClr val="138D87">
                <a:alpha val="0"/>
              </a:srgbClr>
            </a:solidFill>
            <a:prstDash val="solid"/>
          </a:ln>
        </p:spPr>
        <p:txBody>
          <a:bodyPr/>
          <a:p/>
        </p:txBody>
      </p:sp>
      <p:sp>
        <p:nvSpPr>
          <p:cNvPr id="72" name="Shape 70"/>
          <p:cNvSpPr/>
          <p:nvPr/>
        </p:nvSpPr>
        <p:spPr>
          <a:xfrm>
            <a:off x="9601200" y="4567428"/>
            <a:ext cx="493776" cy="493776"/>
          </a:xfrm>
          <a:prstGeom prst="roundRect">
            <a:avLst>
              <a:gd name="adj" fmla="val 8333"/>
            </a:avLst>
          </a:prstGeom>
          <a:solidFill>
            <a:srgbClr val="C7EAE2"/>
          </a:solidFill>
          <a:ln w="10160">
            <a:solidFill>
              <a:srgbClr val="C7EAE2"/>
            </a:solidFill>
            <a:prstDash val="solid"/>
          </a:ln>
        </p:spPr>
        <p:txBody>
          <a:bodyPr/>
          <a:p/>
        </p:txBody>
      </p:sp>
      <p:sp>
        <p:nvSpPr>
          <p:cNvPr id="73" name="Shape 71"/>
          <p:cNvSpPr/>
          <p:nvPr/>
        </p:nvSpPr>
        <p:spPr>
          <a:xfrm>
            <a:off x="9806940" y="4773168"/>
            <a:ext cx="82296" cy="82296"/>
          </a:xfrm>
          <a:prstGeom prst="ellipse">
            <a:avLst/>
          </a:prstGeom>
          <a:solidFill>
            <a:srgbClr val="138D87"/>
          </a:solidFill>
          <a:ln w="12700">
            <a:solidFill>
              <a:srgbClr val="138D87">
                <a:alpha val="0"/>
              </a:srgbClr>
            </a:solidFill>
            <a:prstDash val="solid"/>
          </a:ln>
        </p:spPr>
        <p:txBody>
          <a:bodyPr/>
          <a:p/>
        </p:txBody>
      </p:sp>
      <p:sp>
        <p:nvSpPr>
          <p:cNvPr id="74" name="Shape 72"/>
          <p:cNvSpPr/>
          <p:nvPr/>
        </p:nvSpPr>
        <p:spPr>
          <a:xfrm>
            <a:off x="10136124" y="4567428"/>
            <a:ext cx="493776" cy="493776"/>
          </a:xfrm>
          <a:prstGeom prst="roundRect">
            <a:avLst>
              <a:gd name="adj" fmla="val 8333"/>
            </a:avLst>
          </a:prstGeom>
          <a:solidFill>
            <a:srgbClr val="138D87"/>
          </a:solidFill>
          <a:ln w="10160">
            <a:solidFill>
              <a:srgbClr val="138D87"/>
            </a:solidFill>
            <a:prstDash val="solid"/>
          </a:ln>
        </p:spPr>
        <p:txBody>
          <a:bodyPr/>
          <a:p/>
        </p:txBody>
      </p:sp>
      <p:sp>
        <p:nvSpPr>
          <p:cNvPr id="75" name="Text 73"/>
          <p:cNvSpPr/>
          <p:nvPr/>
        </p:nvSpPr>
        <p:spPr>
          <a:xfrm>
            <a:off x="10154412" y="4585716"/>
            <a:ext cx="457200" cy="45720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EXIT</a:t>
            </a:r>
            <a:endParaRPr lang="en-US" sz="900" dirty="0"/>
          </a:p>
        </p:txBody>
      </p:sp>
      <p:sp>
        <p:nvSpPr>
          <p:cNvPr id="76" name="Text 74"/>
          <p:cNvSpPr/>
          <p:nvPr/>
        </p:nvSpPr>
        <p:spPr>
          <a:xfrm>
            <a:off x="6858000" y="5559552"/>
            <a:ext cx="4434840" cy="365760"/>
          </a:xfrm>
          <a:prstGeom prst="rect">
            <a:avLst/>
          </a:prstGeom>
          <a:noFill/>
          <a:ln/>
        </p:spPr>
        <p:txBody>
          <a:bodyPr wrap="square" lIns="0" tIns="0" rIns="0" bIns="0" rtlCol="0" anchor="ctr">
            <a:normAutofit/>
          </a:bodyPr>
          <a:lstStyle/>
          <a:p>
            <a:pPr algn="ctr" indent="0" marL="0">
              <a:buNone/>
            </a:pPr>
            <a:r>
              <a:rPr lang="en-US" sz="1800" dirty="0">
                <a:solidFill>
                  <a:srgbClr val="4E5F7B"/>
                </a:solidFill>
                <a:latin typeface="Arial" pitchFamily="34" charset="0"/>
                <a:ea typeface="Arial" pitchFamily="34" charset="-122"/>
                <a:cs typeface="Arial" pitchFamily="34" charset="-120"/>
              </a:rPr>
              <a:t>One start · Multiple exits</a:t>
            </a:r>
            <a:endParaRPr lang="en-US" sz="1800" dirty="0"/>
          </a:p>
        </p:txBody>
      </p:sp>
      <p:sp>
        <p:nvSpPr>
          <p:cNvPr id="77" name="Team 1 card"/>
          <p:cNvSpPr/>
          <p:nvPr/>
        </p:nvSpPr>
        <p:spPr>
          <a:xfrm>
            <a:off x="585216" y="5038344"/>
            <a:ext cx="2587752" cy="548640"/>
          </a:xfrm>
          <a:prstGeom prst="roundRect">
            <a:avLst>
              <a:gd name="adj" fmla="val 11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am 1 name"/>
          <p:cNvSpPr txBox="1"/>
          <p:nvPr/>
        </p:nvSpPr>
        <p:spPr>
          <a:xfrm>
            <a:off x="658368" y="5079492"/>
            <a:ext cx="2441448" cy="265176"/>
          </a:xfrm>
          <a:prstGeom prst="rect">
            <a:avLst/>
          </a:prstGeom>
          <a:noFill/>
        </p:spPr>
        <p:txBody>
          <a:bodyPr wrap="none" lIns="0" rIns="0" tIns="0" bIns="0" anchor="ctr">
            <a:noAutofit/>
          </a:bodyPr>
          <a:lstStyle/>
          <a:p>
            <a:pPr algn="ctr">
              <a:spcBef>
                <a:spcPts val="0"/>
              </a:spcBef>
              <a:spcAft>
                <a:spcPts val="0"/>
              </a:spcAft>
            </a:pPr>
            <a:r>
              <a:rPr sz="1500" b="1">
                <a:solidFill>
                  <a:srgbClr val="25344E"/>
                </a:solidFill>
                <a:latin typeface="Arial"/>
              </a:rPr>
              <a:t>Rafsana Fariha Nipun</a:t>
            </a:r>
          </a:p>
        </p:txBody>
      </p:sp>
      <p:sp>
        <p:nvSpPr>
          <p:cNvPr id="79" name="Team 1 ID"/>
          <p:cNvSpPr txBox="1"/>
          <p:nvPr/>
        </p:nvSpPr>
        <p:spPr>
          <a:xfrm>
            <a:off x="658368" y="5349240"/>
            <a:ext cx="2441448" cy="192024"/>
          </a:xfrm>
          <a:prstGeom prst="rect">
            <a:avLst/>
          </a:prstGeom>
          <a:noFill/>
        </p:spPr>
        <p:txBody>
          <a:bodyPr wrap="none" lIns="0" rIns="0" tIns="0" bIns="0" anchor="ctr">
            <a:noAutofit/>
          </a:bodyPr>
          <a:lstStyle/>
          <a:p>
            <a:pPr algn="ctr">
              <a:spcBef>
                <a:spcPts val="0"/>
              </a:spcBef>
              <a:spcAft>
                <a:spcPts val="0"/>
              </a:spcAft>
            </a:pPr>
            <a:r>
              <a:rPr sz="1200" b="0">
                <a:solidFill>
                  <a:srgbClr val="4E5F7B"/>
                </a:solidFill>
                <a:latin typeface="Arial"/>
              </a:rPr>
              <a:t>ID: 0112330843</a:t>
            </a:r>
          </a:p>
        </p:txBody>
      </p:sp>
      <p:sp>
        <p:nvSpPr>
          <p:cNvPr id="80" name="Team 2 card"/>
          <p:cNvSpPr/>
          <p:nvPr/>
        </p:nvSpPr>
        <p:spPr>
          <a:xfrm>
            <a:off x="3355848" y="5038344"/>
            <a:ext cx="2587752" cy="548640"/>
          </a:xfrm>
          <a:prstGeom prst="roundRect">
            <a:avLst>
              <a:gd name="adj" fmla="val 11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am 2 name"/>
          <p:cNvSpPr txBox="1"/>
          <p:nvPr/>
        </p:nvSpPr>
        <p:spPr>
          <a:xfrm>
            <a:off x="3429000" y="5079492"/>
            <a:ext cx="2441448" cy="265176"/>
          </a:xfrm>
          <a:prstGeom prst="rect">
            <a:avLst/>
          </a:prstGeom>
          <a:noFill/>
        </p:spPr>
        <p:txBody>
          <a:bodyPr wrap="none" lIns="0" rIns="0" tIns="0" bIns="0" anchor="ctr">
            <a:noAutofit/>
          </a:bodyPr>
          <a:lstStyle/>
          <a:p>
            <a:pPr algn="ctr">
              <a:spcBef>
                <a:spcPts val="0"/>
              </a:spcBef>
              <a:spcAft>
                <a:spcPts val="0"/>
              </a:spcAft>
            </a:pPr>
            <a:r>
              <a:rPr sz="1500" b="1">
                <a:solidFill>
                  <a:srgbClr val="25344E"/>
                </a:solidFill>
                <a:latin typeface="Arial"/>
              </a:rPr>
              <a:t>Mashkwat Hossain Ome</a:t>
            </a:r>
          </a:p>
        </p:txBody>
      </p:sp>
      <p:sp>
        <p:nvSpPr>
          <p:cNvPr id="82" name="Team 2 ID"/>
          <p:cNvSpPr txBox="1"/>
          <p:nvPr/>
        </p:nvSpPr>
        <p:spPr>
          <a:xfrm>
            <a:off x="3429000" y="5349240"/>
            <a:ext cx="2441448" cy="192024"/>
          </a:xfrm>
          <a:prstGeom prst="rect">
            <a:avLst/>
          </a:prstGeom>
          <a:noFill/>
        </p:spPr>
        <p:txBody>
          <a:bodyPr wrap="none" lIns="0" rIns="0" tIns="0" bIns="0" anchor="ctr">
            <a:noAutofit/>
          </a:bodyPr>
          <a:lstStyle/>
          <a:p>
            <a:pPr algn="ctr">
              <a:spcBef>
                <a:spcPts val="0"/>
              </a:spcBef>
              <a:spcAft>
                <a:spcPts val="0"/>
              </a:spcAft>
            </a:pPr>
            <a:r>
              <a:rPr sz="1200" b="0">
                <a:solidFill>
                  <a:srgbClr val="4E5F7B"/>
                </a:solidFill>
                <a:latin typeface="Arial"/>
              </a:rPr>
              <a:t>ID: 0112310156</a:t>
            </a:r>
          </a:p>
        </p:txBody>
      </p:sp>
      <p:sp>
        <p:nvSpPr>
          <p:cNvPr id="83" name="Team 3 card"/>
          <p:cNvSpPr/>
          <p:nvPr/>
        </p:nvSpPr>
        <p:spPr>
          <a:xfrm>
            <a:off x="585216" y="5687568"/>
            <a:ext cx="2587752" cy="548640"/>
          </a:xfrm>
          <a:prstGeom prst="roundRect">
            <a:avLst>
              <a:gd name="adj" fmla="val 11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am 3 name"/>
          <p:cNvSpPr txBox="1"/>
          <p:nvPr/>
        </p:nvSpPr>
        <p:spPr>
          <a:xfrm>
            <a:off x="658368" y="5728716"/>
            <a:ext cx="2441448" cy="265176"/>
          </a:xfrm>
          <a:prstGeom prst="rect">
            <a:avLst/>
          </a:prstGeom>
          <a:noFill/>
        </p:spPr>
        <p:txBody>
          <a:bodyPr wrap="none" lIns="0" rIns="0" tIns="0" bIns="0" anchor="ctr">
            <a:noAutofit/>
          </a:bodyPr>
          <a:lstStyle/>
          <a:p>
            <a:pPr algn="ctr">
              <a:spcBef>
                <a:spcPts val="0"/>
              </a:spcBef>
              <a:spcAft>
                <a:spcPts val="0"/>
              </a:spcAft>
            </a:pPr>
            <a:r>
              <a:rPr sz="1500" b="1">
                <a:solidFill>
                  <a:srgbClr val="25344E"/>
                </a:solidFill>
                <a:latin typeface="Arial"/>
              </a:rPr>
              <a:t>Shabab Ahmed</a:t>
            </a:r>
          </a:p>
        </p:txBody>
      </p:sp>
      <p:sp>
        <p:nvSpPr>
          <p:cNvPr id="85" name="Team 3 ID"/>
          <p:cNvSpPr txBox="1"/>
          <p:nvPr/>
        </p:nvSpPr>
        <p:spPr>
          <a:xfrm>
            <a:off x="658368" y="5998464"/>
            <a:ext cx="2441448" cy="192024"/>
          </a:xfrm>
          <a:prstGeom prst="rect">
            <a:avLst/>
          </a:prstGeom>
          <a:noFill/>
        </p:spPr>
        <p:txBody>
          <a:bodyPr wrap="none" lIns="0" rIns="0" tIns="0" bIns="0" anchor="ctr">
            <a:noAutofit/>
          </a:bodyPr>
          <a:lstStyle/>
          <a:p>
            <a:pPr algn="ctr">
              <a:spcBef>
                <a:spcPts val="0"/>
              </a:spcBef>
              <a:spcAft>
                <a:spcPts val="0"/>
              </a:spcAft>
            </a:pPr>
            <a:r>
              <a:rPr sz="1200" b="0">
                <a:solidFill>
                  <a:srgbClr val="4E5F7B"/>
                </a:solidFill>
                <a:latin typeface="Arial"/>
              </a:rPr>
              <a:t>ID: 0112330860</a:t>
            </a:r>
          </a:p>
        </p:txBody>
      </p:sp>
      <p:sp>
        <p:nvSpPr>
          <p:cNvPr id="86" name="Team 4 card"/>
          <p:cNvSpPr/>
          <p:nvPr/>
        </p:nvSpPr>
        <p:spPr>
          <a:xfrm>
            <a:off x="3355848" y="5687568"/>
            <a:ext cx="2587752" cy="548640"/>
          </a:xfrm>
          <a:prstGeom prst="roundRect">
            <a:avLst>
              <a:gd name="adj" fmla="val 11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am 4 name"/>
          <p:cNvSpPr txBox="1"/>
          <p:nvPr/>
        </p:nvSpPr>
        <p:spPr>
          <a:xfrm>
            <a:off x="3429000" y="5728716"/>
            <a:ext cx="2441448" cy="265176"/>
          </a:xfrm>
          <a:prstGeom prst="rect">
            <a:avLst/>
          </a:prstGeom>
          <a:noFill/>
        </p:spPr>
        <p:txBody>
          <a:bodyPr wrap="none" lIns="0" rIns="0" tIns="0" bIns="0" anchor="ctr">
            <a:noAutofit/>
          </a:bodyPr>
          <a:lstStyle/>
          <a:p>
            <a:pPr algn="ctr">
              <a:spcBef>
                <a:spcPts val="0"/>
              </a:spcBef>
              <a:spcAft>
                <a:spcPts val="0"/>
              </a:spcAft>
            </a:pPr>
            <a:r>
              <a:rPr sz="1500" b="1">
                <a:solidFill>
                  <a:srgbClr val="25344E"/>
                </a:solidFill>
                <a:latin typeface="Arial"/>
              </a:rPr>
              <a:t>Siam Ibne Sarwar</a:t>
            </a:r>
          </a:p>
        </p:txBody>
      </p:sp>
      <p:sp>
        <p:nvSpPr>
          <p:cNvPr id="88" name="Team 4 ID"/>
          <p:cNvSpPr txBox="1"/>
          <p:nvPr/>
        </p:nvSpPr>
        <p:spPr>
          <a:xfrm>
            <a:off x="3429000" y="5998464"/>
            <a:ext cx="2441448" cy="192024"/>
          </a:xfrm>
          <a:prstGeom prst="rect">
            <a:avLst/>
          </a:prstGeom>
          <a:noFill/>
        </p:spPr>
        <p:txBody>
          <a:bodyPr wrap="none" lIns="0" rIns="0" tIns="0" bIns="0" anchor="ctr">
            <a:noAutofit/>
          </a:bodyPr>
          <a:lstStyle/>
          <a:p>
            <a:pPr algn="ctr">
              <a:spcBef>
                <a:spcPts val="0"/>
              </a:spcBef>
              <a:spcAft>
                <a:spcPts val="0"/>
              </a:spcAft>
            </a:pPr>
            <a:r>
              <a:rPr sz="1200" b="0">
                <a:solidFill>
                  <a:srgbClr val="4E5F7B"/>
                </a:solidFill>
                <a:latin typeface="Arial"/>
              </a:rPr>
              <a:t>ID: 0112330839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F"/>
        </a:solidFill>
      </p:bgPr>
    </p:bg>
    <p:spTree>
      <p:nvGrpSpPr>
        <p:cNvPr id="1" name=""/>
        <p:cNvGrpSpPr/>
        <p:nvPr/>
      </p:nvGrpSpPr>
      <p:grpSpPr>
        <a:xfrm>
          <a:off x="0" y="0"/>
          <a:ext cx="0" cy="0"/>
          <a:chOff x="0" y="0"/>
          <a:chExt cx="0" cy="0"/>
        </a:xfrm>
      </p:grpSpPr>
      <p:sp>
        <p:nvSpPr>
          <p:cNvPr id="4" name="Text 2"/>
          <p:cNvSpPr/>
          <p:nvPr/>
        </p:nvSpPr>
        <p:spPr>
          <a:xfrm>
            <a:off x="585216" y="832104"/>
            <a:ext cx="10314432" cy="530352"/>
          </a:xfrm>
          <a:prstGeom prst="rect">
            <a:avLst/>
          </a:prstGeom>
          <a:noFill/>
          <a:ln/>
        </p:spPr>
        <p:txBody>
          <a:bodyPr wrap="square" lIns="0" tIns="0" rIns="0" bIns="0" rtlCol="0" anchor="ctr">
            <a:normAutofit/>
          </a:bodyPr>
          <a:lstStyle/>
          <a:p>
            <a:pPr algn="l" indent="0" marL="0">
              <a:buNone/>
            </a:pPr>
            <a:r>
              <a:rPr lang="en-US" sz="2900" b="1" dirty="0">
                <a:solidFill>
                  <a:srgbClr val="25344E"/>
                </a:solidFill>
                <a:latin typeface="Arial" pitchFamily="34" charset="0"/>
                <a:ea typeface="Arial" pitchFamily="34" charset="-122"/>
                <a:cs typeface="Arial" pitchFamily="34" charset="-120"/>
              </a:rPr>
              <a:t>Problem Statement</a:t>
            </a:r>
            <a:endParaRPr lang="en-US" sz="2900" dirty="0"/>
          </a:p>
        </p:txBody>
      </p:sp>
      <p:sp>
        <p:nvSpPr>
          <p:cNvPr id="5" name="Shape 3"/>
          <p:cNvSpPr/>
          <p:nvPr/>
        </p:nvSpPr>
        <p:spPr>
          <a:xfrm>
            <a:off x="10991088" y="877824"/>
            <a:ext cx="448056" cy="411480"/>
          </a:xfrm>
          <a:prstGeom prst="roundRect">
            <a:avLst>
              <a:gd name="adj" fmla="val 28889"/>
            </a:avLst>
          </a:prstGeom>
          <a:solidFill>
            <a:srgbClr val="FFFFFF"/>
          </a:solidFill>
          <a:ln w="10160">
            <a:solidFill>
              <a:srgbClr val="FFFFFF"/>
            </a:solidFill>
            <a:prstDash val="solid"/>
          </a:ln>
        </p:spPr>
        <p:txBody>
          <a:bodyPr/>
          <a:p/>
        </p:txBody>
      </p:sp>
      <p:sp>
        <p:nvSpPr>
          <p:cNvPr id="6" name="Text 4"/>
          <p:cNvSpPr/>
          <p:nvPr/>
        </p:nvSpPr>
        <p:spPr>
          <a:xfrm>
            <a:off x="11064240" y="900684"/>
            <a:ext cx="301752" cy="365760"/>
          </a:xfrm>
          <a:prstGeom prst="rect">
            <a:avLst/>
          </a:prstGeom>
          <a:noFill/>
          <a:ln/>
        </p:spPr>
        <p:txBody>
          <a:bodyPr wrap="square" lIns="0" tIns="0" rIns="0" bIns="0" rtlCol="0" anchor="ctr">
            <a:normAutofit/>
          </a:bodyPr>
          <a:lstStyle/>
          <a:p>
            <a:pPr algn="ctr" indent="0" marL="0">
              <a:buNone/>
            </a:pPr>
            <a:r>
              <a:rPr lang="en-US" sz="1300" b="1" dirty="0">
                <a:solidFill>
                  <a:srgbClr val="6C5CE7"/>
                </a:solidFill>
                <a:latin typeface="Arial" pitchFamily="34" charset="0"/>
                <a:ea typeface="Arial" pitchFamily="34" charset="-122"/>
                <a:cs typeface="Arial" pitchFamily="34" charset="-120"/>
              </a:rPr>
              <a:t>02</a:t>
            </a:r>
            <a:endParaRPr lang="en-US" sz="1300" dirty="0"/>
          </a:p>
        </p:txBody>
      </p:sp>
      <p:sp>
        <p:nvSpPr>
          <p:cNvPr id="7" name="Shape 5"/>
          <p:cNvSpPr/>
          <p:nvPr/>
        </p:nvSpPr>
        <p:spPr>
          <a:xfrm>
            <a:off x="585216" y="6451092"/>
            <a:ext cx="11021568" cy="0"/>
          </a:xfrm>
          <a:prstGeom prst="line">
            <a:avLst/>
          </a:prstGeom>
          <a:noFill/>
          <a:ln w="9525">
            <a:solidFill>
              <a:srgbClr val="DFE6F2"/>
            </a:solidFill>
            <a:prstDash val="solid"/>
            <a:headEnd type="none"/>
            <a:tailEnd type="none"/>
          </a:ln>
        </p:spPr>
        <p:txBody>
          <a:bodyPr/>
          <a:p/>
        </p:txBody>
      </p:sp>
      <p:sp>
        <p:nvSpPr>
          <p:cNvPr id="9" name="Shape 7"/>
          <p:cNvSpPr/>
          <p:nvPr/>
        </p:nvSpPr>
        <p:spPr>
          <a:xfrm>
            <a:off x="10131552" y="6588252"/>
            <a:ext cx="27432" cy="27432"/>
          </a:xfrm>
          <a:prstGeom prst="ellipse">
            <a:avLst/>
          </a:prstGeom>
          <a:solidFill>
            <a:srgbClr val="DFE6F2"/>
          </a:solidFill>
          <a:ln w="12700">
            <a:solidFill>
              <a:srgbClr val="DFE6F2">
                <a:alpha val="0"/>
              </a:srgbClr>
            </a:solidFill>
            <a:prstDash val="solid"/>
          </a:ln>
        </p:spPr>
        <p:txBody>
          <a:bodyPr/>
          <a:p/>
        </p:txBody>
      </p:sp>
      <p:sp>
        <p:nvSpPr>
          <p:cNvPr id="10" name="Shape 8"/>
          <p:cNvSpPr/>
          <p:nvPr/>
        </p:nvSpPr>
        <p:spPr>
          <a:xfrm>
            <a:off x="10232136" y="6588252"/>
            <a:ext cx="27432" cy="27432"/>
          </a:xfrm>
          <a:prstGeom prst="ellipse">
            <a:avLst/>
          </a:prstGeom>
          <a:solidFill>
            <a:srgbClr val="6C5CE7"/>
          </a:solidFill>
          <a:ln w="12700">
            <a:solidFill>
              <a:srgbClr val="6C5CE7">
                <a:alpha val="0"/>
              </a:srgbClr>
            </a:solidFill>
            <a:prstDash val="solid"/>
          </a:ln>
        </p:spPr>
        <p:txBody>
          <a:bodyPr/>
          <a:p/>
        </p:txBody>
      </p:sp>
      <p:sp>
        <p:nvSpPr>
          <p:cNvPr id="11" name="Shape 9"/>
          <p:cNvSpPr/>
          <p:nvPr/>
        </p:nvSpPr>
        <p:spPr>
          <a:xfrm>
            <a:off x="10332720" y="6588252"/>
            <a:ext cx="27432" cy="27432"/>
          </a:xfrm>
          <a:prstGeom prst="ellipse">
            <a:avLst/>
          </a:prstGeom>
          <a:solidFill>
            <a:srgbClr val="DFE6F2"/>
          </a:solidFill>
          <a:ln w="12700">
            <a:solidFill>
              <a:srgbClr val="DFE6F2">
                <a:alpha val="0"/>
              </a:srgbClr>
            </a:solidFill>
            <a:prstDash val="solid"/>
          </a:ln>
        </p:spPr>
        <p:txBody>
          <a:bodyPr/>
          <a:p/>
        </p:txBody>
      </p:sp>
      <p:sp>
        <p:nvSpPr>
          <p:cNvPr id="12" name="Shape 10"/>
          <p:cNvSpPr/>
          <p:nvPr/>
        </p:nvSpPr>
        <p:spPr>
          <a:xfrm>
            <a:off x="10433304" y="6588252"/>
            <a:ext cx="27432" cy="27432"/>
          </a:xfrm>
          <a:prstGeom prst="ellipse">
            <a:avLst/>
          </a:prstGeom>
          <a:solidFill>
            <a:srgbClr val="DFE6F2"/>
          </a:solidFill>
          <a:ln w="12700">
            <a:solidFill>
              <a:srgbClr val="DFE6F2">
                <a:alpha val="0"/>
              </a:srgbClr>
            </a:solidFill>
            <a:prstDash val="solid"/>
          </a:ln>
        </p:spPr>
        <p:txBody>
          <a:bodyPr/>
          <a:p/>
        </p:txBody>
      </p:sp>
      <p:sp>
        <p:nvSpPr>
          <p:cNvPr id="13" name="Shape 11"/>
          <p:cNvSpPr/>
          <p:nvPr/>
        </p:nvSpPr>
        <p:spPr>
          <a:xfrm>
            <a:off x="10533888" y="6588252"/>
            <a:ext cx="27432" cy="27432"/>
          </a:xfrm>
          <a:prstGeom prst="ellipse">
            <a:avLst/>
          </a:prstGeom>
          <a:solidFill>
            <a:srgbClr val="DFE6F2"/>
          </a:solidFill>
          <a:ln w="12700">
            <a:solidFill>
              <a:srgbClr val="DFE6F2">
                <a:alpha val="0"/>
              </a:srgbClr>
            </a:solidFill>
            <a:prstDash val="solid"/>
          </a:ln>
        </p:spPr>
        <p:txBody>
          <a:bodyPr/>
          <a:p/>
        </p:txBody>
      </p:sp>
      <p:sp>
        <p:nvSpPr>
          <p:cNvPr id="14" name="Shape 12"/>
          <p:cNvSpPr/>
          <p:nvPr/>
        </p:nvSpPr>
        <p:spPr>
          <a:xfrm>
            <a:off x="10634472" y="6588252"/>
            <a:ext cx="27432" cy="27432"/>
          </a:xfrm>
          <a:prstGeom prst="ellipse">
            <a:avLst/>
          </a:prstGeom>
          <a:solidFill>
            <a:srgbClr val="DFE6F2"/>
          </a:solidFill>
          <a:ln w="12700">
            <a:solidFill>
              <a:srgbClr val="DFE6F2">
                <a:alpha val="0"/>
              </a:srgbClr>
            </a:solidFill>
            <a:prstDash val="solid"/>
          </a:ln>
        </p:spPr>
        <p:txBody>
          <a:bodyPr/>
          <a:p/>
        </p:txBody>
      </p:sp>
      <p:sp>
        <p:nvSpPr>
          <p:cNvPr id="15" name="Shape 13"/>
          <p:cNvSpPr/>
          <p:nvPr/>
        </p:nvSpPr>
        <p:spPr>
          <a:xfrm>
            <a:off x="10735056" y="6588252"/>
            <a:ext cx="27432" cy="27432"/>
          </a:xfrm>
          <a:prstGeom prst="ellipse">
            <a:avLst/>
          </a:prstGeom>
          <a:solidFill>
            <a:srgbClr val="DFE6F2"/>
          </a:solidFill>
          <a:ln w="12700">
            <a:solidFill>
              <a:srgbClr val="DFE6F2">
                <a:alpha val="0"/>
              </a:srgbClr>
            </a:solidFill>
            <a:prstDash val="solid"/>
          </a:ln>
        </p:spPr>
        <p:txBody>
          <a:bodyPr/>
          <a:p/>
        </p:txBody>
      </p:sp>
      <p:sp>
        <p:nvSpPr>
          <p:cNvPr id="16" name="Shape 14"/>
          <p:cNvSpPr/>
          <p:nvPr/>
        </p:nvSpPr>
        <p:spPr>
          <a:xfrm>
            <a:off x="10835640" y="6588252"/>
            <a:ext cx="27432" cy="27432"/>
          </a:xfrm>
          <a:prstGeom prst="ellipse">
            <a:avLst/>
          </a:prstGeom>
          <a:solidFill>
            <a:srgbClr val="DFE6F2"/>
          </a:solidFill>
          <a:ln w="12700">
            <a:solidFill>
              <a:srgbClr val="DFE6F2">
                <a:alpha val="0"/>
              </a:srgbClr>
            </a:solidFill>
            <a:prstDash val="solid"/>
          </a:ln>
        </p:spPr>
        <p:txBody>
          <a:bodyPr/>
          <a:p/>
        </p:txBody>
      </p:sp>
      <p:sp>
        <p:nvSpPr>
          <p:cNvPr id="17" name="Shape 15"/>
          <p:cNvSpPr/>
          <p:nvPr/>
        </p:nvSpPr>
        <p:spPr>
          <a:xfrm>
            <a:off x="10936224" y="6588252"/>
            <a:ext cx="27432" cy="27432"/>
          </a:xfrm>
          <a:prstGeom prst="ellipse">
            <a:avLst/>
          </a:prstGeom>
          <a:solidFill>
            <a:srgbClr val="DFE6F2"/>
          </a:solidFill>
          <a:ln w="12700">
            <a:solidFill>
              <a:srgbClr val="DFE6F2">
                <a:alpha val="0"/>
              </a:srgbClr>
            </a:solidFill>
            <a:prstDash val="solid"/>
          </a:ln>
        </p:spPr>
        <p:txBody>
          <a:bodyPr/>
          <a:p/>
        </p:txBody>
      </p:sp>
      <p:sp>
        <p:nvSpPr>
          <p:cNvPr id="18" name="Shape 16"/>
          <p:cNvSpPr/>
          <p:nvPr/>
        </p:nvSpPr>
        <p:spPr>
          <a:xfrm>
            <a:off x="11036808" y="6588252"/>
            <a:ext cx="27432" cy="27432"/>
          </a:xfrm>
          <a:prstGeom prst="ellipse">
            <a:avLst/>
          </a:prstGeom>
          <a:solidFill>
            <a:srgbClr val="DFE6F2"/>
          </a:solidFill>
          <a:ln w="12700">
            <a:solidFill>
              <a:srgbClr val="DFE6F2">
                <a:alpha val="0"/>
              </a:srgbClr>
            </a:solidFill>
            <a:prstDash val="solid"/>
          </a:ln>
        </p:spPr>
        <p:txBody>
          <a:bodyPr/>
          <a:p/>
        </p:txBody>
      </p:sp>
      <p:sp>
        <p:nvSpPr>
          <p:cNvPr id="19" name="Text 17"/>
          <p:cNvSpPr/>
          <p:nvPr/>
        </p:nvSpPr>
        <p:spPr>
          <a:xfrm>
            <a:off x="11228832" y="6519672"/>
            <a:ext cx="338328" cy="173736"/>
          </a:xfrm>
          <a:prstGeom prst="rect">
            <a:avLst/>
          </a:prstGeom>
          <a:noFill/>
          <a:ln/>
        </p:spPr>
        <p:txBody>
          <a:bodyPr wrap="square" lIns="0" tIns="0" rIns="0" bIns="0" rtlCol="0" anchor="ctr">
            <a:normAutofit/>
          </a:bodyPr>
          <a:lstStyle/>
          <a:p>
            <a:pPr algn="ctr" indent="0" marL="0">
              <a:buNone/>
            </a:pPr>
            <a:r>
              <a:rPr lang="en-US" sz="920" b="1" dirty="0">
                <a:solidFill>
                  <a:srgbClr val="4E5F7B"/>
                </a:solidFill>
                <a:latin typeface="Arial" pitchFamily="34" charset="0"/>
                <a:ea typeface="Arial" pitchFamily="34" charset="-122"/>
                <a:cs typeface="Arial" pitchFamily="34" charset="-120"/>
              </a:rPr>
              <a:t>02</a:t>
            </a:r>
            <a:endParaRPr lang="en-US" sz="920" dirty="0"/>
          </a:p>
        </p:txBody>
      </p:sp>
      <p:sp>
        <p:nvSpPr>
          <p:cNvPr id="20" name="Shape 18"/>
          <p:cNvSpPr/>
          <p:nvPr/>
        </p:nvSpPr>
        <p:spPr>
          <a:xfrm>
            <a:off x="585216" y="1627632"/>
            <a:ext cx="5349240" cy="1746504"/>
          </a:xfrm>
          <a:prstGeom prst="roundRect">
            <a:avLst>
              <a:gd name="adj" fmla="val 6806"/>
            </a:avLst>
          </a:prstGeom>
          <a:solidFill>
            <a:srgbClr val="FFFFFF"/>
          </a:solidFill>
          <a:ln w="10160">
            <a:solidFill>
              <a:srgbClr val="DFE6F2"/>
            </a:solidFill>
            <a:prstDash val="solid"/>
          </a:ln>
        </p:spPr>
        <p:txBody>
          <a:bodyPr/>
          <a:p/>
        </p:txBody>
      </p:sp>
      <p:sp>
        <p:nvSpPr>
          <p:cNvPr id="21" name="Shape 19"/>
          <p:cNvSpPr/>
          <p:nvPr/>
        </p:nvSpPr>
        <p:spPr>
          <a:xfrm>
            <a:off x="3063240" y="1837944"/>
            <a:ext cx="393192" cy="393192"/>
          </a:xfrm>
          <a:prstGeom prst="ellipse">
            <a:avLst/>
          </a:prstGeom>
          <a:solidFill>
            <a:srgbClr val="FDEDF0"/>
          </a:solidFill>
          <a:ln w="12700">
            <a:solidFill>
              <a:srgbClr val="FDEDF0">
                <a:alpha val="0"/>
              </a:srgbClr>
            </a:solidFill>
            <a:prstDash val="solid"/>
          </a:ln>
        </p:spPr>
        <p:txBody>
          <a:bodyPr/>
          <a:p/>
        </p:txBody>
      </p:sp>
      <p:sp>
        <p:nvSpPr>
          <p:cNvPr id="22" name="Text 20"/>
          <p:cNvSpPr/>
          <p:nvPr/>
        </p:nvSpPr>
        <p:spPr>
          <a:xfrm>
            <a:off x="3063240" y="1851660"/>
            <a:ext cx="393192" cy="365760"/>
          </a:xfrm>
          <a:prstGeom prst="rect">
            <a:avLst/>
          </a:prstGeom>
          <a:noFill/>
          <a:ln/>
        </p:spPr>
        <p:txBody>
          <a:bodyPr wrap="square" lIns="0" tIns="0" rIns="0" bIns="0" rtlCol="0" anchor="ctr">
            <a:normAutofit/>
          </a:bodyPr>
          <a:lstStyle/>
          <a:p>
            <a:pPr algn="ctr" indent="0" marL="0">
              <a:buNone/>
            </a:pPr>
            <a:r>
              <a:rPr lang="en-US" sz="1200" b="1" dirty="0">
                <a:solidFill>
                  <a:srgbClr val="D56371"/>
                </a:solidFill>
                <a:latin typeface="Arial" pitchFamily="34" charset="0"/>
                <a:ea typeface="Arial" pitchFamily="34" charset="-122"/>
                <a:cs typeface="Arial" pitchFamily="34" charset="-120"/>
              </a:rPr>
              <a:t>01</a:t>
            </a:r>
            <a:endParaRPr lang="en-US" sz="1200" dirty="0"/>
          </a:p>
        </p:txBody>
      </p:sp>
      <p:sp>
        <p:nvSpPr>
          <p:cNvPr id="23" name="Text 21"/>
          <p:cNvSpPr/>
          <p:nvPr/>
        </p:nvSpPr>
        <p:spPr>
          <a:xfrm>
            <a:off x="813816" y="2350008"/>
            <a:ext cx="4892040" cy="713232"/>
          </a:xfrm>
          <a:prstGeom prst="rect">
            <a:avLst/>
          </a:prstGeom>
          <a:noFill/>
          <a:ln/>
        </p:spPr>
        <p:txBody>
          <a:bodyPr wrap="square" lIns="0" tIns="0" rIns="0" bIns="0" rtlCol="0" anchor="ctr">
            <a:normAutofit/>
          </a:bodyPr>
          <a:lstStyle/>
          <a:p>
            <a:pPr algn="ctr" indent="0" marL="0">
              <a:buNone/>
            </a:pPr>
            <a:r>
              <a:rPr lang="en-US" sz="2600" b="1" dirty="0">
                <a:solidFill>
                  <a:srgbClr val="25344E"/>
                </a:solidFill>
                <a:latin typeface="Arial" pitchFamily="34" charset="0"/>
                <a:ea typeface="Arial" pitchFamily="34" charset="-122"/>
                <a:cs typeface="Arial" pitchFamily="34" charset="-120"/>
              </a:rPr>
              <a:t>Hazards change</a:t>
            </a:r>
            <a:endParaRPr lang="en-US" sz="2600" dirty="0"/>
          </a:p>
          <a:p>
            <a:pPr algn="ctr" indent="0" marL="0">
              <a:buNone/>
            </a:pPr>
            <a:r>
              <a:rPr lang="en-US" sz="2600" b="1" dirty="0">
                <a:solidFill>
                  <a:srgbClr val="25344E"/>
                </a:solidFill>
                <a:latin typeface="Arial" pitchFamily="34" charset="0"/>
                <a:ea typeface="Arial" pitchFamily="34" charset="-122"/>
                <a:cs typeface="Arial" pitchFamily="34" charset="-120"/>
              </a:rPr>
              <a:t>route safety</a:t>
            </a:r>
            <a:endParaRPr lang="en-US" sz="2600" dirty="0"/>
          </a:p>
        </p:txBody>
      </p:sp>
      <p:sp>
        <p:nvSpPr>
          <p:cNvPr id="24" name="Shape 22"/>
          <p:cNvSpPr/>
          <p:nvPr/>
        </p:nvSpPr>
        <p:spPr>
          <a:xfrm>
            <a:off x="6254496" y="1627632"/>
            <a:ext cx="5349240" cy="1746504"/>
          </a:xfrm>
          <a:prstGeom prst="roundRect">
            <a:avLst>
              <a:gd name="adj" fmla="val 6806"/>
            </a:avLst>
          </a:prstGeom>
          <a:solidFill>
            <a:srgbClr val="FFFFFF"/>
          </a:solidFill>
          <a:ln w="10160">
            <a:solidFill>
              <a:srgbClr val="DFE6F2"/>
            </a:solidFill>
            <a:prstDash val="solid"/>
          </a:ln>
        </p:spPr>
        <p:txBody>
          <a:bodyPr/>
          <a:p/>
        </p:txBody>
      </p:sp>
      <p:sp>
        <p:nvSpPr>
          <p:cNvPr id="25" name="Shape 23"/>
          <p:cNvSpPr/>
          <p:nvPr/>
        </p:nvSpPr>
        <p:spPr>
          <a:xfrm>
            <a:off x="8732520" y="1837944"/>
            <a:ext cx="393192" cy="393192"/>
          </a:xfrm>
          <a:prstGeom prst="ellipse">
            <a:avLst/>
          </a:prstGeom>
          <a:solidFill>
            <a:srgbClr val="EFECFD"/>
          </a:solidFill>
          <a:ln w="12700">
            <a:solidFill>
              <a:srgbClr val="EFECFD">
                <a:alpha val="0"/>
              </a:srgbClr>
            </a:solidFill>
            <a:prstDash val="solid"/>
          </a:ln>
        </p:spPr>
        <p:txBody>
          <a:bodyPr/>
          <a:p/>
        </p:txBody>
      </p:sp>
      <p:sp>
        <p:nvSpPr>
          <p:cNvPr id="26" name="Text 24"/>
          <p:cNvSpPr/>
          <p:nvPr/>
        </p:nvSpPr>
        <p:spPr>
          <a:xfrm>
            <a:off x="8732520" y="1851660"/>
            <a:ext cx="393192" cy="365760"/>
          </a:xfrm>
          <a:prstGeom prst="rect">
            <a:avLst/>
          </a:prstGeom>
          <a:noFill/>
          <a:ln/>
        </p:spPr>
        <p:txBody>
          <a:bodyPr wrap="square" lIns="0" tIns="0" rIns="0" bIns="0" rtlCol="0" anchor="ctr">
            <a:normAutofit/>
          </a:bodyPr>
          <a:lstStyle/>
          <a:p>
            <a:pPr algn="ctr" indent="0" marL="0">
              <a:buNone/>
            </a:pPr>
            <a:r>
              <a:rPr lang="en-US" sz="1200" b="1" dirty="0">
                <a:solidFill>
                  <a:srgbClr val="6C5CE7"/>
                </a:solidFill>
                <a:latin typeface="Arial" pitchFamily="34" charset="0"/>
                <a:ea typeface="Arial" pitchFamily="34" charset="-122"/>
                <a:cs typeface="Arial" pitchFamily="34" charset="-120"/>
              </a:rPr>
              <a:t>02</a:t>
            </a:r>
            <a:endParaRPr lang="en-US" sz="1200" dirty="0"/>
          </a:p>
        </p:txBody>
      </p:sp>
      <p:sp>
        <p:nvSpPr>
          <p:cNvPr id="27" name="Text 25"/>
          <p:cNvSpPr/>
          <p:nvPr/>
        </p:nvSpPr>
        <p:spPr>
          <a:xfrm>
            <a:off x="6483096" y="2350008"/>
            <a:ext cx="4892040" cy="713232"/>
          </a:xfrm>
          <a:prstGeom prst="rect">
            <a:avLst/>
          </a:prstGeom>
          <a:noFill/>
          <a:ln/>
        </p:spPr>
        <p:txBody>
          <a:bodyPr wrap="square" lIns="0" tIns="0" rIns="0" bIns="0" rtlCol="0" anchor="ctr">
            <a:normAutofit/>
          </a:bodyPr>
          <a:lstStyle/>
          <a:p>
            <a:pPr algn="ctr" indent="0" marL="0">
              <a:buNone/>
            </a:pPr>
            <a:r>
              <a:rPr lang="en-US" sz="2600" b="1" dirty="0">
                <a:solidFill>
                  <a:srgbClr val="25344E"/>
                </a:solidFill>
                <a:latin typeface="Arial" pitchFamily="34" charset="0"/>
                <a:ea typeface="Arial" pitchFamily="34" charset="-122"/>
                <a:cs typeface="Arial" pitchFamily="34" charset="-120"/>
              </a:rPr>
              <a:t>Nearest exit may</a:t>
            </a:r>
            <a:endParaRPr lang="en-US" sz="2600" dirty="0"/>
          </a:p>
          <a:p>
            <a:pPr algn="ctr" indent="0" marL="0">
              <a:buNone/>
            </a:pPr>
            <a:r>
              <a:rPr lang="en-US" sz="2600" b="1" dirty="0">
                <a:solidFill>
                  <a:srgbClr val="25344E"/>
                </a:solidFill>
                <a:latin typeface="Arial" pitchFamily="34" charset="0"/>
                <a:ea typeface="Arial" pitchFamily="34" charset="-122"/>
                <a:cs typeface="Arial" pitchFamily="34" charset="-120"/>
              </a:rPr>
              <a:t>be unavailable</a:t>
            </a:r>
            <a:endParaRPr lang="en-US" sz="2600" dirty="0"/>
          </a:p>
        </p:txBody>
      </p:sp>
      <p:sp>
        <p:nvSpPr>
          <p:cNvPr id="28" name="Shape 26"/>
          <p:cNvSpPr/>
          <p:nvPr/>
        </p:nvSpPr>
        <p:spPr>
          <a:xfrm>
            <a:off x="585216" y="3593592"/>
            <a:ext cx="5349240" cy="1746504"/>
          </a:xfrm>
          <a:prstGeom prst="roundRect">
            <a:avLst>
              <a:gd name="adj" fmla="val 6806"/>
            </a:avLst>
          </a:prstGeom>
          <a:solidFill>
            <a:srgbClr val="FFFFFF"/>
          </a:solidFill>
          <a:ln w="10160">
            <a:solidFill>
              <a:srgbClr val="DFE6F2"/>
            </a:solidFill>
            <a:prstDash val="solid"/>
          </a:ln>
        </p:spPr>
        <p:txBody>
          <a:bodyPr/>
          <a:p/>
        </p:txBody>
      </p:sp>
      <p:sp>
        <p:nvSpPr>
          <p:cNvPr id="29" name="Shape 27"/>
          <p:cNvSpPr/>
          <p:nvPr/>
        </p:nvSpPr>
        <p:spPr>
          <a:xfrm>
            <a:off x="3063240" y="3803904"/>
            <a:ext cx="393192" cy="393192"/>
          </a:xfrm>
          <a:prstGeom prst="ellipse">
            <a:avLst/>
          </a:prstGeom>
          <a:solidFill>
            <a:srgbClr val="EAF2FE"/>
          </a:solidFill>
          <a:ln w="12700">
            <a:solidFill>
              <a:srgbClr val="EAF2FE">
                <a:alpha val="0"/>
              </a:srgbClr>
            </a:solidFill>
            <a:prstDash val="solid"/>
          </a:ln>
        </p:spPr>
        <p:txBody>
          <a:bodyPr/>
          <a:p/>
        </p:txBody>
      </p:sp>
      <p:sp>
        <p:nvSpPr>
          <p:cNvPr id="30" name="Text 28"/>
          <p:cNvSpPr/>
          <p:nvPr/>
        </p:nvSpPr>
        <p:spPr>
          <a:xfrm>
            <a:off x="3063240" y="3817620"/>
            <a:ext cx="393192" cy="365760"/>
          </a:xfrm>
          <a:prstGeom prst="rect">
            <a:avLst/>
          </a:prstGeom>
          <a:noFill/>
          <a:ln/>
        </p:spPr>
        <p:txBody>
          <a:bodyPr wrap="square" lIns="0" tIns="0" rIns="0" bIns="0" rtlCol="0" anchor="ctr">
            <a:normAutofit/>
          </a:bodyPr>
          <a:lstStyle/>
          <a:p>
            <a:pPr algn="ctr" indent="0" marL="0">
              <a:buNone/>
            </a:pPr>
            <a:r>
              <a:rPr lang="en-US" sz="1200" b="1" dirty="0">
                <a:solidFill>
                  <a:srgbClr val="3977D5"/>
                </a:solidFill>
                <a:latin typeface="Arial" pitchFamily="34" charset="0"/>
                <a:ea typeface="Arial" pitchFamily="34" charset="-122"/>
                <a:cs typeface="Arial" pitchFamily="34" charset="-120"/>
              </a:rPr>
              <a:t>03</a:t>
            </a:r>
            <a:endParaRPr lang="en-US" sz="1200" dirty="0"/>
          </a:p>
        </p:txBody>
      </p:sp>
      <p:sp>
        <p:nvSpPr>
          <p:cNvPr id="31" name="Text 29"/>
          <p:cNvSpPr/>
          <p:nvPr/>
        </p:nvSpPr>
        <p:spPr>
          <a:xfrm>
            <a:off x="813816" y="4315968"/>
            <a:ext cx="4892040" cy="713232"/>
          </a:xfrm>
          <a:prstGeom prst="rect">
            <a:avLst/>
          </a:prstGeom>
          <a:noFill/>
          <a:ln/>
        </p:spPr>
        <p:txBody>
          <a:bodyPr wrap="square" lIns="0" tIns="0" rIns="0" bIns="0" rtlCol="0" anchor="ctr">
            <a:normAutofit/>
          </a:bodyPr>
          <a:lstStyle/>
          <a:p>
            <a:pPr algn="ctr" indent="0" marL="0">
              <a:buNone/>
            </a:pPr>
            <a:r>
              <a:rPr lang="en-US" sz="2600" b="1" dirty="0">
                <a:solidFill>
                  <a:srgbClr val="25344E"/>
                </a:solidFill>
                <a:latin typeface="Arial" pitchFamily="34" charset="0"/>
                <a:ea typeface="Arial" pitchFamily="34" charset="-122"/>
                <a:cs typeface="Arial" pitchFamily="34" charset="-120"/>
              </a:rPr>
              <a:t>People need</a:t>
            </a:r>
            <a:endParaRPr lang="en-US" sz="2600" dirty="0"/>
          </a:p>
          <a:p>
            <a:pPr algn="ctr" indent="0" marL="0">
              <a:buNone/>
            </a:pPr>
            <a:r>
              <a:rPr lang="en-US" sz="2600" b="1" dirty="0">
                <a:solidFill>
                  <a:srgbClr val="25344E"/>
                </a:solidFill>
                <a:latin typeface="Arial" pitchFamily="34" charset="0"/>
                <a:ea typeface="Arial" pitchFamily="34" charset="-122"/>
                <a:cs typeface="Arial" pitchFamily="34" charset="-120"/>
              </a:rPr>
              <a:t>fast guidance</a:t>
            </a:r>
            <a:endParaRPr lang="en-US" sz="2600" dirty="0"/>
          </a:p>
        </p:txBody>
      </p:sp>
      <p:sp>
        <p:nvSpPr>
          <p:cNvPr id="32" name="Shape 30"/>
          <p:cNvSpPr/>
          <p:nvPr/>
        </p:nvSpPr>
        <p:spPr>
          <a:xfrm>
            <a:off x="6254496" y="3593592"/>
            <a:ext cx="5349240" cy="1746504"/>
          </a:xfrm>
          <a:prstGeom prst="roundRect">
            <a:avLst>
              <a:gd name="adj" fmla="val 6806"/>
            </a:avLst>
          </a:prstGeom>
          <a:solidFill>
            <a:srgbClr val="FFFFFF"/>
          </a:solidFill>
          <a:ln w="10160">
            <a:solidFill>
              <a:srgbClr val="DFE6F2"/>
            </a:solidFill>
            <a:prstDash val="solid"/>
          </a:ln>
        </p:spPr>
        <p:txBody>
          <a:bodyPr/>
          <a:p/>
        </p:txBody>
      </p:sp>
      <p:sp>
        <p:nvSpPr>
          <p:cNvPr id="33" name="Shape 31"/>
          <p:cNvSpPr/>
          <p:nvPr/>
        </p:nvSpPr>
        <p:spPr>
          <a:xfrm>
            <a:off x="8732520" y="3803904"/>
            <a:ext cx="393192" cy="393192"/>
          </a:xfrm>
          <a:prstGeom prst="ellipse">
            <a:avLst/>
          </a:prstGeom>
          <a:solidFill>
            <a:srgbClr val="E7F6F2"/>
          </a:solidFill>
          <a:ln w="12700">
            <a:solidFill>
              <a:srgbClr val="E7F6F2">
                <a:alpha val="0"/>
              </a:srgbClr>
            </a:solidFill>
            <a:prstDash val="solid"/>
          </a:ln>
        </p:spPr>
        <p:txBody>
          <a:bodyPr/>
          <a:p/>
        </p:txBody>
      </p:sp>
      <p:sp>
        <p:nvSpPr>
          <p:cNvPr id="34" name="Text 32"/>
          <p:cNvSpPr/>
          <p:nvPr/>
        </p:nvSpPr>
        <p:spPr>
          <a:xfrm>
            <a:off x="8732520" y="3817620"/>
            <a:ext cx="393192" cy="365760"/>
          </a:xfrm>
          <a:prstGeom prst="rect">
            <a:avLst/>
          </a:prstGeom>
          <a:noFill/>
          <a:ln/>
        </p:spPr>
        <p:txBody>
          <a:bodyPr wrap="square" lIns="0" tIns="0" rIns="0" bIns="0" rtlCol="0" anchor="ctr">
            <a:normAutofit/>
          </a:bodyPr>
          <a:lstStyle/>
          <a:p>
            <a:pPr algn="ctr" indent="0" marL="0">
              <a:buNone/>
            </a:pPr>
            <a:r>
              <a:rPr lang="en-US" sz="1200" b="1" dirty="0">
                <a:solidFill>
                  <a:srgbClr val="138D87"/>
                </a:solidFill>
                <a:latin typeface="Arial" pitchFamily="34" charset="0"/>
                <a:ea typeface="Arial" pitchFamily="34" charset="-122"/>
                <a:cs typeface="Arial" pitchFamily="34" charset="-120"/>
              </a:rPr>
              <a:t>04</a:t>
            </a:r>
            <a:endParaRPr lang="en-US" sz="1200" dirty="0"/>
          </a:p>
        </p:txBody>
      </p:sp>
      <p:sp>
        <p:nvSpPr>
          <p:cNvPr id="35" name="Text 33"/>
          <p:cNvSpPr/>
          <p:nvPr/>
        </p:nvSpPr>
        <p:spPr>
          <a:xfrm>
            <a:off x="6483096" y="4315968"/>
            <a:ext cx="4892040" cy="713232"/>
          </a:xfrm>
          <a:prstGeom prst="rect">
            <a:avLst/>
          </a:prstGeom>
          <a:noFill/>
          <a:ln/>
        </p:spPr>
        <p:txBody>
          <a:bodyPr wrap="square" lIns="0" tIns="0" rIns="0" bIns="0" rtlCol="0" anchor="ctr">
            <a:normAutofit/>
          </a:bodyPr>
          <a:lstStyle/>
          <a:p>
            <a:pPr algn="ctr" indent="0" marL="0">
              <a:buNone/>
            </a:pPr>
            <a:r>
              <a:rPr lang="en-US" sz="2600" b="1" dirty="0">
                <a:solidFill>
                  <a:srgbClr val="25344E"/>
                </a:solidFill>
                <a:latin typeface="Arial" pitchFamily="34" charset="0"/>
                <a:ea typeface="Arial" pitchFamily="34" charset="-122"/>
                <a:cs typeface="Arial" pitchFamily="34" charset="-120"/>
              </a:rPr>
              <a:t>Distance alone</a:t>
            </a:r>
            <a:endParaRPr lang="en-US" sz="2600" dirty="0"/>
          </a:p>
          <a:p>
            <a:pPr algn="ctr" indent="0" marL="0">
              <a:buNone/>
            </a:pPr>
            <a:r>
              <a:rPr lang="en-US" sz="2600" b="1" dirty="0">
                <a:solidFill>
                  <a:srgbClr val="25344E"/>
                </a:solidFill>
                <a:latin typeface="Arial" pitchFamily="34" charset="0"/>
                <a:ea typeface="Arial" pitchFamily="34" charset="-122"/>
                <a:cs typeface="Arial" pitchFamily="34" charset="-120"/>
              </a:rPr>
              <a:t>is not enough</a:t>
            </a:r>
            <a:endParaRPr lang="en-US" sz="2600" dirty="0"/>
          </a:p>
        </p:txBody>
      </p:sp>
      <p:sp>
        <p:nvSpPr>
          <p:cNvPr id="36" name="Shape 34"/>
          <p:cNvSpPr/>
          <p:nvPr/>
        </p:nvSpPr>
        <p:spPr>
          <a:xfrm>
            <a:off x="585216" y="5897880"/>
            <a:ext cx="11021568" cy="429768"/>
          </a:xfrm>
          <a:prstGeom prst="roundRect">
            <a:avLst>
              <a:gd name="adj" fmla="val 27660"/>
            </a:avLst>
          </a:prstGeom>
          <a:solidFill>
            <a:srgbClr val="EFECFD"/>
          </a:solidFill>
          <a:ln w="10160">
            <a:solidFill>
              <a:srgbClr val="EFECFD"/>
            </a:solidFill>
            <a:prstDash val="solid"/>
          </a:ln>
        </p:spPr>
        <p:txBody>
          <a:bodyPr/>
          <a:p/>
        </p:txBody>
      </p:sp>
      <p:sp>
        <p:nvSpPr>
          <p:cNvPr id="37" name="Text 35"/>
          <p:cNvSpPr/>
          <p:nvPr/>
        </p:nvSpPr>
        <p:spPr>
          <a:xfrm>
            <a:off x="722376" y="5939028"/>
            <a:ext cx="10747248" cy="342900"/>
          </a:xfrm>
          <a:prstGeom prst="rect">
            <a:avLst/>
          </a:prstGeom>
          <a:noFill/>
          <a:ln/>
        </p:spPr>
        <p:txBody>
          <a:bodyPr wrap="square" lIns="0" tIns="0" rIns="0" bIns="0" rtlCol="0" anchor="ctr">
            <a:normAutofit/>
          </a:bodyPr>
          <a:lstStyle/>
          <a:p>
            <a:pPr algn="ctr" indent="0" marL="0">
              <a:buNone/>
            </a:pPr>
            <a:r>
              <a:rPr lang="en-US" sz="1950" b="1" dirty="0">
                <a:solidFill>
                  <a:srgbClr val="6C5CE7"/>
                </a:solidFill>
                <a:latin typeface="Arial" pitchFamily="34" charset="0"/>
                <a:ea typeface="Arial" pitchFamily="34" charset="-122"/>
                <a:cs typeface="Arial" pitchFamily="34" charset="-120"/>
              </a:rPr>
              <a:t>Nearest exit ≠ safest route</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F"/>
        </a:solidFill>
      </p:bgPr>
    </p:bg>
    <p:spTree>
      <p:nvGrpSpPr>
        <p:cNvPr id="1" name=""/>
        <p:cNvGrpSpPr/>
        <p:nvPr/>
      </p:nvGrpSpPr>
      <p:grpSpPr>
        <a:xfrm>
          <a:off x="0" y="0"/>
          <a:ext cx="0" cy="0"/>
          <a:chOff x="0" y="0"/>
          <a:chExt cx="0" cy="0"/>
        </a:xfrm>
      </p:grpSpPr>
      <p:sp>
        <p:nvSpPr>
          <p:cNvPr id="4" name="Text 2"/>
          <p:cNvSpPr/>
          <p:nvPr/>
        </p:nvSpPr>
        <p:spPr>
          <a:xfrm>
            <a:off x="585216" y="832104"/>
            <a:ext cx="10314432" cy="530352"/>
          </a:xfrm>
          <a:prstGeom prst="rect">
            <a:avLst/>
          </a:prstGeom>
          <a:noFill/>
          <a:ln/>
        </p:spPr>
        <p:txBody>
          <a:bodyPr wrap="square" lIns="0" tIns="0" rIns="0" bIns="0" rtlCol="0" anchor="ctr">
            <a:normAutofit/>
          </a:bodyPr>
          <a:lstStyle/>
          <a:p>
            <a:pPr algn="l" indent="0" marL="0">
              <a:buNone/>
            </a:pPr>
            <a:r>
              <a:rPr lang="en-US" sz="2900" b="1" dirty="0">
                <a:solidFill>
                  <a:srgbClr val="25344E"/>
                </a:solidFill>
                <a:latin typeface="Arial" pitchFamily="34" charset="0"/>
                <a:ea typeface="Arial" pitchFamily="34" charset="-122"/>
                <a:cs typeface="Arial" pitchFamily="34" charset="-120"/>
              </a:rPr>
              <a:t>System Model and Route Costs</a:t>
            </a:r>
            <a:endParaRPr lang="en-US" sz="2900" dirty="0"/>
          </a:p>
        </p:txBody>
      </p:sp>
      <p:sp>
        <p:nvSpPr>
          <p:cNvPr id="5" name="Shape 3"/>
          <p:cNvSpPr/>
          <p:nvPr/>
        </p:nvSpPr>
        <p:spPr>
          <a:xfrm>
            <a:off x="10991088" y="877824"/>
            <a:ext cx="448056" cy="411480"/>
          </a:xfrm>
          <a:prstGeom prst="roundRect">
            <a:avLst>
              <a:gd name="adj" fmla="val 28889"/>
            </a:avLst>
          </a:prstGeom>
          <a:solidFill>
            <a:srgbClr val="FFFFFF"/>
          </a:solidFill>
          <a:ln w="10160">
            <a:solidFill>
              <a:srgbClr val="FFFFFF"/>
            </a:solidFill>
            <a:prstDash val="solid"/>
          </a:ln>
        </p:spPr>
        <p:txBody>
          <a:bodyPr/>
          <a:p/>
        </p:txBody>
      </p:sp>
      <p:sp>
        <p:nvSpPr>
          <p:cNvPr id="6" name="Text 4"/>
          <p:cNvSpPr/>
          <p:nvPr/>
        </p:nvSpPr>
        <p:spPr>
          <a:xfrm>
            <a:off x="11064240" y="900684"/>
            <a:ext cx="301752" cy="365760"/>
          </a:xfrm>
          <a:prstGeom prst="rect">
            <a:avLst/>
          </a:prstGeom>
          <a:noFill/>
          <a:ln/>
        </p:spPr>
        <p:txBody>
          <a:bodyPr wrap="square" lIns="0" tIns="0" rIns="0" bIns="0" rtlCol="0" anchor="ctr">
            <a:normAutofit/>
          </a:bodyPr>
          <a:lstStyle/>
          <a:p>
            <a:pPr algn="ctr" indent="0" marL="0">
              <a:buNone/>
            </a:pPr>
            <a:r>
              <a:rPr lang="en-US" sz="1300" b="1" dirty="0">
                <a:solidFill>
                  <a:srgbClr val="6C5CE7"/>
                </a:solidFill>
                <a:latin typeface="Arial" pitchFamily="34" charset="0"/>
                <a:ea typeface="Arial" pitchFamily="34" charset="-122"/>
                <a:cs typeface="Arial" pitchFamily="34" charset="-120"/>
              </a:rPr>
              <a:t>03</a:t>
            </a:r>
            <a:endParaRPr lang="en-US" sz="1300" dirty="0"/>
          </a:p>
        </p:txBody>
      </p:sp>
      <p:sp>
        <p:nvSpPr>
          <p:cNvPr id="7" name="Shape 5"/>
          <p:cNvSpPr/>
          <p:nvPr/>
        </p:nvSpPr>
        <p:spPr>
          <a:xfrm>
            <a:off x="585216" y="6451092"/>
            <a:ext cx="11021568" cy="0"/>
          </a:xfrm>
          <a:prstGeom prst="line">
            <a:avLst/>
          </a:prstGeom>
          <a:noFill/>
          <a:ln w="9525">
            <a:solidFill>
              <a:srgbClr val="DFE6F2"/>
            </a:solidFill>
            <a:prstDash val="solid"/>
            <a:headEnd type="none"/>
            <a:tailEnd type="none"/>
          </a:ln>
        </p:spPr>
        <p:txBody>
          <a:bodyPr/>
          <a:p/>
        </p:txBody>
      </p:sp>
      <p:sp>
        <p:nvSpPr>
          <p:cNvPr id="9" name="Shape 7"/>
          <p:cNvSpPr/>
          <p:nvPr/>
        </p:nvSpPr>
        <p:spPr>
          <a:xfrm>
            <a:off x="10131552" y="6588252"/>
            <a:ext cx="27432" cy="27432"/>
          </a:xfrm>
          <a:prstGeom prst="ellipse">
            <a:avLst/>
          </a:prstGeom>
          <a:solidFill>
            <a:srgbClr val="DFE6F2"/>
          </a:solidFill>
          <a:ln w="12700">
            <a:solidFill>
              <a:srgbClr val="DFE6F2">
                <a:alpha val="0"/>
              </a:srgbClr>
            </a:solidFill>
            <a:prstDash val="solid"/>
          </a:ln>
        </p:spPr>
        <p:txBody>
          <a:bodyPr/>
          <a:p/>
        </p:txBody>
      </p:sp>
      <p:sp>
        <p:nvSpPr>
          <p:cNvPr id="10" name="Shape 8"/>
          <p:cNvSpPr/>
          <p:nvPr/>
        </p:nvSpPr>
        <p:spPr>
          <a:xfrm>
            <a:off x="10232136" y="6588252"/>
            <a:ext cx="27432" cy="27432"/>
          </a:xfrm>
          <a:prstGeom prst="ellipse">
            <a:avLst/>
          </a:prstGeom>
          <a:solidFill>
            <a:srgbClr val="DFE6F2"/>
          </a:solidFill>
          <a:ln w="12700">
            <a:solidFill>
              <a:srgbClr val="DFE6F2">
                <a:alpha val="0"/>
              </a:srgbClr>
            </a:solidFill>
            <a:prstDash val="solid"/>
          </a:ln>
        </p:spPr>
        <p:txBody>
          <a:bodyPr/>
          <a:p/>
        </p:txBody>
      </p:sp>
      <p:sp>
        <p:nvSpPr>
          <p:cNvPr id="11" name="Shape 9"/>
          <p:cNvSpPr/>
          <p:nvPr/>
        </p:nvSpPr>
        <p:spPr>
          <a:xfrm>
            <a:off x="10332720" y="6588252"/>
            <a:ext cx="27432" cy="27432"/>
          </a:xfrm>
          <a:prstGeom prst="ellipse">
            <a:avLst/>
          </a:prstGeom>
          <a:solidFill>
            <a:srgbClr val="6C5CE7"/>
          </a:solidFill>
          <a:ln w="12700">
            <a:solidFill>
              <a:srgbClr val="6C5CE7">
                <a:alpha val="0"/>
              </a:srgbClr>
            </a:solidFill>
            <a:prstDash val="solid"/>
          </a:ln>
        </p:spPr>
        <p:txBody>
          <a:bodyPr/>
          <a:p/>
        </p:txBody>
      </p:sp>
      <p:sp>
        <p:nvSpPr>
          <p:cNvPr id="12" name="Shape 10"/>
          <p:cNvSpPr/>
          <p:nvPr/>
        </p:nvSpPr>
        <p:spPr>
          <a:xfrm>
            <a:off x="10433304" y="6588252"/>
            <a:ext cx="27432" cy="27432"/>
          </a:xfrm>
          <a:prstGeom prst="ellipse">
            <a:avLst/>
          </a:prstGeom>
          <a:solidFill>
            <a:srgbClr val="DFE6F2"/>
          </a:solidFill>
          <a:ln w="12700">
            <a:solidFill>
              <a:srgbClr val="DFE6F2">
                <a:alpha val="0"/>
              </a:srgbClr>
            </a:solidFill>
            <a:prstDash val="solid"/>
          </a:ln>
        </p:spPr>
        <p:txBody>
          <a:bodyPr/>
          <a:p/>
        </p:txBody>
      </p:sp>
      <p:sp>
        <p:nvSpPr>
          <p:cNvPr id="13" name="Shape 11"/>
          <p:cNvSpPr/>
          <p:nvPr/>
        </p:nvSpPr>
        <p:spPr>
          <a:xfrm>
            <a:off x="10533888" y="6588252"/>
            <a:ext cx="27432" cy="27432"/>
          </a:xfrm>
          <a:prstGeom prst="ellipse">
            <a:avLst/>
          </a:prstGeom>
          <a:solidFill>
            <a:srgbClr val="DFE6F2"/>
          </a:solidFill>
          <a:ln w="12700">
            <a:solidFill>
              <a:srgbClr val="DFE6F2">
                <a:alpha val="0"/>
              </a:srgbClr>
            </a:solidFill>
            <a:prstDash val="solid"/>
          </a:ln>
        </p:spPr>
        <p:txBody>
          <a:bodyPr/>
          <a:p/>
        </p:txBody>
      </p:sp>
      <p:sp>
        <p:nvSpPr>
          <p:cNvPr id="14" name="Shape 12"/>
          <p:cNvSpPr/>
          <p:nvPr/>
        </p:nvSpPr>
        <p:spPr>
          <a:xfrm>
            <a:off x="10634472" y="6588252"/>
            <a:ext cx="27432" cy="27432"/>
          </a:xfrm>
          <a:prstGeom prst="ellipse">
            <a:avLst/>
          </a:prstGeom>
          <a:solidFill>
            <a:srgbClr val="DFE6F2"/>
          </a:solidFill>
          <a:ln w="12700">
            <a:solidFill>
              <a:srgbClr val="DFE6F2">
                <a:alpha val="0"/>
              </a:srgbClr>
            </a:solidFill>
            <a:prstDash val="solid"/>
          </a:ln>
        </p:spPr>
        <p:txBody>
          <a:bodyPr/>
          <a:p/>
        </p:txBody>
      </p:sp>
      <p:sp>
        <p:nvSpPr>
          <p:cNvPr id="15" name="Shape 13"/>
          <p:cNvSpPr/>
          <p:nvPr/>
        </p:nvSpPr>
        <p:spPr>
          <a:xfrm>
            <a:off x="10735056" y="6588252"/>
            <a:ext cx="27432" cy="27432"/>
          </a:xfrm>
          <a:prstGeom prst="ellipse">
            <a:avLst/>
          </a:prstGeom>
          <a:solidFill>
            <a:srgbClr val="DFE6F2"/>
          </a:solidFill>
          <a:ln w="12700">
            <a:solidFill>
              <a:srgbClr val="DFE6F2">
                <a:alpha val="0"/>
              </a:srgbClr>
            </a:solidFill>
            <a:prstDash val="solid"/>
          </a:ln>
        </p:spPr>
        <p:txBody>
          <a:bodyPr/>
          <a:p/>
        </p:txBody>
      </p:sp>
      <p:sp>
        <p:nvSpPr>
          <p:cNvPr id="16" name="Shape 14"/>
          <p:cNvSpPr/>
          <p:nvPr/>
        </p:nvSpPr>
        <p:spPr>
          <a:xfrm>
            <a:off x="10835640" y="6588252"/>
            <a:ext cx="27432" cy="27432"/>
          </a:xfrm>
          <a:prstGeom prst="ellipse">
            <a:avLst/>
          </a:prstGeom>
          <a:solidFill>
            <a:srgbClr val="DFE6F2"/>
          </a:solidFill>
          <a:ln w="12700">
            <a:solidFill>
              <a:srgbClr val="DFE6F2">
                <a:alpha val="0"/>
              </a:srgbClr>
            </a:solidFill>
            <a:prstDash val="solid"/>
          </a:ln>
        </p:spPr>
        <p:txBody>
          <a:bodyPr/>
          <a:p/>
        </p:txBody>
      </p:sp>
      <p:sp>
        <p:nvSpPr>
          <p:cNvPr id="17" name="Shape 15"/>
          <p:cNvSpPr/>
          <p:nvPr/>
        </p:nvSpPr>
        <p:spPr>
          <a:xfrm>
            <a:off x="10936224" y="6588252"/>
            <a:ext cx="27432" cy="27432"/>
          </a:xfrm>
          <a:prstGeom prst="ellipse">
            <a:avLst/>
          </a:prstGeom>
          <a:solidFill>
            <a:srgbClr val="DFE6F2"/>
          </a:solidFill>
          <a:ln w="12700">
            <a:solidFill>
              <a:srgbClr val="DFE6F2">
                <a:alpha val="0"/>
              </a:srgbClr>
            </a:solidFill>
            <a:prstDash val="solid"/>
          </a:ln>
        </p:spPr>
        <p:txBody>
          <a:bodyPr/>
          <a:p/>
        </p:txBody>
      </p:sp>
      <p:sp>
        <p:nvSpPr>
          <p:cNvPr id="18" name="Shape 16"/>
          <p:cNvSpPr/>
          <p:nvPr/>
        </p:nvSpPr>
        <p:spPr>
          <a:xfrm>
            <a:off x="11036808" y="6588252"/>
            <a:ext cx="27432" cy="27432"/>
          </a:xfrm>
          <a:prstGeom prst="ellipse">
            <a:avLst/>
          </a:prstGeom>
          <a:solidFill>
            <a:srgbClr val="DFE6F2"/>
          </a:solidFill>
          <a:ln w="12700">
            <a:solidFill>
              <a:srgbClr val="DFE6F2">
                <a:alpha val="0"/>
              </a:srgbClr>
            </a:solidFill>
            <a:prstDash val="solid"/>
          </a:ln>
        </p:spPr>
        <p:txBody>
          <a:bodyPr/>
          <a:p/>
        </p:txBody>
      </p:sp>
      <p:sp>
        <p:nvSpPr>
          <p:cNvPr id="19" name="Text 17"/>
          <p:cNvSpPr/>
          <p:nvPr/>
        </p:nvSpPr>
        <p:spPr>
          <a:xfrm>
            <a:off x="11228832" y="6519672"/>
            <a:ext cx="338328" cy="173736"/>
          </a:xfrm>
          <a:prstGeom prst="rect">
            <a:avLst/>
          </a:prstGeom>
          <a:noFill/>
          <a:ln/>
        </p:spPr>
        <p:txBody>
          <a:bodyPr wrap="square" lIns="0" tIns="0" rIns="0" bIns="0" rtlCol="0" anchor="ctr">
            <a:normAutofit/>
          </a:bodyPr>
          <a:lstStyle/>
          <a:p>
            <a:pPr algn="ctr" indent="0" marL="0">
              <a:buNone/>
            </a:pPr>
            <a:r>
              <a:rPr lang="en-US" sz="920" b="1" dirty="0">
                <a:solidFill>
                  <a:srgbClr val="4E5F7B"/>
                </a:solidFill>
                <a:latin typeface="Arial" pitchFamily="34" charset="0"/>
                <a:ea typeface="Arial" pitchFamily="34" charset="-122"/>
                <a:cs typeface="Arial" pitchFamily="34" charset="-120"/>
              </a:rPr>
              <a:t>03</a:t>
            </a:r>
            <a:endParaRPr lang="en-US" sz="920" dirty="0"/>
          </a:p>
        </p:txBody>
      </p:sp>
      <p:sp>
        <p:nvSpPr>
          <p:cNvPr id="20" name="Shape 18"/>
          <p:cNvSpPr/>
          <p:nvPr/>
        </p:nvSpPr>
        <p:spPr>
          <a:xfrm>
            <a:off x="585216" y="1609344"/>
            <a:ext cx="5349240" cy="4069080"/>
          </a:xfrm>
          <a:prstGeom prst="roundRect">
            <a:avLst>
              <a:gd name="adj" fmla="val 2921"/>
            </a:avLst>
          </a:prstGeom>
          <a:solidFill>
            <a:srgbClr val="FFFFFF"/>
          </a:solidFill>
          <a:ln w="10160">
            <a:solidFill>
              <a:srgbClr val="DFE6F2"/>
            </a:solidFill>
            <a:prstDash val="solid"/>
          </a:ln>
        </p:spPr>
        <p:txBody>
          <a:bodyPr/>
          <a:p/>
        </p:txBody>
      </p:sp>
      <p:sp>
        <p:nvSpPr>
          <p:cNvPr id="21" name="Shape 19"/>
          <p:cNvSpPr/>
          <p:nvPr/>
        </p:nvSpPr>
        <p:spPr>
          <a:xfrm>
            <a:off x="6254496" y="1609344"/>
            <a:ext cx="5349240" cy="4069080"/>
          </a:xfrm>
          <a:prstGeom prst="roundRect">
            <a:avLst>
              <a:gd name="adj" fmla="val 2921"/>
            </a:avLst>
          </a:prstGeom>
          <a:solidFill>
            <a:srgbClr val="FFFFFF"/>
          </a:solidFill>
          <a:ln w="10160">
            <a:solidFill>
              <a:srgbClr val="DFE6F2"/>
            </a:solidFill>
            <a:prstDash val="solid"/>
          </a:ln>
        </p:spPr>
        <p:txBody>
          <a:bodyPr/>
          <a:p/>
        </p:txBody>
      </p:sp>
      <p:sp>
        <p:nvSpPr>
          <p:cNvPr id="22" name="Text 20"/>
          <p:cNvSpPr/>
          <p:nvPr/>
        </p:nvSpPr>
        <p:spPr>
          <a:xfrm>
            <a:off x="813816" y="1856232"/>
            <a:ext cx="4892040" cy="402336"/>
          </a:xfrm>
          <a:prstGeom prst="rect">
            <a:avLst/>
          </a:prstGeom>
          <a:noFill/>
          <a:ln/>
        </p:spPr>
        <p:txBody>
          <a:bodyPr wrap="square" lIns="0" tIns="0" rIns="0" bIns="0" rtlCol="0" anchor="ctr">
            <a:normAutofit/>
          </a:bodyPr>
          <a:lstStyle/>
          <a:p>
            <a:pPr algn="ctr" indent="0" marL="0">
              <a:buNone/>
            </a:pPr>
            <a:r>
              <a:rPr lang="en-US" sz="2500" b="1" dirty="0">
                <a:solidFill>
                  <a:srgbClr val="25344E"/>
                </a:solidFill>
                <a:latin typeface="Arial" pitchFamily="34" charset="0"/>
                <a:ea typeface="Arial" pitchFamily="34" charset="-122"/>
                <a:cs typeface="Arial" pitchFamily="34" charset="-120"/>
              </a:rPr>
              <a:t>Weighted grid</a:t>
            </a:r>
            <a:endParaRPr lang="en-US" sz="2500" dirty="0"/>
          </a:p>
        </p:txBody>
      </p:sp>
      <p:sp>
        <p:nvSpPr>
          <p:cNvPr id="23" name="Shape 21"/>
          <p:cNvSpPr/>
          <p:nvPr/>
        </p:nvSpPr>
        <p:spPr>
          <a:xfrm>
            <a:off x="1847088" y="2487168"/>
            <a:ext cx="393192" cy="393192"/>
          </a:xfrm>
          <a:prstGeom prst="roundRect">
            <a:avLst>
              <a:gd name="adj" fmla="val 10465"/>
            </a:avLst>
          </a:prstGeom>
          <a:solidFill>
            <a:srgbClr val="138D87"/>
          </a:solidFill>
          <a:ln w="10160">
            <a:solidFill>
              <a:srgbClr val="138D87"/>
            </a:solidFill>
            <a:prstDash val="solid"/>
          </a:ln>
        </p:spPr>
        <p:txBody>
          <a:bodyPr/>
          <a:p/>
        </p:txBody>
      </p:sp>
      <p:sp>
        <p:nvSpPr>
          <p:cNvPr id="24" name="Text 22"/>
          <p:cNvSpPr/>
          <p:nvPr/>
        </p:nvSpPr>
        <p:spPr>
          <a:xfrm>
            <a:off x="1865376" y="2505456"/>
            <a:ext cx="356616" cy="35661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S</a:t>
            </a:r>
            <a:endParaRPr lang="en-US" sz="1800" dirty="0"/>
          </a:p>
        </p:txBody>
      </p:sp>
      <p:sp>
        <p:nvSpPr>
          <p:cNvPr id="25" name="Shape 23"/>
          <p:cNvSpPr/>
          <p:nvPr/>
        </p:nvSpPr>
        <p:spPr>
          <a:xfrm>
            <a:off x="2277770" y="2487168"/>
            <a:ext cx="393192" cy="393192"/>
          </a:xfrm>
          <a:prstGeom prst="roundRect">
            <a:avLst>
              <a:gd name="adj" fmla="val 10465"/>
            </a:avLst>
          </a:prstGeom>
          <a:solidFill>
            <a:srgbClr val="EAF0F7"/>
          </a:solidFill>
          <a:ln w="10160">
            <a:solidFill>
              <a:srgbClr val="EAF0F7"/>
            </a:solidFill>
            <a:prstDash val="solid"/>
          </a:ln>
        </p:spPr>
        <p:txBody>
          <a:bodyPr/>
          <a:p/>
        </p:txBody>
      </p:sp>
      <p:sp>
        <p:nvSpPr>
          <p:cNvPr id="26" name="Shape 24"/>
          <p:cNvSpPr/>
          <p:nvPr/>
        </p:nvSpPr>
        <p:spPr>
          <a:xfrm>
            <a:off x="2708453" y="2487168"/>
            <a:ext cx="393192" cy="393192"/>
          </a:xfrm>
          <a:prstGeom prst="roundRect">
            <a:avLst>
              <a:gd name="adj" fmla="val 10465"/>
            </a:avLst>
          </a:prstGeom>
          <a:solidFill>
            <a:srgbClr val="BAC7D8"/>
          </a:solidFill>
          <a:ln w="10160">
            <a:solidFill>
              <a:srgbClr val="BAC7D8"/>
            </a:solidFill>
            <a:prstDash val="solid"/>
          </a:ln>
        </p:spPr>
        <p:txBody>
          <a:bodyPr/>
          <a:p/>
        </p:txBody>
      </p:sp>
      <p:sp>
        <p:nvSpPr>
          <p:cNvPr id="27" name="Shape 25"/>
          <p:cNvSpPr/>
          <p:nvPr/>
        </p:nvSpPr>
        <p:spPr>
          <a:xfrm>
            <a:off x="3139135" y="2487168"/>
            <a:ext cx="393192" cy="393192"/>
          </a:xfrm>
          <a:prstGeom prst="roundRect">
            <a:avLst>
              <a:gd name="adj" fmla="val 10465"/>
            </a:avLst>
          </a:prstGeom>
          <a:solidFill>
            <a:srgbClr val="EAF0F7"/>
          </a:solidFill>
          <a:ln w="10160">
            <a:solidFill>
              <a:srgbClr val="EAF0F7"/>
            </a:solidFill>
            <a:prstDash val="solid"/>
          </a:ln>
        </p:spPr>
        <p:txBody>
          <a:bodyPr/>
          <a:p/>
        </p:txBody>
      </p:sp>
      <p:sp>
        <p:nvSpPr>
          <p:cNvPr id="28" name="Shape 26"/>
          <p:cNvSpPr/>
          <p:nvPr/>
        </p:nvSpPr>
        <p:spPr>
          <a:xfrm>
            <a:off x="3569818" y="2487168"/>
            <a:ext cx="393192" cy="393192"/>
          </a:xfrm>
          <a:prstGeom prst="roundRect">
            <a:avLst>
              <a:gd name="adj" fmla="val 10465"/>
            </a:avLst>
          </a:prstGeom>
          <a:solidFill>
            <a:srgbClr val="EAF0F7"/>
          </a:solidFill>
          <a:ln w="10160">
            <a:solidFill>
              <a:srgbClr val="EAF0F7"/>
            </a:solidFill>
            <a:prstDash val="solid"/>
          </a:ln>
        </p:spPr>
        <p:txBody>
          <a:bodyPr/>
          <a:p/>
        </p:txBody>
      </p:sp>
      <p:sp>
        <p:nvSpPr>
          <p:cNvPr id="29" name="Shape 27"/>
          <p:cNvSpPr/>
          <p:nvPr/>
        </p:nvSpPr>
        <p:spPr>
          <a:xfrm>
            <a:off x="4000500" y="2487168"/>
            <a:ext cx="393192" cy="393192"/>
          </a:xfrm>
          <a:prstGeom prst="roundRect">
            <a:avLst>
              <a:gd name="adj" fmla="val 10465"/>
            </a:avLst>
          </a:prstGeom>
          <a:solidFill>
            <a:srgbClr val="EFECFD"/>
          </a:solidFill>
          <a:ln w="10160">
            <a:solidFill>
              <a:srgbClr val="EFECFD"/>
            </a:solidFill>
            <a:prstDash val="solid"/>
          </a:ln>
        </p:spPr>
        <p:txBody>
          <a:bodyPr/>
          <a:p/>
        </p:txBody>
      </p:sp>
      <p:sp>
        <p:nvSpPr>
          <p:cNvPr id="30" name="Text 28"/>
          <p:cNvSpPr/>
          <p:nvPr/>
        </p:nvSpPr>
        <p:spPr>
          <a:xfrm>
            <a:off x="4018788" y="2505456"/>
            <a:ext cx="356616" cy="356616"/>
          </a:xfrm>
          <a:prstGeom prst="rect">
            <a:avLst/>
          </a:prstGeom>
          <a:noFill/>
          <a:ln/>
        </p:spPr>
        <p:txBody>
          <a:bodyPr wrap="square" lIns="0" tIns="0" rIns="0" bIns="0" rtlCol="0" anchor="ctr">
            <a:normAutofit/>
          </a:bodyPr>
          <a:lstStyle/>
          <a:p>
            <a:pPr algn="ctr" indent="0" marL="0">
              <a:buNone/>
            </a:pPr>
            <a:r>
              <a:rPr lang="en-US" sz="900" b="1" dirty="0">
                <a:solidFill>
                  <a:srgbClr val="6C5CE7"/>
                </a:solidFill>
                <a:latin typeface="Arial" pitchFamily="34" charset="0"/>
                <a:ea typeface="Arial" pitchFamily="34" charset="-122"/>
                <a:cs typeface="Arial" pitchFamily="34" charset="-120"/>
              </a:rPr>
              <a:t>EXIT</a:t>
            </a:r>
            <a:endParaRPr lang="en-US" sz="900" dirty="0"/>
          </a:p>
        </p:txBody>
      </p:sp>
      <p:sp>
        <p:nvSpPr>
          <p:cNvPr id="31" name="Shape 29"/>
          <p:cNvSpPr/>
          <p:nvPr/>
        </p:nvSpPr>
        <p:spPr>
          <a:xfrm>
            <a:off x="1847088" y="2917850"/>
            <a:ext cx="393192" cy="393192"/>
          </a:xfrm>
          <a:prstGeom prst="roundRect">
            <a:avLst>
              <a:gd name="adj" fmla="val 10465"/>
            </a:avLst>
          </a:prstGeom>
          <a:solidFill>
            <a:srgbClr val="C7EAE2"/>
          </a:solidFill>
          <a:ln w="10160">
            <a:solidFill>
              <a:srgbClr val="C7EAE2"/>
            </a:solidFill>
            <a:prstDash val="solid"/>
          </a:ln>
        </p:spPr>
        <p:txBody>
          <a:bodyPr/>
          <a:p/>
        </p:txBody>
      </p:sp>
      <p:sp>
        <p:nvSpPr>
          <p:cNvPr id="32" name="Shape 30"/>
          <p:cNvSpPr/>
          <p:nvPr/>
        </p:nvSpPr>
        <p:spPr>
          <a:xfrm>
            <a:off x="2002536" y="3073298"/>
            <a:ext cx="82296" cy="82296"/>
          </a:xfrm>
          <a:prstGeom prst="ellipse">
            <a:avLst/>
          </a:prstGeom>
          <a:solidFill>
            <a:srgbClr val="138D87"/>
          </a:solidFill>
          <a:ln w="12700">
            <a:solidFill>
              <a:srgbClr val="138D87">
                <a:alpha val="0"/>
              </a:srgbClr>
            </a:solidFill>
            <a:prstDash val="solid"/>
          </a:ln>
        </p:spPr>
        <p:txBody>
          <a:bodyPr/>
          <a:p/>
        </p:txBody>
      </p:sp>
      <p:sp>
        <p:nvSpPr>
          <p:cNvPr id="33" name="Shape 31"/>
          <p:cNvSpPr/>
          <p:nvPr/>
        </p:nvSpPr>
        <p:spPr>
          <a:xfrm>
            <a:off x="2277770" y="2917850"/>
            <a:ext cx="393192" cy="393192"/>
          </a:xfrm>
          <a:prstGeom prst="roundRect">
            <a:avLst>
              <a:gd name="adj" fmla="val 10465"/>
            </a:avLst>
          </a:prstGeom>
          <a:solidFill>
            <a:srgbClr val="EAF0F7"/>
          </a:solidFill>
          <a:ln w="10160">
            <a:solidFill>
              <a:srgbClr val="EAF0F7"/>
            </a:solidFill>
            <a:prstDash val="solid"/>
          </a:ln>
        </p:spPr>
        <p:txBody>
          <a:bodyPr/>
          <a:p/>
        </p:txBody>
      </p:sp>
      <p:sp>
        <p:nvSpPr>
          <p:cNvPr id="34" name="Shape 32"/>
          <p:cNvSpPr/>
          <p:nvPr/>
        </p:nvSpPr>
        <p:spPr>
          <a:xfrm>
            <a:off x="2708453" y="2917850"/>
            <a:ext cx="393192" cy="393192"/>
          </a:xfrm>
          <a:prstGeom prst="roundRect">
            <a:avLst>
              <a:gd name="adj" fmla="val 10465"/>
            </a:avLst>
          </a:prstGeom>
          <a:solidFill>
            <a:srgbClr val="BAC7D8"/>
          </a:solidFill>
          <a:ln w="10160">
            <a:solidFill>
              <a:srgbClr val="BAC7D8"/>
            </a:solidFill>
            <a:prstDash val="solid"/>
          </a:ln>
        </p:spPr>
        <p:txBody>
          <a:bodyPr/>
          <a:p/>
        </p:txBody>
      </p:sp>
      <p:sp>
        <p:nvSpPr>
          <p:cNvPr id="35" name="Shape 33"/>
          <p:cNvSpPr/>
          <p:nvPr/>
        </p:nvSpPr>
        <p:spPr>
          <a:xfrm>
            <a:off x="3139135" y="2917850"/>
            <a:ext cx="393192" cy="393192"/>
          </a:xfrm>
          <a:prstGeom prst="roundRect">
            <a:avLst>
              <a:gd name="adj" fmla="val 10465"/>
            </a:avLst>
          </a:prstGeom>
          <a:solidFill>
            <a:srgbClr val="EAF0F7"/>
          </a:solidFill>
          <a:ln w="10160">
            <a:solidFill>
              <a:srgbClr val="EAF0F7"/>
            </a:solidFill>
            <a:prstDash val="solid"/>
          </a:ln>
        </p:spPr>
        <p:txBody>
          <a:bodyPr/>
          <a:p/>
        </p:txBody>
      </p:sp>
      <p:sp>
        <p:nvSpPr>
          <p:cNvPr id="36" name="Shape 34"/>
          <p:cNvSpPr/>
          <p:nvPr/>
        </p:nvSpPr>
        <p:spPr>
          <a:xfrm>
            <a:off x="3569818" y="2917850"/>
            <a:ext cx="393192" cy="393192"/>
          </a:xfrm>
          <a:prstGeom prst="roundRect">
            <a:avLst>
              <a:gd name="adj" fmla="val 10465"/>
            </a:avLst>
          </a:prstGeom>
          <a:solidFill>
            <a:srgbClr val="E6DFFA"/>
          </a:solidFill>
          <a:ln w="10160">
            <a:solidFill>
              <a:srgbClr val="E6DFFA"/>
            </a:solidFill>
            <a:prstDash val="solid"/>
          </a:ln>
        </p:spPr>
        <p:txBody>
          <a:bodyPr/>
          <a:p/>
        </p:txBody>
      </p:sp>
      <p:sp>
        <p:nvSpPr>
          <p:cNvPr id="37" name="Text 35"/>
          <p:cNvSpPr/>
          <p:nvPr/>
        </p:nvSpPr>
        <p:spPr>
          <a:xfrm>
            <a:off x="3588106" y="2936138"/>
            <a:ext cx="356616" cy="356616"/>
          </a:xfrm>
          <a:prstGeom prst="rect">
            <a:avLst/>
          </a:prstGeom>
          <a:noFill/>
          <a:ln/>
        </p:spPr>
        <p:txBody>
          <a:bodyPr wrap="square" lIns="0" tIns="0" rIns="0" bIns="0" rtlCol="0" anchor="ctr">
            <a:normAutofit/>
          </a:bodyPr>
          <a:lstStyle/>
          <a:p>
            <a:pPr algn="ctr" indent="0" marL="0">
              <a:buNone/>
            </a:pPr>
            <a:r>
              <a:rPr lang="en-US" sz="1700" b="1" dirty="0">
                <a:solidFill>
                  <a:srgbClr val="6C5CE7"/>
                </a:solidFill>
                <a:latin typeface="Arial" pitchFamily="34" charset="0"/>
                <a:ea typeface="Arial" pitchFamily="34" charset="-122"/>
                <a:cs typeface="Arial" pitchFamily="34" charset="-120"/>
              </a:rPr>
              <a:t>8</a:t>
            </a:r>
            <a:endParaRPr lang="en-US" sz="1700" dirty="0"/>
          </a:p>
        </p:txBody>
      </p:sp>
      <p:sp>
        <p:nvSpPr>
          <p:cNvPr id="38" name="Shape 36"/>
          <p:cNvSpPr/>
          <p:nvPr/>
        </p:nvSpPr>
        <p:spPr>
          <a:xfrm>
            <a:off x="4000500" y="2917850"/>
            <a:ext cx="393192" cy="393192"/>
          </a:xfrm>
          <a:prstGeom prst="roundRect">
            <a:avLst>
              <a:gd name="adj" fmla="val 10465"/>
            </a:avLst>
          </a:prstGeom>
          <a:solidFill>
            <a:srgbClr val="EAF0F7"/>
          </a:solidFill>
          <a:ln w="10160">
            <a:solidFill>
              <a:srgbClr val="EAF0F7"/>
            </a:solidFill>
            <a:prstDash val="solid"/>
          </a:ln>
        </p:spPr>
        <p:txBody>
          <a:bodyPr/>
          <a:p/>
        </p:txBody>
      </p:sp>
      <p:sp>
        <p:nvSpPr>
          <p:cNvPr id="39" name="Shape 37"/>
          <p:cNvSpPr/>
          <p:nvPr/>
        </p:nvSpPr>
        <p:spPr>
          <a:xfrm>
            <a:off x="1847088" y="3348533"/>
            <a:ext cx="393192" cy="393192"/>
          </a:xfrm>
          <a:prstGeom prst="roundRect">
            <a:avLst>
              <a:gd name="adj" fmla="val 10465"/>
            </a:avLst>
          </a:prstGeom>
          <a:solidFill>
            <a:srgbClr val="C7EAE2"/>
          </a:solidFill>
          <a:ln w="10160">
            <a:solidFill>
              <a:srgbClr val="C7EAE2"/>
            </a:solidFill>
            <a:prstDash val="solid"/>
          </a:ln>
        </p:spPr>
        <p:txBody>
          <a:bodyPr/>
          <a:p/>
        </p:txBody>
      </p:sp>
      <p:sp>
        <p:nvSpPr>
          <p:cNvPr id="40" name="Shape 38"/>
          <p:cNvSpPr/>
          <p:nvPr/>
        </p:nvSpPr>
        <p:spPr>
          <a:xfrm>
            <a:off x="2002536" y="3503981"/>
            <a:ext cx="82296" cy="82296"/>
          </a:xfrm>
          <a:prstGeom prst="ellipse">
            <a:avLst/>
          </a:prstGeom>
          <a:solidFill>
            <a:srgbClr val="138D87"/>
          </a:solidFill>
          <a:ln w="12700">
            <a:solidFill>
              <a:srgbClr val="138D87">
                <a:alpha val="0"/>
              </a:srgbClr>
            </a:solidFill>
            <a:prstDash val="solid"/>
          </a:ln>
        </p:spPr>
        <p:txBody>
          <a:bodyPr/>
          <a:p/>
        </p:txBody>
      </p:sp>
      <p:sp>
        <p:nvSpPr>
          <p:cNvPr id="41" name="Shape 39"/>
          <p:cNvSpPr/>
          <p:nvPr/>
        </p:nvSpPr>
        <p:spPr>
          <a:xfrm>
            <a:off x="2277770" y="3348533"/>
            <a:ext cx="393192" cy="393192"/>
          </a:xfrm>
          <a:prstGeom prst="roundRect">
            <a:avLst>
              <a:gd name="adj" fmla="val 10465"/>
            </a:avLst>
          </a:prstGeom>
          <a:solidFill>
            <a:srgbClr val="EAF0F7"/>
          </a:solidFill>
          <a:ln w="10160">
            <a:solidFill>
              <a:srgbClr val="EAF0F7"/>
            </a:solidFill>
            <a:prstDash val="solid"/>
          </a:ln>
        </p:spPr>
        <p:txBody>
          <a:bodyPr/>
          <a:p/>
        </p:txBody>
      </p:sp>
      <p:sp>
        <p:nvSpPr>
          <p:cNvPr id="42" name="Shape 40"/>
          <p:cNvSpPr/>
          <p:nvPr/>
        </p:nvSpPr>
        <p:spPr>
          <a:xfrm>
            <a:off x="2708453" y="3348533"/>
            <a:ext cx="393192" cy="393192"/>
          </a:xfrm>
          <a:prstGeom prst="roundRect">
            <a:avLst>
              <a:gd name="adj" fmla="val 10465"/>
            </a:avLst>
          </a:prstGeom>
          <a:solidFill>
            <a:srgbClr val="BAC7D8"/>
          </a:solidFill>
          <a:ln w="10160">
            <a:solidFill>
              <a:srgbClr val="BAC7D8"/>
            </a:solidFill>
            <a:prstDash val="solid"/>
          </a:ln>
        </p:spPr>
        <p:txBody>
          <a:bodyPr/>
          <a:p/>
        </p:txBody>
      </p:sp>
      <p:sp>
        <p:nvSpPr>
          <p:cNvPr id="43" name="Shape 41"/>
          <p:cNvSpPr/>
          <p:nvPr/>
        </p:nvSpPr>
        <p:spPr>
          <a:xfrm>
            <a:off x="3139135" y="3348533"/>
            <a:ext cx="393192" cy="393192"/>
          </a:xfrm>
          <a:prstGeom prst="roundRect">
            <a:avLst>
              <a:gd name="adj" fmla="val 10465"/>
            </a:avLst>
          </a:prstGeom>
          <a:solidFill>
            <a:srgbClr val="FFF4DE"/>
          </a:solidFill>
          <a:ln w="10160">
            <a:solidFill>
              <a:srgbClr val="FFF4DE"/>
            </a:solidFill>
            <a:prstDash val="solid"/>
          </a:ln>
        </p:spPr>
        <p:txBody>
          <a:bodyPr/>
          <a:p/>
        </p:txBody>
      </p:sp>
      <p:sp>
        <p:nvSpPr>
          <p:cNvPr id="44" name="Text 42"/>
          <p:cNvSpPr/>
          <p:nvPr/>
        </p:nvSpPr>
        <p:spPr>
          <a:xfrm>
            <a:off x="3157423" y="3366821"/>
            <a:ext cx="356616" cy="356616"/>
          </a:xfrm>
          <a:prstGeom prst="rect">
            <a:avLst/>
          </a:prstGeom>
          <a:noFill/>
          <a:ln/>
        </p:spPr>
        <p:txBody>
          <a:bodyPr wrap="square" lIns="0" tIns="0" rIns="0" bIns="0" rtlCol="0" anchor="ctr">
            <a:normAutofit/>
          </a:bodyPr>
          <a:lstStyle/>
          <a:p>
            <a:pPr algn="ctr" indent="0" marL="0">
              <a:buNone/>
            </a:pPr>
            <a:r>
              <a:rPr lang="en-US" sz="1700" b="1" dirty="0">
                <a:solidFill>
                  <a:srgbClr val="C48B25"/>
                </a:solidFill>
                <a:latin typeface="Arial" pitchFamily="34" charset="0"/>
                <a:ea typeface="Arial" pitchFamily="34" charset="-122"/>
                <a:cs typeface="Arial" pitchFamily="34" charset="-120"/>
              </a:rPr>
              <a:t>3</a:t>
            </a:r>
            <a:endParaRPr lang="en-US" sz="1700" dirty="0"/>
          </a:p>
        </p:txBody>
      </p:sp>
      <p:sp>
        <p:nvSpPr>
          <p:cNvPr id="45" name="Shape 43"/>
          <p:cNvSpPr/>
          <p:nvPr/>
        </p:nvSpPr>
        <p:spPr>
          <a:xfrm>
            <a:off x="3569818" y="3348533"/>
            <a:ext cx="393192" cy="393192"/>
          </a:xfrm>
          <a:prstGeom prst="roundRect">
            <a:avLst>
              <a:gd name="adj" fmla="val 10465"/>
            </a:avLst>
          </a:prstGeom>
          <a:solidFill>
            <a:srgbClr val="EAF0F7"/>
          </a:solidFill>
          <a:ln w="10160">
            <a:solidFill>
              <a:srgbClr val="EAF0F7"/>
            </a:solidFill>
            <a:prstDash val="solid"/>
          </a:ln>
        </p:spPr>
        <p:txBody>
          <a:bodyPr/>
          <a:p/>
        </p:txBody>
      </p:sp>
      <p:sp>
        <p:nvSpPr>
          <p:cNvPr id="46" name="Shape 44"/>
          <p:cNvSpPr/>
          <p:nvPr/>
        </p:nvSpPr>
        <p:spPr>
          <a:xfrm>
            <a:off x="4000500" y="3348533"/>
            <a:ext cx="393192" cy="393192"/>
          </a:xfrm>
          <a:prstGeom prst="roundRect">
            <a:avLst>
              <a:gd name="adj" fmla="val 10465"/>
            </a:avLst>
          </a:prstGeom>
          <a:solidFill>
            <a:srgbClr val="EAF0F7"/>
          </a:solidFill>
          <a:ln w="10160">
            <a:solidFill>
              <a:srgbClr val="EAF0F7"/>
            </a:solidFill>
            <a:prstDash val="solid"/>
          </a:ln>
        </p:spPr>
        <p:txBody>
          <a:bodyPr/>
          <a:p/>
        </p:txBody>
      </p:sp>
      <p:sp>
        <p:nvSpPr>
          <p:cNvPr id="47" name="Shape 45"/>
          <p:cNvSpPr/>
          <p:nvPr/>
        </p:nvSpPr>
        <p:spPr>
          <a:xfrm>
            <a:off x="1847088" y="3779215"/>
            <a:ext cx="393192" cy="393192"/>
          </a:xfrm>
          <a:prstGeom prst="roundRect">
            <a:avLst>
              <a:gd name="adj" fmla="val 10465"/>
            </a:avLst>
          </a:prstGeom>
          <a:solidFill>
            <a:srgbClr val="C7EAE2"/>
          </a:solidFill>
          <a:ln w="10160">
            <a:solidFill>
              <a:srgbClr val="C7EAE2"/>
            </a:solidFill>
            <a:prstDash val="solid"/>
          </a:ln>
        </p:spPr>
        <p:txBody>
          <a:bodyPr/>
          <a:p/>
        </p:txBody>
      </p:sp>
      <p:sp>
        <p:nvSpPr>
          <p:cNvPr id="48" name="Shape 46"/>
          <p:cNvSpPr/>
          <p:nvPr/>
        </p:nvSpPr>
        <p:spPr>
          <a:xfrm>
            <a:off x="2002536" y="3934663"/>
            <a:ext cx="82296" cy="82296"/>
          </a:xfrm>
          <a:prstGeom prst="ellipse">
            <a:avLst/>
          </a:prstGeom>
          <a:solidFill>
            <a:srgbClr val="138D87"/>
          </a:solidFill>
          <a:ln w="12700">
            <a:solidFill>
              <a:srgbClr val="138D87">
                <a:alpha val="0"/>
              </a:srgbClr>
            </a:solidFill>
            <a:prstDash val="solid"/>
          </a:ln>
        </p:spPr>
        <p:txBody>
          <a:bodyPr/>
          <a:p/>
        </p:txBody>
      </p:sp>
      <p:sp>
        <p:nvSpPr>
          <p:cNvPr id="49" name="Shape 47"/>
          <p:cNvSpPr/>
          <p:nvPr/>
        </p:nvSpPr>
        <p:spPr>
          <a:xfrm>
            <a:off x="2277770" y="3779215"/>
            <a:ext cx="393192" cy="393192"/>
          </a:xfrm>
          <a:prstGeom prst="roundRect">
            <a:avLst>
              <a:gd name="adj" fmla="val 10465"/>
            </a:avLst>
          </a:prstGeom>
          <a:solidFill>
            <a:srgbClr val="EAF0F7"/>
          </a:solidFill>
          <a:ln w="10160">
            <a:solidFill>
              <a:srgbClr val="EAF0F7"/>
            </a:solidFill>
            <a:prstDash val="solid"/>
          </a:ln>
        </p:spPr>
        <p:txBody>
          <a:bodyPr/>
          <a:p/>
        </p:txBody>
      </p:sp>
      <p:sp>
        <p:nvSpPr>
          <p:cNvPr id="50" name="Shape 48"/>
          <p:cNvSpPr/>
          <p:nvPr/>
        </p:nvSpPr>
        <p:spPr>
          <a:xfrm>
            <a:off x="2708453" y="3779215"/>
            <a:ext cx="393192" cy="393192"/>
          </a:xfrm>
          <a:prstGeom prst="roundRect">
            <a:avLst>
              <a:gd name="adj" fmla="val 10465"/>
            </a:avLst>
          </a:prstGeom>
          <a:solidFill>
            <a:srgbClr val="BAC7D8"/>
          </a:solidFill>
          <a:ln w="10160">
            <a:solidFill>
              <a:srgbClr val="BAC7D8"/>
            </a:solidFill>
            <a:prstDash val="solid"/>
          </a:ln>
        </p:spPr>
        <p:txBody>
          <a:bodyPr/>
          <a:p/>
        </p:txBody>
      </p:sp>
      <p:sp>
        <p:nvSpPr>
          <p:cNvPr id="51" name="Shape 49"/>
          <p:cNvSpPr/>
          <p:nvPr/>
        </p:nvSpPr>
        <p:spPr>
          <a:xfrm>
            <a:off x="3139135" y="3779215"/>
            <a:ext cx="393192" cy="393192"/>
          </a:xfrm>
          <a:prstGeom prst="roundRect">
            <a:avLst>
              <a:gd name="adj" fmla="val 10465"/>
            </a:avLst>
          </a:prstGeom>
          <a:solidFill>
            <a:srgbClr val="EAF0F7"/>
          </a:solidFill>
          <a:ln w="10160">
            <a:solidFill>
              <a:srgbClr val="EAF0F7"/>
            </a:solidFill>
            <a:prstDash val="solid"/>
          </a:ln>
        </p:spPr>
        <p:txBody>
          <a:bodyPr/>
          <a:p/>
        </p:txBody>
      </p:sp>
      <p:sp>
        <p:nvSpPr>
          <p:cNvPr id="52" name="Shape 50"/>
          <p:cNvSpPr/>
          <p:nvPr/>
        </p:nvSpPr>
        <p:spPr>
          <a:xfrm>
            <a:off x="3569818" y="3779215"/>
            <a:ext cx="393192" cy="393192"/>
          </a:xfrm>
          <a:prstGeom prst="roundRect">
            <a:avLst>
              <a:gd name="adj" fmla="val 10465"/>
            </a:avLst>
          </a:prstGeom>
          <a:solidFill>
            <a:srgbClr val="EAF0F7"/>
          </a:solidFill>
          <a:ln w="10160">
            <a:solidFill>
              <a:srgbClr val="EAF0F7"/>
            </a:solidFill>
            <a:prstDash val="solid"/>
          </a:ln>
        </p:spPr>
        <p:txBody>
          <a:bodyPr/>
          <a:p/>
        </p:txBody>
      </p:sp>
      <p:sp>
        <p:nvSpPr>
          <p:cNvPr id="53" name="Shape 51"/>
          <p:cNvSpPr/>
          <p:nvPr/>
        </p:nvSpPr>
        <p:spPr>
          <a:xfrm>
            <a:off x="4000500" y="3779215"/>
            <a:ext cx="393192" cy="393192"/>
          </a:xfrm>
          <a:prstGeom prst="roundRect">
            <a:avLst>
              <a:gd name="adj" fmla="val 10465"/>
            </a:avLst>
          </a:prstGeom>
          <a:solidFill>
            <a:srgbClr val="EAF0F7"/>
          </a:solidFill>
          <a:ln w="10160">
            <a:solidFill>
              <a:srgbClr val="EAF0F7"/>
            </a:solidFill>
            <a:prstDash val="solid"/>
          </a:ln>
        </p:spPr>
        <p:txBody>
          <a:bodyPr/>
          <a:p/>
        </p:txBody>
      </p:sp>
      <p:sp>
        <p:nvSpPr>
          <p:cNvPr id="54" name="Shape 52"/>
          <p:cNvSpPr/>
          <p:nvPr/>
        </p:nvSpPr>
        <p:spPr>
          <a:xfrm>
            <a:off x="1847088" y="4209898"/>
            <a:ext cx="393192" cy="393192"/>
          </a:xfrm>
          <a:prstGeom prst="roundRect">
            <a:avLst>
              <a:gd name="adj" fmla="val 10465"/>
            </a:avLst>
          </a:prstGeom>
          <a:solidFill>
            <a:srgbClr val="C7EAE2"/>
          </a:solidFill>
          <a:ln w="10160">
            <a:solidFill>
              <a:srgbClr val="C7EAE2"/>
            </a:solidFill>
            <a:prstDash val="solid"/>
          </a:ln>
        </p:spPr>
        <p:txBody>
          <a:bodyPr/>
          <a:p/>
        </p:txBody>
      </p:sp>
      <p:sp>
        <p:nvSpPr>
          <p:cNvPr id="55" name="Shape 53"/>
          <p:cNvSpPr/>
          <p:nvPr/>
        </p:nvSpPr>
        <p:spPr>
          <a:xfrm>
            <a:off x="2002536" y="4365346"/>
            <a:ext cx="82296" cy="82296"/>
          </a:xfrm>
          <a:prstGeom prst="ellipse">
            <a:avLst/>
          </a:prstGeom>
          <a:solidFill>
            <a:srgbClr val="138D87"/>
          </a:solidFill>
          <a:ln w="12700">
            <a:solidFill>
              <a:srgbClr val="138D87">
                <a:alpha val="0"/>
              </a:srgbClr>
            </a:solidFill>
            <a:prstDash val="solid"/>
          </a:ln>
        </p:spPr>
        <p:txBody>
          <a:bodyPr/>
          <a:p/>
        </p:txBody>
      </p:sp>
      <p:sp>
        <p:nvSpPr>
          <p:cNvPr id="56" name="Shape 54"/>
          <p:cNvSpPr/>
          <p:nvPr/>
        </p:nvSpPr>
        <p:spPr>
          <a:xfrm>
            <a:off x="2277770" y="4209898"/>
            <a:ext cx="393192" cy="393192"/>
          </a:xfrm>
          <a:prstGeom prst="roundRect">
            <a:avLst>
              <a:gd name="adj" fmla="val 10465"/>
            </a:avLst>
          </a:prstGeom>
          <a:solidFill>
            <a:srgbClr val="EAF0F7"/>
          </a:solidFill>
          <a:ln w="10160">
            <a:solidFill>
              <a:srgbClr val="EAF0F7"/>
            </a:solidFill>
            <a:prstDash val="solid"/>
          </a:ln>
        </p:spPr>
        <p:txBody>
          <a:bodyPr/>
          <a:p/>
        </p:txBody>
      </p:sp>
      <p:sp>
        <p:nvSpPr>
          <p:cNvPr id="57" name="Shape 55"/>
          <p:cNvSpPr/>
          <p:nvPr/>
        </p:nvSpPr>
        <p:spPr>
          <a:xfrm>
            <a:off x="2708453" y="4209898"/>
            <a:ext cx="393192" cy="393192"/>
          </a:xfrm>
          <a:prstGeom prst="roundRect">
            <a:avLst>
              <a:gd name="adj" fmla="val 10465"/>
            </a:avLst>
          </a:prstGeom>
          <a:solidFill>
            <a:srgbClr val="EAF0F7"/>
          </a:solidFill>
          <a:ln w="10160">
            <a:solidFill>
              <a:srgbClr val="EAF0F7"/>
            </a:solidFill>
            <a:prstDash val="solid"/>
          </a:ln>
        </p:spPr>
        <p:txBody>
          <a:bodyPr/>
          <a:p/>
        </p:txBody>
      </p:sp>
      <p:sp>
        <p:nvSpPr>
          <p:cNvPr id="58" name="Shape 56"/>
          <p:cNvSpPr/>
          <p:nvPr/>
        </p:nvSpPr>
        <p:spPr>
          <a:xfrm>
            <a:off x="3139135" y="4209898"/>
            <a:ext cx="393192" cy="393192"/>
          </a:xfrm>
          <a:prstGeom prst="roundRect">
            <a:avLst>
              <a:gd name="adj" fmla="val 10465"/>
            </a:avLst>
          </a:prstGeom>
          <a:solidFill>
            <a:srgbClr val="FDEDF0"/>
          </a:solidFill>
          <a:ln w="10160">
            <a:solidFill>
              <a:srgbClr val="FDEDF0"/>
            </a:solidFill>
            <a:prstDash val="solid"/>
          </a:ln>
        </p:spPr>
        <p:txBody>
          <a:bodyPr/>
          <a:p/>
        </p:txBody>
      </p:sp>
      <p:sp>
        <p:nvSpPr>
          <p:cNvPr id="59" name="Text 57"/>
          <p:cNvSpPr/>
          <p:nvPr/>
        </p:nvSpPr>
        <p:spPr>
          <a:xfrm>
            <a:off x="3157423" y="4228186"/>
            <a:ext cx="356616" cy="356616"/>
          </a:xfrm>
          <a:prstGeom prst="rect">
            <a:avLst/>
          </a:prstGeom>
          <a:noFill/>
          <a:ln/>
        </p:spPr>
        <p:txBody>
          <a:bodyPr wrap="square" lIns="0" tIns="0" rIns="0" bIns="0" rtlCol="0" anchor="ctr">
            <a:normAutofit/>
          </a:bodyPr>
          <a:lstStyle/>
          <a:p>
            <a:pPr algn="ctr" indent="0" marL="0">
              <a:buNone/>
            </a:pPr>
            <a:r>
              <a:rPr lang="en-US" sz="1800" b="1" dirty="0">
                <a:solidFill>
                  <a:srgbClr val="D56371"/>
                </a:solidFill>
                <a:latin typeface="Arial" pitchFamily="34" charset="0"/>
                <a:ea typeface="Arial" pitchFamily="34" charset="-122"/>
                <a:cs typeface="Arial" pitchFamily="34" charset="-120"/>
              </a:rPr>
              <a:t>X</a:t>
            </a:r>
            <a:endParaRPr lang="en-US" sz="1800" dirty="0"/>
          </a:p>
        </p:txBody>
      </p:sp>
      <p:sp>
        <p:nvSpPr>
          <p:cNvPr id="60" name="Shape 58"/>
          <p:cNvSpPr/>
          <p:nvPr/>
        </p:nvSpPr>
        <p:spPr>
          <a:xfrm>
            <a:off x="3569818" y="4209898"/>
            <a:ext cx="393192" cy="393192"/>
          </a:xfrm>
          <a:prstGeom prst="roundRect">
            <a:avLst>
              <a:gd name="adj" fmla="val 10465"/>
            </a:avLst>
          </a:prstGeom>
          <a:solidFill>
            <a:srgbClr val="BAC7D8"/>
          </a:solidFill>
          <a:ln w="10160">
            <a:solidFill>
              <a:srgbClr val="BAC7D8"/>
            </a:solidFill>
            <a:prstDash val="solid"/>
          </a:ln>
        </p:spPr>
        <p:txBody>
          <a:bodyPr/>
          <a:p/>
        </p:txBody>
      </p:sp>
      <p:sp>
        <p:nvSpPr>
          <p:cNvPr id="61" name="Shape 59"/>
          <p:cNvSpPr/>
          <p:nvPr/>
        </p:nvSpPr>
        <p:spPr>
          <a:xfrm>
            <a:off x="4000500" y="4209898"/>
            <a:ext cx="393192" cy="393192"/>
          </a:xfrm>
          <a:prstGeom prst="roundRect">
            <a:avLst>
              <a:gd name="adj" fmla="val 10465"/>
            </a:avLst>
          </a:prstGeom>
          <a:solidFill>
            <a:srgbClr val="EAF0F7"/>
          </a:solidFill>
          <a:ln w="10160">
            <a:solidFill>
              <a:srgbClr val="EAF0F7"/>
            </a:solidFill>
            <a:prstDash val="solid"/>
          </a:ln>
        </p:spPr>
        <p:txBody>
          <a:bodyPr/>
          <a:p/>
        </p:txBody>
      </p:sp>
      <p:sp>
        <p:nvSpPr>
          <p:cNvPr id="62" name="Shape 60"/>
          <p:cNvSpPr/>
          <p:nvPr/>
        </p:nvSpPr>
        <p:spPr>
          <a:xfrm>
            <a:off x="1847088" y="4640580"/>
            <a:ext cx="393192" cy="393192"/>
          </a:xfrm>
          <a:prstGeom prst="roundRect">
            <a:avLst>
              <a:gd name="adj" fmla="val 10465"/>
            </a:avLst>
          </a:prstGeom>
          <a:solidFill>
            <a:srgbClr val="C7EAE2"/>
          </a:solidFill>
          <a:ln w="10160">
            <a:solidFill>
              <a:srgbClr val="C7EAE2"/>
            </a:solidFill>
            <a:prstDash val="solid"/>
          </a:ln>
        </p:spPr>
        <p:txBody>
          <a:bodyPr/>
          <a:p/>
        </p:txBody>
      </p:sp>
      <p:sp>
        <p:nvSpPr>
          <p:cNvPr id="63" name="Shape 61"/>
          <p:cNvSpPr/>
          <p:nvPr/>
        </p:nvSpPr>
        <p:spPr>
          <a:xfrm>
            <a:off x="2002536" y="4796028"/>
            <a:ext cx="82296" cy="82296"/>
          </a:xfrm>
          <a:prstGeom prst="ellipse">
            <a:avLst/>
          </a:prstGeom>
          <a:solidFill>
            <a:srgbClr val="138D87"/>
          </a:solidFill>
          <a:ln w="12700">
            <a:solidFill>
              <a:srgbClr val="138D87">
                <a:alpha val="0"/>
              </a:srgbClr>
            </a:solidFill>
            <a:prstDash val="solid"/>
          </a:ln>
        </p:spPr>
        <p:txBody>
          <a:bodyPr/>
          <a:p/>
        </p:txBody>
      </p:sp>
      <p:sp>
        <p:nvSpPr>
          <p:cNvPr id="64" name="Shape 62"/>
          <p:cNvSpPr/>
          <p:nvPr/>
        </p:nvSpPr>
        <p:spPr>
          <a:xfrm>
            <a:off x="2277770" y="4640580"/>
            <a:ext cx="393192" cy="393192"/>
          </a:xfrm>
          <a:prstGeom prst="roundRect">
            <a:avLst>
              <a:gd name="adj" fmla="val 10465"/>
            </a:avLst>
          </a:prstGeom>
          <a:solidFill>
            <a:srgbClr val="C7EAE2"/>
          </a:solidFill>
          <a:ln w="10160">
            <a:solidFill>
              <a:srgbClr val="C7EAE2"/>
            </a:solidFill>
            <a:prstDash val="solid"/>
          </a:ln>
        </p:spPr>
        <p:txBody>
          <a:bodyPr/>
          <a:p/>
        </p:txBody>
      </p:sp>
      <p:sp>
        <p:nvSpPr>
          <p:cNvPr id="65" name="Shape 63"/>
          <p:cNvSpPr/>
          <p:nvPr/>
        </p:nvSpPr>
        <p:spPr>
          <a:xfrm>
            <a:off x="2433218" y="4796028"/>
            <a:ext cx="82296" cy="82296"/>
          </a:xfrm>
          <a:prstGeom prst="ellipse">
            <a:avLst/>
          </a:prstGeom>
          <a:solidFill>
            <a:srgbClr val="138D87"/>
          </a:solidFill>
          <a:ln w="12700">
            <a:solidFill>
              <a:srgbClr val="138D87">
                <a:alpha val="0"/>
              </a:srgbClr>
            </a:solidFill>
            <a:prstDash val="solid"/>
          </a:ln>
        </p:spPr>
        <p:txBody>
          <a:bodyPr/>
          <a:p/>
        </p:txBody>
      </p:sp>
      <p:sp>
        <p:nvSpPr>
          <p:cNvPr id="66" name="Shape 64"/>
          <p:cNvSpPr/>
          <p:nvPr/>
        </p:nvSpPr>
        <p:spPr>
          <a:xfrm>
            <a:off x="2708453" y="4640580"/>
            <a:ext cx="393192" cy="393192"/>
          </a:xfrm>
          <a:prstGeom prst="roundRect">
            <a:avLst>
              <a:gd name="adj" fmla="val 10465"/>
            </a:avLst>
          </a:prstGeom>
          <a:solidFill>
            <a:srgbClr val="C7EAE2"/>
          </a:solidFill>
          <a:ln w="10160">
            <a:solidFill>
              <a:srgbClr val="C7EAE2"/>
            </a:solidFill>
            <a:prstDash val="solid"/>
          </a:ln>
        </p:spPr>
        <p:txBody>
          <a:bodyPr/>
          <a:p/>
        </p:txBody>
      </p:sp>
      <p:sp>
        <p:nvSpPr>
          <p:cNvPr id="67" name="Shape 65"/>
          <p:cNvSpPr/>
          <p:nvPr/>
        </p:nvSpPr>
        <p:spPr>
          <a:xfrm>
            <a:off x="2863901" y="4796028"/>
            <a:ext cx="82296" cy="82296"/>
          </a:xfrm>
          <a:prstGeom prst="ellipse">
            <a:avLst/>
          </a:prstGeom>
          <a:solidFill>
            <a:srgbClr val="138D87"/>
          </a:solidFill>
          <a:ln w="12700">
            <a:solidFill>
              <a:srgbClr val="138D87">
                <a:alpha val="0"/>
              </a:srgbClr>
            </a:solidFill>
            <a:prstDash val="solid"/>
          </a:ln>
        </p:spPr>
        <p:txBody>
          <a:bodyPr/>
          <a:p/>
        </p:txBody>
      </p:sp>
      <p:sp>
        <p:nvSpPr>
          <p:cNvPr id="68" name="Shape 66"/>
          <p:cNvSpPr/>
          <p:nvPr/>
        </p:nvSpPr>
        <p:spPr>
          <a:xfrm>
            <a:off x="3139135" y="4640580"/>
            <a:ext cx="393192" cy="393192"/>
          </a:xfrm>
          <a:prstGeom prst="roundRect">
            <a:avLst>
              <a:gd name="adj" fmla="val 10465"/>
            </a:avLst>
          </a:prstGeom>
          <a:solidFill>
            <a:srgbClr val="C7EAE2"/>
          </a:solidFill>
          <a:ln w="10160">
            <a:solidFill>
              <a:srgbClr val="C7EAE2"/>
            </a:solidFill>
            <a:prstDash val="solid"/>
          </a:ln>
        </p:spPr>
        <p:txBody>
          <a:bodyPr/>
          <a:p/>
        </p:txBody>
      </p:sp>
      <p:sp>
        <p:nvSpPr>
          <p:cNvPr id="69" name="Shape 67"/>
          <p:cNvSpPr/>
          <p:nvPr/>
        </p:nvSpPr>
        <p:spPr>
          <a:xfrm>
            <a:off x="3294583" y="4796028"/>
            <a:ext cx="82296" cy="82296"/>
          </a:xfrm>
          <a:prstGeom prst="ellipse">
            <a:avLst/>
          </a:prstGeom>
          <a:solidFill>
            <a:srgbClr val="138D87"/>
          </a:solidFill>
          <a:ln w="12700">
            <a:solidFill>
              <a:srgbClr val="138D87">
                <a:alpha val="0"/>
              </a:srgbClr>
            </a:solidFill>
            <a:prstDash val="solid"/>
          </a:ln>
        </p:spPr>
        <p:txBody>
          <a:bodyPr/>
          <a:p/>
        </p:txBody>
      </p:sp>
      <p:sp>
        <p:nvSpPr>
          <p:cNvPr id="70" name="Shape 68"/>
          <p:cNvSpPr/>
          <p:nvPr/>
        </p:nvSpPr>
        <p:spPr>
          <a:xfrm>
            <a:off x="3569818" y="4640580"/>
            <a:ext cx="393192" cy="393192"/>
          </a:xfrm>
          <a:prstGeom prst="roundRect">
            <a:avLst>
              <a:gd name="adj" fmla="val 10465"/>
            </a:avLst>
          </a:prstGeom>
          <a:solidFill>
            <a:srgbClr val="C7EAE2"/>
          </a:solidFill>
          <a:ln w="10160">
            <a:solidFill>
              <a:srgbClr val="C7EAE2"/>
            </a:solidFill>
            <a:prstDash val="solid"/>
          </a:ln>
        </p:spPr>
        <p:txBody>
          <a:bodyPr/>
          <a:p/>
        </p:txBody>
      </p:sp>
      <p:sp>
        <p:nvSpPr>
          <p:cNvPr id="71" name="Shape 69"/>
          <p:cNvSpPr/>
          <p:nvPr/>
        </p:nvSpPr>
        <p:spPr>
          <a:xfrm>
            <a:off x="3725266" y="4796028"/>
            <a:ext cx="82296" cy="82296"/>
          </a:xfrm>
          <a:prstGeom prst="ellipse">
            <a:avLst/>
          </a:prstGeom>
          <a:solidFill>
            <a:srgbClr val="138D87"/>
          </a:solidFill>
          <a:ln w="12700">
            <a:solidFill>
              <a:srgbClr val="138D87">
                <a:alpha val="0"/>
              </a:srgbClr>
            </a:solidFill>
            <a:prstDash val="solid"/>
          </a:ln>
        </p:spPr>
        <p:txBody>
          <a:bodyPr/>
          <a:p/>
        </p:txBody>
      </p:sp>
      <p:sp>
        <p:nvSpPr>
          <p:cNvPr id="72" name="Shape 70"/>
          <p:cNvSpPr/>
          <p:nvPr/>
        </p:nvSpPr>
        <p:spPr>
          <a:xfrm>
            <a:off x="4000500" y="4640580"/>
            <a:ext cx="393192" cy="393192"/>
          </a:xfrm>
          <a:prstGeom prst="roundRect">
            <a:avLst>
              <a:gd name="adj" fmla="val 10465"/>
            </a:avLst>
          </a:prstGeom>
          <a:solidFill>
            <a:srgbClr val="138D87"/>
          </a:solidFill>
          <a:ln w="10160">
            <a:solidFill>
              <a:srgbClr val="138D87"/>
            </a:solidFill>
            <a:prstDash val="solid"/>
          </a:ln>
        </p:spPr>
        <p:txBody>
          <a:bodyPr/>
          <a:p/>
        </p:txBody>
      </p:sp>
      <p:sp>
        <p:nvSpPr>
          <p:cNvPr id="73" name="Text 71"/>
          <p:cNvSpPr/>
          <p:nvPr/>
        </p:nvSpPr>
        <p:spPr>
          <a:xfrm>
            <a:off x="4018788" y="4658868"/>
            <a:ext cx="356616" cy="35661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EXIT</a:t>
            </a:r>
            <a:endParaRPr lang="en-US" sz="900" dirty="0"/>
          </a:p>
        </p:txBody>
      </p:sp>
      <p:sp>
        <p:nvSpPr>
          <p:cNvPr id="74" name="Text 72"/>
          <p:cNvSpPr/>
          <p:nvPr/>
        </p:nvSpPr>
        <p:spPr>
          <a:xfrm>
            <a:off x="813816" y="5239512"/>
            <a:ext cx="4892040" cy="329184"/>
          </a:xfrm>
          <a:prstGeom prst="rect">
            <a:avLst/>
          </a:prstGeom>
          <a:noFill/>
          <a:ln/>
        </p:spPr>
        <p:txBody>
          <a:bodyPr wrap="square" lIns="0" tIns="0" rIns="0" bIns="0" rtlCol="0" anchor="ctr">
            <a:normAutofit/>
          </a:bodyPr>
          <a:lstStyle/>
          <a:p>
            <a:pPr algn="ctr" indent="0" marL="0">
              <a:buNone/>
            </a:pPr>
            <a:r>
              <a:rPr lang="en-US" sz="1950" b="1" dirty="0">
                <a:solidFill>
                  <a:srgbClr val="4E5F7B"/>
                </a:solidFill>
                <a:latin typeface="Arial" pitchFamily="34" charset="0"/>
                <a:ea typeface="Arial" pitchFamily="34" charset="-122"/>
                <a:cs typeface="Arial" pitchFamily="34" charset="-120"/>
              </a:rPr>
              <a:t>One start · Multiple exits</a:t>
            </a:r>
            <a:endParaRPr lang="en-US" sz="1950" dirty="0"/>
          </a:p>
        </p:txBody>
      </p:sp>
      <p:sp>
        <p:nvSpPr>
          <p:cNvPr id="75" name="Text 73"/>
          <p:cNvSpPr/>
          <p:nvPr/>
        </p:nvSpPr>
        <p:spPr>
          <a:xfrm>
            <a:off x="6483096" y="1856232"/>
            <a:ext cx="4892040" cy="402336"/>
          </a:xfrm>
          <a:prstGeom prst="rect">
            <a:avLst/>
          </a:prstGeom>
          <a:noFill/>
          <a:ln/>
        </p:spPr>
        <p:txBody>
          <a:bodyPr wrap="square" lIns="0" tIns="0" rIns="0" bIns="0" rtlCol="0" anchor="ctr">
            <a:normAutofit/>
          </a:bodyPr>
          <a:lstStyle/>
          <a:p>
            <a:pPr algn="ctr" indent="0" marL="0">
              <a:buNone/>
            </a:pPr>
            <a:r>
              <a:rPr lang="en-US" sz="2300" b="1" dirty="0">
                <a:solidFill>
                  <a:srgbClr val="25344E"/>
                </a:solidFill>
                <a:latin typeface="Arial" pitchFamily="34" charset="0"/>
                <a:ea typeface="Arial" pitchFamily="34" charset="-122"/>
                <a:cs typeface="Arial" pitchFamily="34" charset="-120"/>
              </a:rPr>
              <a:t>Example movement costs</a:t>
            </a:r>
            <a:endParaRPr lang="en-US" sz="2300" dirty="0"/>
          </a:p>
        </p:txBody>
      </p:sp>
      <p:sp>
        <p:nvSpPr>
          <p:cNvPr id="76" name="Shape 74"/>
          <p:cNvSpPr/>
          <p:nvPr/>
        </p:nvSpPr>
        <p:spPr>
          <a:xfrm>
            <a:off x="6537960" y="2523744"/>
            <a:ext cx="4773168" cy="548640"/>
          </a:xfrm>
          <a:prstGeom prst="roundRect">
            <a:avLst>
              <a:gd name="adj" fmla="val 10833"/>
            </a:avLst>
          </a:prstGeom>
          <a:solidFill>
            <a:srgbClr val="F6F8FC"/>
          </a:solidFill>
          <a:ln w="10160">
            <a:solidFill>
              <a:srgbClr val="DFE6F2"/>
            </a:solidFill>
            <a:prstDash val="solid"/>
          </a:ln>
        </p:spPr>
        <p:txBody>
          <a:bodyPr/>
          <a:p/>
        </p:txBody>
      </p:sp>
      <p:sp>
        <p:nvSpPr>
          <p:cNvPr id="77" name="Shape 75"/>
          <p:cNvSpPr/>
          <p:nvPr/>
        </p:nvSpPr>
        <p:spPr>
          <a:xfrm>
            <a:off x="6537960" y="2523744"/>
            <a:ext cx="676656" cy="548640"/>
          </a:xfrm>
          <a:prstGeom prst="roundRect">
            <a:avLst>
              <a:gd name="adj" fmla="val 10833"/>
            </a:avLst>
          </a:prstGeom>
          <a:solidFill>
            <a:srgbClr val="E7F6F2"/>
          </a:solidFill>
          <a:ln w="10160">
            <a:solidFill>
              <a:srgbClr val="E7F6F2"/>
            </a:solidFill>
            <a:prstDash val="solid"/>
          </a:ln>
        </p:spPr>
        <p:txBody>
          <a:bodyPr/>
          <a:p/>
        </p:txBody>
      </p:sp>
      <p:sp>
        <p:nvSpPr>
          <p:cNvPr id="78" name="Text 76"/>
          <p:cNvSpPr/>
          <p:nvPr/>
        </p:nvSpPr>
        <p:spPr>
          <a:xfrm>
            <a:off x="6537960" y="2542032"/>
            <a:ext cx="676656" cy="512064"/>
          </a:xfrm>
          <a:prstGeom prst="rect">
            <a:avLst/>
          </a:prstGeom>
          <a:noFill/>
          <a:ln/>
        </p:spPr>
        <p:txBody>
          <a:bodyPr wrap="square" lIns="0" tIns="0" rIns="0" bIns="0" rtlCol="0" anchor="ctr">
            <a:normAutofit/>
          </a:bodyPr>
          <a:lstStyle/>
          <a:p>
            <a:pPr algn="ctr" indent="0" marL="0">
              <a:buNone/>
            </a:pPr>
            <a:r>
              <a:rPr lang="en-US" sz="2400" b="1" dirty="0">
                <a:solidFill>
                  <a:srgbClr val="138D87"/>
                </a:solidFill>
                <a:latin typeface="Arial" pitchFamily="34" charset="0"/>
                <a:ea typeface="Arial" pitchFamily="34" charset="-122"/>
                <a:cs typeface="Arial" pitchFamily="34" charset="-120"/>
              </a:rPr>
              <a:t>1</a:t>
            </a:r>
            <a:endParaRPr lang="en-US" sz="2400" dirty="0"/>
          </a:p>
        </p:txBody>
      </p:sp>
      <p:sp>
        <p:nvSpPr>
          <p:cNvPr id="79" name="Text 77"/>
          <p:cNvSpPr/>
          <p:nvPr/>
        </p:nvSpPr>
        <p:spPr>
          <a:xfrm>
            <a:off x="7351776" y="2569464"/>
            <a:ext cx="3776472" cy="457200"/>
          </a:xfrm>
          <a:prstGeom prst="rect">
            <a:avLst/>
          </a:prstGeom>
          <a:noFill/>
          <a:ln/>
        </p:spPr>
        <p:txBody>
          <a:bodyPr wrap="square" lIns="0" tIns="0" rIns="0" bIns="0" rtlCol="0" anchor="ctr">
            <a:normAutofit/>
          </a:bodyPr>
          <a:lstStyle/>
          <a:p>
            <a:pPr algn="ctr" indent="0" marL="0">
              <a:buNone/>
            </a:pPr>
            <a:r>
              <a:rPr lang="en-US" sz="2050" dirty="0">
                <a:solidFill>
                  <a:srgbClr val="4E5F7B"/>
                </a:solidFill>
                <a:latin typeface="Arial" pitchFamily="34" charset="0"/>
                <a:ea typeface="Arial" pitchFamily="34" charset="-122"/>
                <a:cs typeface="Arial" pitchFamily="34" charset="-120"/>
              </a:rPr>
              <a:t>Normal corridor</a:t>
            </a:r>
            <a:endParaRPr lang="en-US" sz="2050" dirty="0"/>
          </a:p>
        </p:txBody>
      </p:sp>
      <p:sp>
        <p:nvSpPr>
          <p:cNvPr id="80" name="Shape 78"/>
          <p:cNvSpPr/>
          <p:nvPr/>
        </p:nvSpPr>
        <p:spPr>
          <a:xfrm>
            <a:off x="6537960" y="3209544"/>
            <a:ext cx="4773168" cy="548640"/>
          </a:xfrm>
          <a:prstGeom prst="roundRect">
            <a:avLst>
              <a:gd name="adj" fmla="val 10833"/>
            </a:avLst>
          </a:prstGeom>
          <a:solidFill>
            <a:srgbClr val="FFFFFF"/>
          </a:solidFill>
          <a:ln w="10160">
            <a:solidFill>
              <a:srgbClr val="DFE6F2"/>
            </a:solidFill>
            <a:prstDash val="solid"/>
          </a:ln>
        </p:spPr>
        <p:txBody>
          <a:bodyPr/>
          <a:p/>
        </p:txBody>
      </p:sp>
      <p:sp>
        <p:nvSpPr>
          <p:cNvPr id="81" name="Shape 79"/>
          <p:cNvSpPr/>
          <p:nvPr/>
        </p:nvSpPr>
        <p:spPr>
          <a:xfrm>
            <a:off x="6537960" y="3209544"/>
            <a:ext cx="676656" cy="548640"/>
          </a:xfrm>
          <a:prstGeom prst="roundRect">
            <a:avLst>
              <a:gd name="adj" fmla="val 10833"/>
            </a:avLst>
          </a:prstGeom>
          <a:solidFill>
            <a:srgbClr val="FFF4DE"/>
          </a:solidFill>
          <a:ln w="10160">
            <a:solidFill>
              <a:srgbClr val="FFF4DE"/>
            </a:solidFill>
            <a:prstDash val="solid"/>
          </a:ln>
        </p:spPr>
        <p:txBody>
          <a:bodyPr/>
          <a:p/>
        </p:txBody>
      </p:sp>
      <p:sp>
        <p:nvSpPr>
          <p:cNvPr id="82" name="Text 80"/>
          <p:cNvSpPr/>
          <p:nvPr/>
        </p:nvSpPr>
        <p:spPr>
          <a:xfrm>
            <a:off x="6537960" y="3227832"/>
            <a:ext cx="676656" cy="512064"/>
          </a:xfrm>
          <a:prstGeom prst="rect">
            <a:avLst/>
          </a:prstGeom>
          <a:noFill/>
          <a:ln/>
        </p:spPr>
        <p:txBody>
          <a:bodyPr wrap="square" lIns="0" tIns="0" rIns="0" bIns="0" rtlCol="0" anchor="ctr">
            <a:normAutofit/>
          </a:bodyPr>
          <a:lstStyle/>
          <a:p>
            <a:pPr algn="ctr" indent="0" marL="0">
              <a:buNone/>
            </a:pPr>
            <a:r>
              <a:rPr lang="en-US" sz="2400" b="1" dirty="0">
                <a:solidFill>
                  <a:srgbClr val="C48B25"/>
                </a:solidFill>
                <a:latin typeface="Arial" pitchFamily="34" charset="0"/>
                <a:ea typeface="Arial" pitchFamily="34" charset="-122"/>
                <a:cs typeface="Arial" pitchFamily="34" charset="-120"/>
              </a:rPr>
              <a:t>3</a:t>
            </a:r>
            <a:endParaRPr lang="en-US" sz="2400" dirty="0"/>
          </a:p>
        </p:txBody>
      </p:sp>
      <p:sp>
        <p:nvSpPr>
          <p:cNvPr id="83" name="Text 81"/>
          <p:cNvSpPr/>
          <p:nvPr/>
        </p:nvSpPr>
        <p:spPr>
          <a:xfrm>
            <a:off x="7351776" y="3255264"/>
            <a:ext cx="3776472" cy="457200"/>
          </a:xfrm>
          <a:prstGeom prst="rect">
            <a:avLst/>
          </a:prstGeom>
          <a:noFill/>
          <a:ln/>
        </p:spPr>
        <p:txBody>
          <a:bodyPr wrap="square" lIns="0" tIns="0" rIns="0" bIns="0" rtlCol="0" anchor="ctr">
            <a:normAutofit/>
          </a:bodyPr>
          <a:lstStyle/>
          <a:p>
            <a:pPr algn="ctr" indent="0" marL="0">
              <a:buNone/>
            </a:pPr>
            <a:r>
              <a:rPr lang="en-US" sz="2050" dirty="0">
                <a:solidFill>
                  <a:srgbClr val="4E5F7B"/>
                </a:solidFill>
                <a:latin typeface="Arial" pitchFamily="34" charset="0"/>
                <a:ea typeface="Arial" pitchFamily="34" charset="-122"/>
                <a:cs typeface="Arial" pitchFamily="34" charset="-120"/>
              </a:rPr>
              <a:t>Crowded corridor</a:t>
            </a:r>
            <a:endParaRPr lang="en-US" sz="2050" dirty="0"/>
          </a:p>
        </p:txBody>
      </p:sp>
      <p:sp>
        <p:nvSpPr>
          <p:cNvPr id="84" name="Shape 82"/>
          <p:cNvSpPr/>
          <p:nvPr/>
        </p:nvSpPr>
        <p:spPr>
          <a:xfrm>
            <a:off x="6537960" y="3895344"/>
            <a:ext cx="4773168" cy="548640"/>
          </a:xfrm>
          <a:prstGeom prst="roundRect">
            <a:avLst>
              <a:gd name="adj" fmla="val 10833"/>
            </a:avLst>
          </a:prstGeom>
          <a:solidFill>
            <a:srgbClr val="F6F8FC"/>
          </a:solidFill>
          <a:ln w="10160">
            <a:solidFill>
              <a:srgbClr val="DFE6F2"/>
            </a:solidFill>
            <a:prstDash val="solid"/>
          </a:ln>
        </p:spPr>
        <p:txBody>
          <a:bodyPr/>
          <a:p/>
        </p:txBody>
      </p:sp>
      <p:sp>
        <p:nvSpPr>
          <p:cNvPr id="85" name="Shape 83"/>
          <p:cNvSpPr/>
          <p:nvPr/>
        </p:nvSpPr>
        <p:spPr>
          <a:xfrm>
            <a:off x="6537960" y="3895344"/>
            <a:ext cx="676656" cy="548640"/>
          </a:xfrm>
          <a:prstGeom prst="roundRect">
            <a:avLst>
              <a:gd name="adj" fmla="val 10833"/>
            </a:avLst>
          </a:prstGeom>
          <a:solidFill>
            <a:srgbClr val="EFECFD"/>
          </a:solidFill>
          <a:ln w="10160">
            <a:solidFill>
              <a:srgbClr val="EFECFD"/>
            </a:solidFill>
            <a:prstDash val="solid"/>
          </a:ln>
        </p:spPr>
        <p:txBody>
          <a:bodyPr/>
          <a:p/>
        </p:txBody>
      </p:sp>
      <p:sp>
        <p:nvSpPr>
          <p:cNvPr id="86" name="Text 84"/>
          <p:cNvSpPr/>
          <p:nvPr/>
        </p:nvSpPr>
        <p:spPr>
          <a:xfrm>
            <a:off x="6537960" y="3913632"/>
            <a:ext cx="676656" cy="512064"/>
          </a:xfrm>
          <a:prstGeom prst="rect">
            <a:avLst/>
          </a:prstGeom>
          <a:noFill/>
          <a:ln/>
        </p:spPr>
        <p:txBody>
          <a:bodyPr wrap="square" lIns="0" tIns="0" rIns="0" bIns="0" rtlCol="0" anchor="ctr">
            <a:normAutofit/>
          </a:bodyPr>
          <a:lstStyle/>
          <a:p>
            <a:pPr algn="ctr" indent="0" marL="0">
              <a:buNone/>
            </a:pPr>
            <a:r>
              <a:rPr lang="en-US" sz="2400" b="1" dirty="0">
                <a:solidFill>
                  <a:srgbClr val="6C5CE7"/>
                </a:solidFill>
                <a:latin typeface="Arial" pitchFamily="34" charset="0"/>
                <a:ea typeface="Arial" pitchFamily="34" charset="-122"/>
                <a:cs typeface="Arial" pitchFamily="34" charset="-120"/>
              </a:rPr>
              <a:t>8</a:t>
            </a:r>
            <a:endParaRPr lang="en-US" sz="2400" dirty="0"/>
          </a:p>
        </p:txBody>
      </p:sp>
      <p:sp>
        <p:nvSpPr>
          <p:cNvPr id="87" name="Text 85"/>
          <p:cNvSpPr/>
          <p:nvPr/>
        </p:nvSpPr>
        <p:spPr>
          <a:xfrm>
            <a:off x="7351776" y="3941064"/>
            <a:ext cx="3776472" cy="457200"/>
          </a:xfrm>
          <a:prstGeom prst="rect">
            <a:avLst/>
          </a:prstGeom>
          <a:noFill/>
          <a:ln/>
        </p:spPr>
        <p:txBody>
          <a:bodyPr wrap="square" lIns="0" tIns="0" rIns="0" bIns="0" rtlCol="0" anchor="ctr">
            <a:normAutofit/>
          </a:bodyPr>
          <a:lstStyle/>
          <a:p>
            <a:pPr algn="ctr" indent="0" marL="0">
              <a:buNone/>
            </a:pPr>
            <a:r>
              <a:rPr lang="en-US" sz="2050" dirty="0">
                <a:solidFill>
                  <a:srgbClr val="4E5F7B"/>
                </a:solidFill>
                <a:latin typeface="Arial" pitchFamily="34" charset="0"/>
                <a:ea typeface="Arial" pitchFamily="34" charset="-122"/>
                <a:cs typeface="Arial" pitchFamily="34" charset="-120"/>
              </a:rPr>
              <a:t>Smoke zone</a:t>
            </a:r>
            <a:endParaRPr lang="en-US" sz="2050" dirty="0"/>
          </a:p>
        </p:txBody>
      </p:sp>
      <p:sp>
        <p:nvSpPr>
          <p:cNvPr id="88" name="Shape 86"/>
          <p:cNvSpPr/>
          <p:nvPr/>
        </p:nvSpPr>
        <p:spPr>
          <a:xfrm>
            <a:off x="6537960" y="4581144"/>
            <a:ext cx="4773168" cy="548640"/>
          </a:xfrm>
          <a:prstGeom prst="roundRect">
            <a:avLst>
              <a:gd name="adj" fmla="val 10833"/>
            </a:avLst>
          </a:prstGeom>
          <a:solidFill>
            <a:srgbClr val="FFFFFF"/>
          </a:solidFill>
          <a:ln w="10160">
            <a:solidFill>
              <a:srgbClr val="DFE6F2"/>
            </a:solidFill>
            <a:prstDash val="solid"/>
          </a:ln>
        </p:spPr>
        <p:txBody>
          <a:bodyPr/>
          <a:p/>
        </p:txBody>
      </p:sp>
      <p:sp>
        <p:nvSpPr>
          <p:cNvPr id="89" name="Shape 87"/>
          <p:cNvSpPr/>
          <p:nvPr/>
        </p:nvSpPr>
        <p:spPr>
          <a:xfrm>
            <a:off x="6537960" y="4581144"/>
            <a:ext cx="676656" cy="548640"/>
          </a:xfrm>
          <a:prstGeom prst="roundRect">
            <a:avLst>
              <a:gd name="adj" fmla="val 10833"/>
            </a:avLst>
          </a:prstGeom>
          <a:solidFill>
            <a:srgbClr val="FDEDF0"/>
          </a:solidFill>
          <a:ln w="10160">
            <a:solidFill>
              <a:srgbClr val="FDEDF0"/>
            </a:solidFill>
            <a:prstDash val="solid"/>
          </a:ln>
        </p:spPr>
        <p:txBody>
          <a:bodyPr/>
          <a:p/>
        </p:txBody>
      </p:sp>
      <p:sp>
        <p:nvSpPr>
          <p:cNvPr id="90" name="Text 88"/>
          <p:cNvSpPr/>
          <p:nvPr/>
        </p:nvSpPr>
        <p:spPr>
          <a:xfrm>
            <a:off x="6537960" y="4599432"/>
            <a:ext cx="676656" cy="512064"/>
          </a:xfrm>
          <a:prstGeom prst="rect">
            <a:avLst/>
          </a:prstGeom>
          <a:noFill/>
          <a:ln/>
        </p:spPr>
        <p:txBody>
          <a:bodyPr wrap="square" lIns="0" tIns="0" rIns="0" bIns="0" rtlCol="0" anchor="ctr">
            <a:normAutofit/>
          </a:bodyPr>
          <a:lstStyle/>
          <a:p>
            <a:pPr algn="ctr" indent="0" marL="0">
              <a:buNone/>
            </a:pPr>
            <a:r>
              <a:rPr lang="en-US" sz="2400" b="1" dirty="0">
                <a:solidFill>
                  <a:srgbClr val="D56371"/>
                </a:solidFill>
                <a:latin typeface="Arial" pitchFamily="34" charset="0"/>
                <a:ea typeface="Arial" pitchFamily="34" charset="-122"/>
                <a:cs typeface="Arial" pitchFamily="34" charset="-120"/>
              </a:rPr>
              <a:t>X</a:t>
            </a:r>
            <a:endParaRPr lang="en-US" sz="2400" dirty="0"/>
          </a:p>
        </p:txBody>
      </p:sp>
      <p:sp>
        <p:nvSpPr>
          <p:cNvPr id="91" name="Text 89"/>
          <p:cNvSpPr/>
          <p:nvPr/>
        </p:nvSpPr>
        <p:spPr>
          <a:xfrm>
            <a:off x="7351776" y="4626864"/>
            <a:ext cx="3776472" cy="457200"/>
          </a:xfrm>
          <a:prstGeom prst="rect">
            <a:avLst/>
          </a:prstGeom>
          <a:noFill/>
          <a:ln/>
        </p:spPr>
        <p:txBody>
          <a:bodyPr wrap="square" lIns="0" tIns="0" rIns="0" bIns="0" rtlCol="0" anchor="ctr">
            <a:normAutofit/>
          </a:bodyPr>
          <a:lstStyle/>
          <a:p>
            <a:pPr algn="ctr" indent="0" marL="0">
              <a:buNone/>
            </a:pPr>
            <a:r>
              <a:rPr lang="en-US" sz="2050" dirty="0">
                <a:solidFill>
                  <a:srgbClr val="4E5F7B"/>
                </a:solidFill>
                <a:latin typeface="Arial" pitchFamily="34" charset="0"/>
                <a:ea typeface="Arial" pitchFamily="34" charset="-122"/>
                <a:cs typeface="Arial" pitchFamily="34" charset="-120"/>
              </a:rPr>
              <a:t>Fire / collapsed path</a:t>
            </a:r>
            <a:endParaRPr lang="en-US" sz="2050" dirty="0"/>
          </a:p>
        </p:txBody>
      </p:sp>
      <p:sp>
        <p:nvSpPr>
          <p:cNvPr id="92" name="Shape 90"/>
          <p:cNvSpPr/>
          <p:nvPr/>
        </p:nvSpPr>
        <p:spPr>
          <a:xfrm>
            <a:off x="585216" y="5897880"/>
            <a:ext cx="11021568" cy="429768"/>
          </a:xfrm>
          <a:prstGeom prst="roundRect">
            <a:avLst>
              <a:gd name="adj" fmla="val 27660"/>
            </a:avLst>
          </a:prstGeom>
          <a:solidFill>
            <a:srgbClr val="EAF2FE"/>
          </a:solidFill>
          <a:ln w="10160">
            <a:solidFill>
              <a:srgbClr val="EAF2FE"/>
            </a:solidFill>
            <a:prstDash val="solid"/>
          </a:ln>
        </p:spPr>
        <p:txBody>
          <a:bodyPr/>
          <a:p/>
        </p:txBody>
      </p:sp>
      <p:sp>
        <p:nvSpPr>
          <p:cNvPr id="93" name="Text 91"/>
          <p:cNvSpPr/>
          <p:nvPr/>
        </p:nvSpPr>
        <p:spPr>
          <a:xfrm>
            <a:off x="722376" y="5939028"/>
            <a:ext cx="10747248" cy="342900"/>
          </a:xfrm>
          <a:prstGeom prst="rect">
            <a:avLst/>
          </a:prstGeom>
          <a:noFill/>
          <a:ln/>
        </p:spPr>
        <p:txBody>
          <a:bodyPr wrap="square" lIns="0" tIns="0" rIns="0" bIns="0" rtlCol="0" anchor="ctr">
            <a:normAutofit/>
          </a:bodyPr>
          <a:lstStyle/>
          <a:p>
            <a:pPr algn="ctr" indent="0" marL="0">
              <a:buNone/>
            </a:pPr>
            <a:r>
              <a:rPr lang="en-US" sz="1950" b="1" dirty="0">
                <a:solidFill>
                  <a:srgbClr val="3977D5"/>
                </a:solidFill>
                <a:latin typeface="Arial" pitchFamily="34" charset="0"/>
                <a:ea typeface="Arial" pitchFamily="34" charset="-122"/>
                <a:cs typeface="Arial" pitchFamily="34" charset="-120"/>
              </a:rPr>
              <a:t>Map changes → Run A* again</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F"/>
        </a:solidFill>
      </p:bgPr>
    </p:bg>
    <p:spTree>
      <p:nvGrpSpPr>
        <p:cNvPr id="1" name=""/>
        <p:cNvGrpSpPr/>
        <p:nvPr/>
      </p:nvGrpSpPr>
      <p:grpSpPr>
        <a:xfrm>
          <a:off x="0" y="0"/>
          <a:ext cx="0" cy="0"/>
          <a:chOff x="0" y="0"/>
          <a:chExt cx="0" cy="0"/>
        </a:xfrm>
      </p:grpSpPr>
      <p:sp>
        <p:nvSpPr>
          <p:cNvPr id="4" name="Text 2"/>
          <p:cNvSpPr/>
          <p:nvPr/>
        </p:nvSpPr>
        <p:spPr>
          <a:xfrm>
            <a:off x="585216" y="832104"/>
            <a:ext cx="10314432" cy="530352"/>
          </a:xfrm>
          <a:prstGeom prst="rect">
            <a:avLst/>
          </a:prstGeom>
          <a:noFill/>
          <a:ln/>
        </p:spPr>
        <p:txBody>
          <a:bodyPr wrap="square" lIns="0" tIns="0" rIns="0" bIns="0" rtlCol="0" anchor="ctr">
            <a:normAutofit/>
          </a:bodyPr>
          <a:lstStyle/>
          <a:p>
            <a:pPr algn="l" indent="0" marL="0">
              <a:buNone/>
            </a:pPr>
            <a:r>
              <a:rPr lang="en-US" sz="2900" b="1" dirty="0">
                <a:solidFill>
                  <a:srgbClr val="25344E"/>
                </a:solidFill>
                <a:latin typeface="Arial" pitchFamily="34" charset="0"/>
                <a:ea typeface="Arial" pitchFamily="34" charset="-122"/>
                <a:cs typeface="Arial" pitchFamily="34" charset="-120"/>
              </a:rPr>
              <a:t>Proposed Solution and Objectives</a:t>
            </a:r>
            <a:endParaRPr lang="en-US" sz="2900" dirty="0"/>
          </a:p>
        </p:txBody>
      </p:sp>
      <p:sp>
        <p:nvSpPr>
          <p:cNvPr id="5" name="Shape 3"/>
          <p:cNvSpPr/>
          <p:nvPr/>
        </p:nvSpPr>
        <p:spPr>
          <a:xfrm>
            <a:off x="10991088" y="877824"/>
            <a:ext cx="448056" cy="411480"/>
          </a:xfrm>
          <a:prstGeom prst="roundRect">
            <a:avLst>
              <a:gd name="adj" fmla="val 28889"/>
            </a:avLst>
          </a:prstGeom>
          <a:solidFill>
            <a:srgbClr val="FFFFFF"/>
          </a:solidFill>
          <a:ln w="10160">
            <a:solidFill>
              <a:srgbClr val="FFFFFF"/>
            </a:solidFill>
            <a:prstDash val="solid"/>
          </a:ln>
        </p:spPr>
        <p:txBody>
          <a:bodyPr/>
          <a:p/>
        </p:txBody>
      </p:sp>
      <p:sp>
        <p:nvSpPr>
          <p:cNvPr id="6" name="Text 4"/>
          <p:cNvSpPr/>
          <p:nvPr/>
        </p:nvSpPr>
        <p:spPr>
          <a:xfrm>
            <a:off x="11064240" y="900684"/>
            <a:ext cx="301752" cy="365760"/>
          </a:xfrm>
          <a:prstGeom prst="rect">
            <a:avLst/>
          </a:prstGeom>
          <a:noFill/>
          <a:ln/>
        </p:spPr>
        <p:txBody>
          <a:bodyPr wrap="square" lIns="0" tIns="0" rIns="0" bIns="0" rtlCol="0" anchor="ctr">
            <a:normAutofit/>
          </a:bodyPr>
          <a:lstStyle/>
          <a:p>
            <a:pPr algn="ctr" indent="0" marL="0">
              <a:buNone/>
            </a:pPr>
            <a:r>
              <a:rPr lang="en-US" sz="1300" b="1" dirty="0">
                <a:solidFill>
                  <a:srgbClr val="6C5CE7"/>
                </a:solidFill>
                <a:latin typeface="Arial" pitchFamily="34" charset="0"/>
                <a:ea typeface="Arial" pitchFamily="34" charset="-122"/>
                <a:cs typeface="Arial" pitchFamily="34" charset="-120"/>
              </a:rPr>
              <a:t>04</a:t>
            </a:r>
            <a:endParaRPr lang="en-US" sz="1300" dirty="0"/>
          </a:p>
        </p:txBody>
      </p:sp>
      <p:sp>
        <p:nvSpPr>
          <p:cNvPr id="7" name="Shape 5"/>
          <p:cNvSpPr/>
          <p:nvPr/>
        </p:nvSpPr>
        <p:spPr>
          <a:xfrm>
            <a:off x="585216" y="6451092"/>
            <a:ext cx="11021568" cy="0"/>
          </a:xfrm>
          <a:prstGeom prst="line">
            <a:avLst/>
          </a:prstGeom>
          <a:noFill/>
          <a:ln w="9525">
            <a:solidFill>
              <a:srgbClr val="DFE6F2"/>
            </a:solidFill>
            <a:prstDash val="solid"/>
            <a:headEnd type="none"/>
            <a:tailEnd type="none"/>
          </a:ln>
        </p:spPr>
        <p:txBody>
          <a:bodyPr/>
          <a:p/>
        </p:txBody>
      </p:sp>
      <p:sp>
        <p:nvSpPr>
          <p:cNvPr id="9" name="Shape 7"/>
          <p:cNvSpPr/>
          <p:nvPr/>
        </p:nvSpPr>
        <p:spPr>
          <a:xfrm>
            <a:off x="10131552" y="6588252"/>
            <a:ext cx="27432" cy="27432"/>
          </a:xfrm>
          <a:prstGeom prst="ellipse">
            <a:avLst/>
          </a:prstGeom>
          <a:solidFill>
            <a:srgbClr val="DFE6F2"/>
          </a:solidFill>
          <a:ln w="12700">
            <a:solidFill>
              <a:srgbClr val="DFE6F2">
                <a:alpha val="0"/>
              </a:srgbClr>
            </a:solidFill>
            <a:prstDash val="solid"/>
          </a:ln>
        </p:spPr>
        <p:txBody>
          <a:bodyPr/>
          <a:p/>
        </p:txBody>
      </p:sp>
      <p:sp>
        <p:nvSpPr>
          <p:cNvPr id="10" name="Shape 8"/>
          <p:cNvSpPr/>
          <p:nvPr/>
        </p:nvSpPr>
        <p:spPr>
          <a:xfrm>
            <a:off x="10232136" y="6588252"/>
            <a:ext cx="27432" cy="27432"/>
          </a:xfrm>
          <a:prstGeom prst="ellipse">
            <a:avLst/>
          </a:prstGeom>
          <a:solidFill>
            <a:srgbClr val="DFE6F2"/>
          </a:solidFill>
          <a:ln w="12700">
            <a:solidFill>
              <a:srgbClr val="DFE6F2">
                <a:alpha val="0"/>
              </a:srgbClr>
            </a:solidFill>
            <a:prstDash val="solid"/>
          </a:ln>
        </p:spPr>
        <p:txBody>
          <a:bodyPr/>
          <a:p/>
        </p:txBody>
      </p:sp>
      <p:sp>
        <p:nvSpPr>
          <p:cNvPr id="11" name="Shape 9"/>
          <p:cNvSpPr/>
          <p:nvPr/>
        </p:nvSpPr>
        <p:spPr>
          <a:xfrm>
            <a:off x="10332720" y="6588252"/>
            <a:ext cx="27432" cy="27432"/>
          </a:xfrm>
          <a:prstGeom prst="ellipse">
            <a:avLst/>
          </a:prstGeom>
          <a:solidFill>
            <a:srgbClr val="DFE6F2"/>
          </a:solidFill>
          <a:ln w="12700">
            <a:solidFill>
              <a:srgbClr val="DFE6F2">
                <a:alpha val="0"/>
              </a:srgbClr>
            </a:solidFill>
            <a:prstDash val="solid"/>
          </a:ln>
        </p:spPr>
        <p:txBody>
          <a:bodyPr/>
          <a:p/>
        </p:txBody>
      </p:sp>
      <p:sp>
        <p:nvSpPr>
          <p:cNvPr id="12" name="Shape 10"/>
          <p:cNvSpPr/>
          <p:nvPr/>
        </p:nvSpPr>
        <p:spPr>
          <a:xfrm>
            <a:off x="10433304" y="6588252"/>
            <a:ext cx="27432" cy="27432"/>
          </a:xfrm>
          <a:prstGeom prst="ellipse">
            <a:avLst/>
          </a:prstGeom>
          <a:solidFill>
            <a:srgbClr val="6C5CE7"/>
          </a:solidFill>
          <a:ln w="12700">
            <a:solidFill>
              <a:srgbClr val="6C5CE7">
                <a:alpha val="0"/>
              </a:srgbClr>
            </a:solidFill>
            <a:prstDash val="solid"/>
          </a:ln>
        </p:spPr>
        <p:txBody>
          <a:bodyPr/>
          <a:p/>
        </p:txBody>
      </p:sp>
      <p:sp>
        <p:nvSpPr>
          <p:cNvPr id="13" name="Shape 11"/>
          <p:cNvSpPr/>
          <p:nvPr/>
        </p:nvSpPr>
        <p:spPr>
          <a:xfrm>
            <a:off x="10533888" y="6588252"/>
            <a:ext cx="27432" cy="27432"/>
          </a:xfrm>
          <a:prstGeom prst="ellipse">
            <a:avLst/>
          </a:prstGeom>
          <a:solidFill>
            <a:srgbClr val="DFE6F2"/>
          </a:solidFill>
          <a:ln w="12700">
            <a:solidFill>
              <a:srgbClr val="DFE6F2">
                <a:alpha val="0"/>
              </a:srgbClr>
            </a:solidFill>
            <a:prstDash val="solid"/>
          </a:ln>
        </p:spPr>
        <p:txBody>
          <a:bodyPr/>
          <a:p/>
        </p:txBody>
      </p:sp>
      <p:sp>
        <p:nvSpPr>
          <p:cNvPr id="14" name="Shape 12"/>
          <p:cNvSpPr/>
          <p:nvPr/>
        </p:nvSpPr>
        <p:spPr>
          <a:xfrm>
            <a:off x="10634472" y="6588252"/>
            <a:ext cx="27432" cy="27432"/>
          </a:xfrm>
          <a:prstGeom prst="ellipse">
            <a:avLst/>
          </a:prstGeom>
          <a:solidFill>
            <a:srgbClr val="DFE6F2"/>
          </a:solidFill>
          <a:ln w="12700">
            <a:solidFill>
              <a:srgbClr val="DFE6F2">
                <a:alpha val="0"/>
              </a:srgbClr>
            </a:solidFill>
            <a:prstDash val="solid"/>
          </a:ln>
        </p:spPr>
        <p:txBody>
          <a:bodyPr/>
          <a:p/>
        </p:txBody>
      </p:sp>
      <p:sp>
        <p:nvSpPr>
          <p:cNvPr id="15" name="Shape 13"/>
          <p:cNvSpPr/>
          <p:nvPr/>
        </p:nvSpPr>
        <p:spPr>
          <a:xfrm>
            <a:off x="10735056" y="6588252"/>
            <a:ext cx="27432" cy="27432"/>
          </a:xfrm>
          <a:prstGeom prst="ellipse">
            <a:avLst/>
          </a:prstGeom>
          <a:solidFill>
            <a:srgbClr val="DFE6F2"/>
          </a:solidFill>
          <a:ln w="12700">
            <a:solidFill>
              <a:srgbClr val="DFE6F2">
                <a:alpha val="0"/>
              </a:srgbClr>
            </a:solidFill>
            <a:prstDash val="solid"/>
          </a:ln>
        </p:spPr>
        <p:txBody>
          <a:bodyPr/>
          <a:p/>
        </p:txBody>
      </p:sp>
      <p:sp>
        <p:nvSpPr>
          <p:cNvPr id="16" name="Shape 14"/>
          <p:cNvSpPr/>
          <p:nvPr/>
        </p:nvSpPr>
        <p:spPr>
          <a:xfrm>
            <a:off x="10835640" y="6588252"/>
            <a:ext cx="27432" cy="27432"/>
          </a:xfrm>
          <a:prstGeom prst="ellipse">
            <a:avLst/>
          </a:prstGeom>
          <a:solidFill>
            <a:srgbClr val="DFE6F2"/>
          </a:solidFill>
          <a:ln w="12700">
            <a:solidFill>
              <a:srgbClr val="DFE6F2">
                <a:alpha val="0"/>
              </a:srgbClr>
            </a:solidFill>
            <a:prstDash val="solid"/>
          </a:ln>
        </p:spPr>
        <p:txBody>
          <a:bodyPr/>
          <a:p/>
        </p:txBody>
      </p:sp>
      <p:sp>
        <p:nvSpPr>
          <p:cNvPr id="17" name="Shape 15"/>
          <p:cNvSpPr/>
          <p:nvPr/>
        </p:nvSpPr>
        <p:spPr>
          <a:xfrm>
            <a:off x="10936224" y="6588252"/>
            <a:ext cx="27432" cy="27432"/>
          </a:xfrm>
          <a:prstGeom prst="ellipse">
            <a:avLst/>
          </a:prstGeom>
          <a:solidFill>
            <a:srgbClr val="DFE6F2"/>
          </a:solidFill>
          <a:ln w="12700">
            <a:solidFill>
              <a:srgbClr val="DFE6F2">
                <a:alpha val="0"/>
              </a:srgbClr>
            </a:solidFill>
            <a:prstDash val="solid"/>
          </a:ln>
        </p:spPr>
        <p:txBody>
          <a:bodyPr/>
          <a:p/>
        </p:txBody>
      </p:sp>
      <p:sp>
        <p:nvSpPr>
          <p:cNvPr id="18" name="Shape 16"/>
          <p:cNvSpPr/>
          <p:nvPr/>
        </p:nvSpPr>
        <p:spPr>
          <a:xfrm>
            <a:off x="11036808" y="6588252"/>
            <a:ext cx="27432" cy="27432"/>
          </a:xfrm>
          <a:prstGeom prst="ellipse">
            <a:avLst/>
          </a:prstGeom>
          <a:solidFill>
            <a:srgbClr val="DFE6F2"/>
          </a:solidFill>
          <a:ln w="12700">
            <a:solidFill>
              <a:srgbClr val="DFE6F2">
                <a:alpha val="0"/>
              </a:srgbClr>
            </a:solidFill>
            <a:prstDash val="solid"/>
          </a:ln>
        </p:spPr>
        <p:txBody>
          <a:bodyPr/>
          <a:p/>
        </p:txBody>
      </p:sp>
      <p:sp>
        <p:nvSpPr>
          <p:cNvPr id="19" name="Text 17"/>
          <p:cNvSpPr/>
          <p:nvPr/>
        </p:nvSpPr>
        <p:spPr>
          <a:xfrm>
            <a:off x="11228832" y="6519672"/>
            <a:ext cx="338328" cy="173736"/>
          </a:xfrm>
          <a:prstGeom prst="rect">
            <a:avLst/>
          </a:prstGeom>
          <a:noFill/>
          <a:ln/>
        </p:spPr>
        <p:txBody>
          <a:bodyPr wrap="square" lIns="0" tIns="0" rIns="0" bIns="0" rtlCol="0" anchor="ctr">
            <a:normAutofit/>
          </a:bodyPr>
          <a:lstStyle/>
          <a:p>
            <a:pPr algn="ctr" indent="0" marL="0">
              <a:buNone/>
            </a:pPr>
            <a:r>
              <a:rPr lang="en-US" sz="920" b="1" dirty="0">
                <a:solidFill>
                  <a:srgbClr val="4E5F7B"/>
                </a:solidFill>
                <a:latin typeface="Arial" pitchFamily="34" charset="0"/>
                <a:ea typeface="Arial" pitchFamily="34" charset="-122"/>
                <a:cs typeface="Arial" pitchFamily="34" charset="-120"/>
              </a:rPr>
              <a:t>04</a:t>
            </a:r>
            <a:endParaRPr lang="en-US" sz="920" dirty="0"/>
          </a:p>
        </p:txBody>
      </p:sp>
      <p:sp>
        <p:nvSpPr>
          <p:cNvPr id="20" name="Text 18"/>
          <p:cNvSpPr/>
          <p:nvPr/>
        </p:nvSpPr>
        <p:spPr>
          <a:xfrm>
            <a:off x="768096" y="1673352"/>
            <a:ext cx="10655808" cy="502920"/>
          </a:xfrm>
          <a:prstGeom prst="rect">
            <a:avLst/>
          </a:prstGeom>
          <a:noFill/>
          <a:ln/>
        </p:spPr>
        <p:txBody>
          <a:bodyPr wrap="square" lIns="0" tIns="0" rIns="0" bIns="0" rtlCol="0" anchor="ctr">
            <a:normAutofit/>
          </a:bodyPr>
          <a:lstStyle/>
          <a:p>
            <a:pPr algn="ctr" indent="0" marL="0">
              <a:buNone/>
            </a:pPr>
            <a:r>
              <a:rPr lang="en-US" sz="2500" b="1" dirty="0">
                <a:solidFill>
                  <a:srgbClr val="4E5F7B"/>
                </a:solidFill>
                <a:latin typeface="Arial" pitchFamily="34" charset="0"/>
                <a:ea typeface="Arial" pitchFamily="34" charset="-122"/>
                <a:cs typeface="Arial" pitchFamily="34" charset="-120"/>
              </a:rPr>
              <a:t>Lowest combined travel and hazard cost</a:t>
            </a:r>
            <a:endParaRPr lang="en-US" sz="2500" dirty="0"/>
          </a:p>
        </p:txBody>
      </p:sp>
      <p:sp>
        <p:nvSpPr>
          <p:cNvPr id="21" name="Shape 19"/>
          <p:cNvSpPr/>
          <p:nvPr/>
        </p:nvSpPr>
        <p:spPr>
          <a:xfrm>
            <a:off x="585216" y="2651760"/>
            <a:ext cx="2532888" cy="2048256"/>
          </a:xfrm>
          <a:prstGeom prst="roundRect">
            <a:avLst>
              <a:gd name="adj" fmla="val 5804"/>
            </a:avLst>
          </a:prstGeom>
          <a:solidFill>
            <a:srgbClr val="FFFFFF"/>
          </a:solidFill>
          <a:ln w="10160">
            <a:solidFill>
              <a:srgbClr val="DFE6F2"/>
            </a:solidFill>
            <a:prstDash val="solid"/>
          </a:ln>
        </p:spPr>
        <p:txBody>
          <a:bodyPr/>
          <a:p/>
        </p:txBody>
      </p:sp>
      <p:sp>
        <p:nvSpPr>
          <p:cNvPr id="22" name="Shape 20"/>
          <p:cNvSpPr/>
          <p:nvPr/>
        </p:nvSpPr>
        <p:spPr>
          <a:xfrm>
            <a:off x="1650492" y="2916936"/>
            <a:ext cx="402336" cy="402336"/>
          </a:xfrm>
          <a:prstGeom prst="ellipse">
            <a:avLst/>
          </a:prstGeom>
          <a:solidFill>
            <a:srgbClr val="EFECFD"/>
          </a:solidFill>
          <a:ln w="12700">
            <a:solidFill>
              <a:srgbClr val="EFECFD">
                <a:alpha val="0"/>
              </a:srgbClr>
            </a:solidFill>
            <a:prstDash val="solid"/>
          </a:ln>
        </p:spPr>
        <p:txBody>
          <a:bodyPr/>
          <a:p/>
        </p:txBody>
      </p:sp>
      <p:sp>
        <p:nvSpPr>
          <p:cNvPr id="23" name="Text 21"/>
          <p:cNvSpPr/>
          <p:nvPr/>
        </p:nvSpPr>
        <p:spPr>
          <a:xfrm>
            <a:off x="1650492" y="2930652"/>
            <a:ext cx="402336" cy="374904"/>
          </a:xfrm>
          <a:prstGeom prst="rect">
            <a:avLst/>
          </a:prstGeom>
          <a:noFill/>
          <a:ln/>
        </p:spPr>
        <p:txBody>
          <a:bodyPr wrap="square" lIns="0" tIns="0" rIns="0" bIns="0" rtlCol="0" anchor="ctr">
            <a:normAutofit/>
          </a:bodyPr>
          <a:lstStyle/>
          <a:p>
            <a:pPr algn="ctr" indent="0" marL="0">
              <a:buNone/>
            </a:pPr>
            <a:r>
              <a:rPr lang="en-US" sz="1200" b="1" dirty="0">
                <a:solidFill>
                  <a:srgbClr val="6C5CE7"/>
                </a:solidFill>
                <a:latin typeface="Arial" pitchFamily="34" charset="0"/>
                <a:ea typeface="Arial" pitchFamily="34" charset="-122"/>
                <a:cs typeface="Arial" pitchFamily="34" charset="-120"/>
              </a:rPr>
              <a:t>01</a:t>
            </a:r>
            <a:endParaRPr lang="en-US" sz="1200" dirty="0"/>
          </a:p>
        </p:txBody>
      </p:sp>
      <p:sp>
        <p:nvSpPr>
          <p:cNvPr id="24" name="Text 22"/>
          <p:cNvSpPr/>
          <p:nvPr/>
        </p:nvSpPr>
        <p:spPr>
          <a:xfrm>
            <a:off x="740664" y="3520440"/>
            <a:ext cx="2221992" cy="722376"/>
          </a:xfrm>
          <a:prstGeom prst="rect">
            <a:avLst/>
          </a:prstGeom>
          <a:noFill/>
          <a:ln/>
        </p:spPr>
        <p:txBody>
          <a:bodyPr wrap="square" lIns="0" tIns="0" rIns="0" bIns="0" rtlCol="0" anchor="ctr">
            <a:normAutofit/>
          </a:bodyPr>
          <a:lstStyle/>
          <a:p>
            <a:pPr algn="ctr" indent="0" marL="0">
              <a:buNone/>
            </a:pPr>
            <a:r>
              <a:rPr lang="en-US" sz="2500" b="1" dirty="0">
                <a:solidFill>
                  <a:srgbClr val="25344E"/>
                </a:solidFill>
                <a:latin typeface="Arial" pitchFamily="34" charset="0"/>
                <a:ea typeface="Arial" pitchFamily="34" charset="-122"/>
                <a:cs typeface="Arial" pitchFamily="34" charset="-120"/>
              </a:rPr>
              <a:t>Set</a:t>
            </a:r>
            <a:endParaRPr lang="en-US" sz="2500" dirty="0"/>
          </a:p>
          <a:p>
            <a:pPr algn="ctr" indent="0" marL="0">
              <a:buNone/>
            </a:pPr>
            <a:r>
              <a:rPr lang="en-US" sz="2500" b="1" dirty="0">
                <a:solidFill>
                  <a:srgbClr val="25344E"/>
                </a:solidFill>
                <a:latin typeface="Arial" pitchFamily="34" charset="0"/>
                <a:ea typeface="Arial" pitchFamily="34" charset="-122"/>
                <a:cs typeface="Arial" pitchFamily="34" charset="-120"/>
              </a:rPr>
              <a:t>scenario</a:t>
            </a:r>
            <a:endParaRPr lang="en-US" sz="2500" dirty="0"/>
          </a:p>
        </p:txBody>
      </p:sp>
      <p:sp>
        <p:nvSpPr>
          <p:cNvPr id="25" name="Text 23"/>
          <p:cNvSpPr/>
          <p:nvPr/>
        </p:nvSpPr>
        <p:spPr>
          <a:xfrm>
            <a:off x="3150108" y="3520440"/>
            <a:ext cx="237744" cy="402336"/>
          </a:xfrm>
          <a:prstGeom prst="rect">
            <a:avLst/>
          </a:prstGeom>
          <a:noFill/>
          <a:ln/>
        </p:spPr>
        <p:txBody>
          <a:bodyPr wrap="square" lIns="0" tIns="0" rIns="0" bIns="0" rtlCol="0" anchor="ctr">
            <a:normAutofit/>
          </a:bodyPr>
          <a:lstStyle/>
          <a:p>
            <a:pPr algn="ctr" indent="0" marL="0">
              <a:buNone/>
            </a:pPr>
            <a:r>
              <a:rPr lang="en-US" sz="2100" dirty="0">
                <a:solidFill>
                  <a:srgbClr val="8390A7"/>
                </a:solidFill>
                <a:latin typeface="Arial" pitchFamily="34" charset="0"/>
                <a:ea typeface="Arial" pitchFamily="34" charset="-122"/>
                <a:cs typeface="Arial" pitchFamily="34" charset="-120"/>
              </a:rPr>
              <a:t>→</a:t>
            </a:r>
            <a:endParaRPr lang="en-US" sz="2100" dirty="0"/>
          </a:p>
        </p:txBody>
      </p:sp>
      <p:sp>
        <p:nvSpPr>
          <p:cNvPr id="26" name="Shape 24"/>
          <p:cNvSpPr/>
          <p:nvPr/>
        </p:nvSpPr>
        <p:spPr>
          <a:xfrm>
            <a:off x="3419856" y="2651760"/>
            <a:ext cx="2532888" cy="2048256"/>
          </a:xfrm>
          <a:prstGeom prst="roundRect">
            <a:avLst>
              <a:gd name="adj" fmla="val 5804"/>
            </a:avLst>
          </a:prstGeom>
          <a:solidFill>
            <a:srgbClr val="FFFFFF"/>
          </a:solidFill>
          <a:ln w="10160">
            <a:solidFill>
              <a:srgbClr val="DFE6F2"/>
            </a:solidFill>
            <a:prstDash val="solid"/>
          </a:ln>
        </p:spPr>
        <p:txBody>
          <a:bodyPr/>
          <a:p/>
        </p:txBody>
      </p:sp>
      <p:sp>
        <p:nvSpPr>
          <p:cNvPr id="27" name="Shape 25"/>
          <p:cNvSpPr/>
          <p:nvPr/>
        </p:nvSpPr>
        <p:spPr>
          <a:xfrm>
            <a:off x="4485132" y="2916936"/>
            <a:ext cx="402336" cy="402336"/>
          </a:xfrm>
          <a:prstGeom prst="ellipse">
            <a:avLst/>
          </a:prstGeom>
          <a:solidFill>
            <a:srgbClr val="E7F6F2"/>
          </a:solidFill>
          <a:ln w="12700">
            <a:solidFill>
              <a:srgbClr val="E7F6F2">
                <a:alpha val="0"/>
              </a:srgbClr>
            </a:solidFill>
            <a:prstDash val="solid"/>
          </a:ln>
        </p:spPr>
        <p:txBody>
          <a:bodyPr/>
          <a:p/>
        </p:txBody>
      </p:sp>
      <p:sp>
        <p:nvSpPr>
          <p:cNvPr id="28" name="Text 26"/>
          <p:cNvSpPr/>
          <p:nvPr/>
        </p:nvSpPr>
        <p:spPr>
          <a:xfrm>
            <a:off x="4485132" y="2930652"/>
            <a:ext cx="402336" cy="374904"/>
          </a:xfrm>
          <a:prstGeom prst="rect">
            <a:avLst/>
          </a:prstGeom>
          <a:noFill/>
          <a:ln/>
        </p:spPr>
        <p:txBody>
          <a:bodyPr wrap="square" lIns="0" tIns="0" rIns="0" bIns="0" rtlCol="0" anchor="ctr">
            <a:normAutofit/>
          </a:bodyPr>
          <a:lstStyle/>
          <a:p>
            <a:pPr algn="ctr" indent="0" marL="0">
              <a:buNone/>
            </a:pPr>
            <a:r>
              <a:rPr lang="en-US" sz="1200" b="1" dirty="0">
                <a:solidFill>
                  <a:srgbClr val="138D87"/>
                </a:solidFill>
                <a:latin typeface="Arial" pitchFamily="34" charset="0"/>
                <a:ea typeface="Arial" pitchFamily="34" charset="-122"/>
                <a:cs typeface="Arial" pitchFamily="34" charset="-120"/>
              </a:rPr>
              <a:t>02</a:t>
            </a:r>
            <a:endParaRPr lang="en-US" sz="1200" dirty="0"/>
          </a:p>
        </p:txBody>
      </p:sp>
      <p:sp>
        <p:nvSpPr>
          <p:cNvPr id="29" name="Text 27"/>
          <p:cNvSpPr/>
          <p:nvPr/>
        </p:nvSpPr>
        <p:spPr>
          <a:xfrm>
            <a:off x="3575304" y="3520440"/>
            <a:ext cx="2221992" cy="722376"/>
          </a:xfrm>
          <a:prstGeom prst="rect">
            <a:avLst/>
          </a:prstGeom>
          <a:noFill/>
          <a:ln/>
        </p:spPr>
        <p:txBody>
          <a:bodyPr wrap="square" lIns="0" tIns="0" rIns="0" bIns="0" rtlCol="0" anchor="ctr">
            <a:normAutofit/>
          </a:bodyPr>
          <a:lstStyle/>
          <a:p>
            <a:pPr algn="ctr" indent="0" marL="0">
              <a:buNone/>
            </a:pPr>
            <a:r>
              <a:rPr lang="en-US" sz="2500" b="1" dirty="0">
                <a:solidFill>
                  <a:srgbClr val="25344E"/>
                </a:solidFill>
                <a:latin typeface="Arial" pitchFamily="34" charset="0"/>
                <a:ea typeface="Arial" pitchFamily="34" charset="-122"/>
                <a:cs typeface="Arial" pitchFamily="34" charset="-120"/>
              </a:rPr>
              <a:t>Assign</a:t>
            </a:r>
            <a:endParaRPr lang="en-US" sz="2500" dirty="0"/>
          </a:p>
          <a:p>
            <a:pPr algn="ctr" indent="0" marL="0">
              <a:buNone/>
            </a:pPr>
            <a:r>
              <a:rPr lang="en-US" sz="2500" b="1" dirty="0">
                <a:solidFill>
                  <a:srgbClr val="25344E"/>
                </a:solidFill>
                <a:latin typeface="Arial" pitchFamily="34" charset="0"/>
                <a:ea typeface="Arial" pitchFamily="34" charset="-122"/>
                <a:cs typeface="Arial" pitchFamily="34" charset="-120"/>
              </a:rPr>
              <a:t>costs</a:t>
            </a:r>
            <a:endParaRPr lang="en-US" sz="2500" dirty="0"/>
          </a:p>
        </p:txBody>
      </p:sp>
      <p:sp>
        <p:nvSpPr>
          <p:cNvPr id="30" name="Text 28"/>
          <p:cNvSpPr/>
          <p:nvPr/>
        </p:nvSpPr>
        <p:spPr>
          <a:xfrm>
            <a:off x="5984748" y="3520440"/>
            <a:ext cx="237744" cy="402336"/>
          </a:xfrm>
          <a:prstGeom prst="rect">
            <a:avLst/>
          </a:prstGeom>
          <a:noFill/>
          <a:ln/>
        </p:spPr>
        <p:txBody>
          <a:bodyPr wrap="square" lIns="0" tIns="0" rIns="0" bIns="0" rtlCol="0" anchor="ctr">
            <a:normAutofit/>
          </a:bodyPr>
          <a:lstStyle/>
          <a:p>
            <a:pPr algn="ctr" indent="0" marL="0">
              <a:buNone/>
            </a:pPr>
            <a:r>
              <a:rPr lang="en-US" sz="2100" dirty="0">
                <a:solidFill>
                  <a:srgbClr val="8390A7"/>
                </a:solidFill>
                <a:latin typeface="Arial" pitchFamily="34" charset="0"/>
                <a:ea typeface="Arial" pitchFamily="34" charset="-122"/>
                <a:cs typeface="Arial" pitchFamily="34" charset="-120"/>
              </a:rPr>
              <a:t>→</a:t>
            </a:r>
            <a:endParaRPr lang="en-US" sz="2100" dirty="0"/>
          </a:p>
        </p:txBody>
      </p:sp>
      <p:sp>
        <p:nvSpPr>
          <p:cNvPr id="31" name="Shape 29"/>
          <p:cNvSpPr/>
          <p:nvPr/>
        </p:nvSpPr>
        <p:spPr>
          <a:xfrm>
            <a:off x="6254496" y="2651760"/>
            <a:ext cx="2532888" cy="2048256"/>
          </a:xfrm>
          <a:prstGeom prst="roundRect">
            <a:avLst>
              <a:gd name="adj" fmla="val 5804"/>
            </a:avLst>
          </a:prstGeom>
          <a:solidFill>
            <a:srgbClr val="FFFFFF"/>
          </a:solidFill>
          <a:ln w="10160">
            <a:solidFill>
              <a:srgbClr val="DFE6F2"/>
            </a:solidFill>
            <a:prstDash val="solid"/>
          </a:ln>
        </p:spPr>
        <p:txBody>
          <a:bodyPr/>
          <a:p/>
        </p:txBody>
      </p:sp>
      <p:sp>
        <p:nvSpPr>
          <p:cNvPr id="32" name="Shape 30"/>
          <p:cNvSpPr/>
          <p:nvPr/>
        </p:nvSpPr>
        <p:spPr>
          <a:xfrm>
            <a:off x="7319772" y="2916936"/>
            <a:ext cx="402336" cy="402336"/>
          </a:xfrm>
          <a:prstGeom prst="ellipse">
            <a:avLst/>
          </a:prstGeom>
          <a:solidFill>
            <a:srgbClr val="EAF2FE"/>
          </a:solidFill>
          <a:ln w="12700">
            <a:solidFill>
              <a:srgbClr val="EAF2FE">
                <a:alpha val="0"/>
              </a:srgbClr>
            </a:solidFill>
            <a:prstDash val="solid"/>
          </a:ln>
        </p:spPr>
        <p:txBody>
          <a:bodyPr/>
          <a:p/>
        </p:txBody>
      </p:sp>
      <p:sp>
        <p:nvSpPr>
          <p:cNvPr id="33" name="Text 31"/>
          <p:cNvSpPr/>
          <p:nvPr/>
        </p:nvSpPr>
        <p:spPr>
          <a:xfrm>
            <a:off x="7319772" y="2930652"/>
            <a:ext cx="402336" cy="374904"/>
          </a:xfrm>
          <a:prstGeom prst="rect">
            <a:avLst/>
          </a:prstGeom>
          <a:noFill/>
          <a:ln/>
        </p:spPr>
        <p:txBody>
          <a:bodyPr wrap="square" lIns="0" tIns="0" rIns="0" bIns="0" rtlCol="0" anchor="ctr">
            <a:normAutofit/>
          </a:bodyPr>
          <a:lstStyle/>
          <a:p>
            <a:pPr algn="ctr" indent="0" marL="0">
              <a:buNone/>
            </a:pPr>
            <a:r>
              <a:rPr lang="en-US" sz="1200" b="1" dirty="0">
                <a:solidFill>
                  <a:srgbClr val="3977D5"/>
                </a:solidFill>
                <a:latin typeface="Arial" pitchFamily="34" charset="0"/>
                <a:ea typeface="Arial" pitchFamily="34" charset="-122"/>
                <a:cs typeface="Arial" pitchFamily="34" charset="-120"/>
              </a:rPr>
              <a:t>03</a:t>
            </a:r>
            <a:endParaRPr lang="en-US" sz="1200" dirty="0"/>
          </a:p>
        </p:txBody>
      </p:sp>
      <p:sp>
        <p:nvSpPr>
          <p:cNvPr id="34" name="Text 32"/>
          <p:cNvSpPr/>
          <p:nvPr/>
        </p:nvSpPr>
        <p:spPr>
          <a:xfrm>
            <a:off x="6409944" y="3520440"/>
            <a:ext cx="2221992" cy="722376"/>
          </a:xfrm>
          <a:prstGeom prst="rect">
            <a:avLst/>
          </a:prstGeom>
          <a:noFill/>
          <a:ln/>
        </p:spPr>
        <p:txBody>
          <a:bodyPr wrap="square" lIns="0" tIns="0" rIns="0" bIns="0" rtlCol="0" anchor="ctr">
            <a:normAutofit/>
          </a:bodyPr>
          <a:lstStyle/>
          <a:p>
            <a:pPr algn="ctr" indent="0" marL="0">
              <a:buNone/>
            </a:pPr>
            <a:r>
              <a:rPr lang="en-US" sz="2500" b="1" dirty="0">
                <a:solidFill>
                  <a:srgbClr val="25344E"/>
                </a:solidFill>
                <a:latin typeface="Arial" pitchFamily="34" charset="0"/>
                <a:ea typeface="Arial" pitchFamily="34" charset="-122"/>
                <a:cs typeface="Arial" pitchFamily="34" charset="-120"/>
              </a:rPr>
              <a:t>Search</a:t>
            </a:r>
            <a:endParaRPr lang="en-US" sz="2500" dirty="0"/>
          </a:p>
          <a:p>
            <a:pPr algn="ctr" indent="0" marL="0">
              <a:buNone/>
            </a:pPr>
            <a:r>
              <a:rPr lang="en-US" sz="2500" b="1" dirty="0">
                <a:solidFill>
                  <a:srgbClr val="25344E"/>
                </a:solidFill>
                <a:latin typeface="Arial" pitchFamily="34" charset="0"/>
                <a:ea typeface="Arial" pitchFamily="34" charset="-122"/>
                <a:cs typeface="Arial" pitchFamily="34" charset="-120"/>
              </a:rPr>
              <a:t>routes</a:t>
            </a:r>
            <a:endParaRPr lang="en-US" sz="2500" dirty="0"/>
          </a:p>
        </p:txBody>
      </p:sp>
      <p:sp>
        <p:nvSpPr>
          <p:cNvPr id="35" name="Text 33"/>
          <p:cNvSpPr/>
          <p:nvPr/>
        </p:nvSpPr>
        <p:spPr>
          <a:xfrm>
            <a:off x="8819388" y="3520440"/>
            <a:ext cx="237744" cy="402336"/>
          </a:xfrm>
          <a:prstGeom prst="rect">
            <a:avLst/>
          </a:prstGeom>
          <a:noFill/>
          <a:ln/>
        </p:spPr>
        <p:txBody>
          <a:bodyPr wrap="square" lIns="0" tIns="0" rIns="0" bIns="0" rtlCol="0" anchor="ctr">
            <a:normAutofit/>
          </a:bodyPr>
          <a:lstStyle/>
          <a:p>
            <a:pPr algn="ctr" indent="0" marL="0">
              <a:buNone/>
            </a:pPr>
            <a:r>
              <a:rPr lang="en-US" sz="2100" dirty="0">
                <a:solidFill>
                  <a:srgbClr val="8390A7"/>
                </a:solidFill>
                <a:latin typeface="Arial" pitchFamily="34" charset="0"/>
                <a:ea typeface="Arial" pitchFamily="34" charset="-122"/>
                <a:cs typeface="Arial" pitchFamily="34" charset="-120"/>
              </a:rPr>
              <a:t>→</a:t>
            </a:r>
            <a:endParaRPr lang="en-US" sz="2100" dirty="0"/>
          </a:p>
        </p:txBody>
      </p:sp>
      <p:sp>
        <p:nvSpPr>
          <p:cNvPr id="36" name="Shape 34"/>
          <p:cNvSpPr/>
          <p:nvPr/>
        </p:nvSpPr>
        <p:spPr>
          <a:xfrm>
            <a:off x="9089136" y="2651760"/>
            <a:ext cx="2532888" cy="2048256"/>
          </a:xfrm>
          <a:prstGeom prst="roundRect">
            <a:avLst>
              <a:gd name="adj" fmla="val 5804"/>
            </a:avLst>
          </a:prstGeom>
          <a:solidFill>
            <a:srgbClr val="FFFFFF"/>
          </a:solidFill>
          <a:ln w="10160">
            <a:solidFill>
              <a:srgbClr val="DFE6F2"/>
            </a:solidFill>
            <a:prstDash val="solid"/>
          </a:ln>
        </p:spPr>
        <p:txBody>
          <a:bodyPr/>
          <a:p/>
        </p:txBody>
      </p:sp>
      <p:sp>
        <p:nvSpPr>
          <p:cNvPr id="37" name="Shape 35"/>
          <p:cNvSpPr/>
          <p:nvPr/>
        </p:nvSpPr>
        <p:spPr>
          <a:xfrm>
            <a:off x="10154412" y="2916936"/>
            <a:ext cx="402336" cy="402336"/>
          </a:xfrm>
          <a:prstGeom prst="ellipse">
            <a:avLst/>
          </a:prstGeom>
          <a:solidFill>
            <a:srgbClr val="FFF4DE"/>
          </a:solidFill>
          <a:ln w="12700">
            <a:solidFill>
              <a:srgbClr val="FFF4DE">
                <a:alpha val="0"/>
              </a:srgbClr>
            </a:solidFill>
            <a:prstDash val="solid"/>
          </a:ln>
        </p:spPr>
        <p:txBody>
          <a:bodyPr/>
          <a:p/>
        </p:txBody>
      </p:sp>
      <p:sp>
        <p:nvSpPr>
          <p:cNvPr id="38" name="Text 36"/>
          <p:cNvSpPr/>
          <p:nvPr/>
        </p:nvSpPr>
        <p:spPr>
          <a:xfrm>
            <a:off x="10154412" y="2930652"/>
            <a:ext cx="402336" cy="374904"/>
          </a:xfrm>
          <a:prstGeom prst="rect">
            <a:avLst/>
          </a:prstGeom>
          <a:noFill/>
          <a:ln/>
        </p:spPr>
        <p:txBody>
          <a:bodyPr wrap="square" lIns="0" tIns="0" rIns="0" bIns="0" rtlCol="0" anchor="ctr">
            <a:normAutofit/>
          </a:bodyPr>
          <a:lstStyle/>
          <a:p>
            <a:pPr algn="ctr" indent="0" marL="0">
              <a:buNone/>
            </a:pPr>
            <a:r>
              <a:rPr lang="en-US" sz="1200" b="1" dirty="0">
                <a:solidFill>
                  <a:srgbClr val="C48B25"/>
                </a:solidFill>
                <a:latin typeface="Arial" pitchFamily="34" charset="0"/>
                <a:ea typeface="Arial" pitchFamily="34" charset="-122"/>
                <a:cs typeface="Arial" pitchFamily="34" charset="-120"/>
              </a:rPr>
              <a:t>04</a:t>
            </a:r>
            <a:endParaRPr lang="en-US" sz="1200" dirty="0"/>
          </a:p>
        </p:txBody>
      </p:sp>
      <p:sp>
        <p:nvSpPr>
          <p:cNvPr id="39" name="Text 37"/>
          <p:cNvSpPr/>
          <p:nvPr/>
        </p:nvSpPr>
        <p:spPr>
          <a:xfrm>
            <a:off x="9244584" y="3520440"/>
            <a:ext cx="2221992" cy="722376"/>
          </a:xfrm>
          <a:prstGeom prst="rect">
            <a:avLst/>
          </a:prstGeom>
          <a:noFill/>
          <a:ln/>
        </p:spPr>
        <p:txBody>
          <a:bodyPr wrap="square" lIns="0" tIns="0" rIns="0" bIns="0" rtlCol="0" anchor="ctr">
            <a:normAutofit/>
          </a:bodyPr>
          <a:lstStyle/>
          <a:p>
            <a:pPr algn="ctr" indent="0" marL="0">
              <a:buNone/>
            </a:pPr>
            <a:r>
              <a:rPr lang="en-US" sz="2500" b="1" dirty="0">
                <a:solidFill>
                  <a:srgbClr val="25344E"/>
                </a:solidFill>
                <a:latin typeface="Arial" pitchFamily="34" charset="0"/>
                <a:ea typeface="Arial" pitchFamily="34" charset="-122"/>
                <a:cs typeface="Arial" pitchFamily="34" charset="-120"/>
              </a:rPr>
              <a:t>Present</a:t>
            </a:r>
            <a:endParaRPr lang="en-US" sz="2500" dirty="0"/>
          </a:p>
          <a:p>
            <a:pPr algn="ctr" indent="0" marL="0">
              <a:buNone/>
            </a:pPr>
            <a:r>
              <a:rPr lang="en-US" sz="2500" b="1" dirty="0">
                <a:solidFill>
                  <a:srgbClr val="25344E"/>
                </a:solidFill>
                <a:latin typeface="Arial" pitchFamily="34" charset="0"/>
                <a:ea typeface="Arial" pitchFamily="34" charset="-122"/>
                <a:cs typeface="Arial" pitchFamily="34" charset="-120"/>
              </a:rPr>
              <a:t>result</a:t>
            </a:r>
            <a:endParaRPr lang="en-US" sz="2500" dirty="0"/>
          </a:p>
        </p:txBody>
      </p:sp>
      <p:sp>
        <p:nvSpPr>
          <p:cNvPr id="40" name="Shape 38"/>
          <p:cNvSpPr/>
          <p:nvPr/>
        </p:nvSpPr>
        <p:spPr>
          <a:xfrm>
            <a:off x="585216" y="5138928"/>
            <a:ext cx="5349240" cy="658368"/>
          </a:xfrm>
          <a:prstGeom prst="roundRect">
            <a:avLst>
              <a:gd name="adj" fmla="val 18056"/>
            </a:avLst>
          </a:prstGeom>
          <a:solidFill>
            <a:srgbClr val="EFECFD"/>
          </a:solidFill>
          <a:ln w="10160">
            <a:solidFill>
              <a:srgbClr val="EFECFD"/>
            </a:solidFill>
            <a:prstDash val="solid"/>
          </a:ln>
        </p:spPr>
        <p:txBody>
          <a:bodyPr/>
          <a:p/>
        </p:txBody>
      </p:sp>
      <p:sp>
        <p:nvSpPr>
          <p:cNvPr id="41" name="Text 39"/>
          <p:cNvSpPr/>
          <p:nvPr/>
        </p:nvSpPr>
        <p:spPr>
          <a:xfrm>
            <a:off x="768096" y="5266944"/>
            <a:ext cx="4983480" cy="393192"/>
          </a:xfrm>
          <a:prstGeom prst="rect">
            <a:avLst/>
          </a:prstGeom>
          <a:noFill/>
          <a:ln/>
        </p:spPr>
        <p:txBody>
          <a:bodyPr wrap="square" lIns="0" tIns="0" rIns="0" bIns="0" rtlCol="0" anchor="ctr">
            <a:normAutofit/>
          </a:bodyPr>
          <a:lstStyle/>
          <a:p>
            <a:pPr algn="ctr" indent="0" marL="0">
              <a:buNone/>
            </a:pPr>
            <a:r>
              <a:rPr lang="en-US" sz="2300" b="1" dirty="0">
                <a:solidFill>
                  <a:srgbClr val="6C5CE7"/>
                </a:solidFill>
                <a:latin typeface="Arial" pitchFamily="34" charset="0"/>
                <a:ea typeface="Arial" pitchFamily="34" charset="-122"/>
                <a:cs typeface="Arial" pitchFamily="34" charset="-120"/>
              </a:rPr>
              <a:t>Safer routing</a:t>
            </a:r>
            <a:endParaRPr lang="en-US" sz="2300" dirty="0"/>
          </a:p>
        </p:txBody>
      </p:sp>
      <p:sp>
        <p:nvSpPr>
          <p:cNvPr id="42" name="Shape 40"/>
          <p:cNvSpPr/>
          <p:nvPr/>
        </p:nvSpPr>
        <p:spPr>
          <a:xfrm>
            <a:off x="6254496" y="5138928"/>
            <a:ext cx="5349240" cy="658368"/>
          </a:xfrm>
          <a:prstGeom prst="roundRect">
            <a:avLst>
              <a:gd name="adj" fmla="val 18056"/>
            </a:avLst>
          </a:prstGeom>
          <a:solidFill>
            <a:srgbClr val="E7F6F2"/>
          </a:solidFill>
          <a:ln w="10160">
            <a:solidFill>
              <a:srgbClr val="E7F6F2"/>
            </a:solidFill>
            <a:prstDash val="solid"/>
          </a:ln>
        </p:spPr>
        <p:txBody>
          <a:bodyPr/>
          <a:p/>
        </p:txBody>
      </p:sp>
      <p:sp>
        <p:nvSpPr>
          <p:cNvPr id="43" name="Text 41"/>
          <p:cNvSpPr/>
          <p:nvPr/>
        </p:nvSpPr>
        <p:spPr>
          <a:xfrm>
            <a:off x="6437376" y="5266944"/>
            <a:ext cx="4983480" cy="393192"/>
          </a:xfrm>
          <a:prstGeom prst="rect">
            <a:avLst/>
          </a:prstGeom>
          <a:noFill/>
          <a:ln/>
        </p:spPr>
        <p:txBody>
          <a:bodyPr wrap="square" lIns="0" tIns="0" rIns="0" bIns="0" rtlCol="0" anchor="ctr">
            <a:normAutofit/>
          </a:bodyPr>
          <a:lstStyle/>
          <a:p>
            <a:pPr algn="ctr" indent="0" marL="0">
              <a:buNone/>
            </a:pPr>
            <a:r>
              <a:rPr lang="en-US" sz="2300" b="1" dirty="0">
                <a:solidFill>
                  <a:srgbClr val="138D87"/>
                </a:solidFill>
                <a:latin typeface="Arial" pitchFamily="34" charset="0"/>
                <a:ea typeface="Arial" pitchFamily="34" charset="-122"/>
                <a:cs typeface="Arial" pitchFamily="34" charset="-120"/>
              </a:rPr>
              <a:t>Measurable performance</a:t>
            </a: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F"/>
        </a:solidFill>
      </p:bgPr>
    </p:bg>
    <p:spTree>
      <p:nvGrpSpPr>
        <p:cNvPr id="1" name=""/>
        <p:cNvGrpSpPr/>
        <p:nvPr/>
      </p:nvGrpSpPr>
      <p:grpSpPr>
        <a:xfrm>
          <a:off x="0" y="0"/>
          <a:ext cx="0" cy="0"/>
          <a:chOff x="0" y="0"/>
          <a:chExt cx="0" cy="0"/>
        </a:xfrm>
      </p:grpSpPr>
      <p:sp>
        <p:nvSpPr>
          <p:cNvPr id="4" name="Text 2"/>
          <p:cNvSpPr/>
          <p:nvPr/>
        </p:nvSpPr>
        <p:spPr>
          <a:xfrm>
            <a:off x="585216" y="832104"/>
            <a:ext cx="10314432" cy="530352"/>
          </a:xfrm>
          <a:prstGeom prst="rect">
            <a:avLst/>
          </a:prstGeom>
          <a:noFill/>
          <a:ln/>
        </p:spPr>
        <p:txBody>
          <a:bodyPr wrap="square" lIns="0" tIns="0" rIns="0" bIns="0" rtlCol="0" anchor="ctr">
            <a:normAutofit/>
          </a:bodyPr>
          <a:lstStyle/>
          <a:p>
            <a:pPr algn="l" indent="0" marL="0">
              <a:buNone/>
            </a:pPr>
            <a:r>
              <a:rPr lang="en-US" sz="2900" b="1" dirty="0">
                <a:solidFill>
                  <a:srgbClr val="25344E"/>
                </a:solidFill>
                <a:latin typeface="Arial" pitchFamily="34" charset="0"/>
                <a:ea typeface="Arial" pitchFamily="34" charset="-122"/>
                <a:cs typeface="Arial" pitchFamily="34" charset="-120"/>
              </a:rPr>
              <a:t>Key Features</a:t>
            </a:r>
            <a:endParaRPr lang="en-US" sz="2900" dirty="0"/>
          </a:p>
        </p:txBody>
      </p:sp>
      <p:sp>
        <p:nvSpPr>
          <p:cNvPr id="5" name="Shape 3"/>
          <p:cNvSpPr/>
          <p:nvPr/>
        </p:nvSpPr>
        <p:spPr>
          <a:xfrm>
            <a:off x="10991088" y="877824"/>
            <a:ext cx="448056" cy="411480"/>
          </a:xfrm>
          <a:prstGeom prst="roundRect">
            <a:avLst>
              <a:gd name="adj" fmla="val 28889"/>
            </a:avLst>
          </a:prstGeom>
          <a:solidFill>
            <a:srgbClr val="FFFFFF"/>
          </a:solidFill>
          <a:ln w="10160">
            <a:solidFill>
              <a:srgbClr val="FFFFFF"/>
            </a:solidFill>
            <a:prstDash val="solid"/>
          </a:ln>
        </p:spPr>
        <p:txBody>
          <a:bodyPr/>
          <a:p/>
        </p:txBody>
      </p:sp>
      <p:sp>
        <p:nvSpPr>
          <p:cNvPr id="6" name="Text 4"/>
          <p:cNvSpPr/>
          <p:nvPr/>
        </p:nvSpPr>
        <p:spPr>
          <a:xfrm>
            <a:off x="11064240" y="900684"/>
            <a:ext cx="301752" cy="365760"/>
          </a:xfrm>
          <a:prstGeom prst="rect">
            <a:avLst/>
          </a:prstGeom>
          <a:noFill/>
          <a:ln/>
        </p:spPr>
        <p:txBody>
          <a:bodyPr wrap="square" lIns="0" tIns="0" rIns="0" bIns="0" rtlCol="0" anchor="ctr">
            <a:normAutofit/>
          </a:bodyPr>
          <a:lstStyle/>
          <a:p>
            <a:pPr algn="ctr" indent="0" marL="0">
              <a:buNone/>
            </a:pPr>
            <a:r>
              <a:rPr lang="en-US" sz="1300" b="1" dirty="0">
                <a:solidFill>
                  <a:srgbClr val="6C5CE7"/>
                </a:solidFill>
                <a:latin typeface="Arial" pitchFamily="34" charset="0"/>
                <a:ea typeface="Arial" pitchFamily="34" charset="-122"/>
                <a:cs typeface="Arial" pitchFamily="34" charset="-120"/>
              </a:rPr>
              <a:t>05</a:t>
            </a:r>
            <a:endParaRPr lang="en-US" sz="1300" dirty="0"/>
          </a:p>
        </p:txBody>
      </p:sp>
      <p:sp>
        <p:nvSpPr>
          <p:cNvPr id="7" name="Shape 5"/>
          <p:cNvSpPr/>
          <p:nvPr/>
        </p:nvSpPr>
        <p:spPr>
          <a:xfrm>
            <a:off x="585216" y="6451092"/>
            <a:ext cx="11021568" cy="0"/>
          </a:xfrm>
          <a:prstGeom prst="line">
            <a:avLst/>
          </a:prstGeom>
          <a:noFill/>
          <a:ln w="9525">
            <a:solidFill>
              <a:srgbClr val="DFE6F2"/>
            </a:solidFill>
            <a:prstDash val="solid"/>
            <a:headEnd type="none"/>
            <a:tailEnd type="none"/>
          </a:ln>
        </p:spPr>
        <p:txBody>
          <a:bodyPr/>
          <a:p/>
        </p:txBody>
      </p:sp>
      <p:sp>
        <p:nvSpPr>
          <p:cNvPr id="9" name="Shape 7"/>
          <p:cNvSpPr/>
          <p:nvPr/>
        </p:nvSpPr>
        <p:spPr>
          <a:xfrm>
            <a:off x="10131552" y="6588252"/>
            <a:ext cx="27432" cy="27432"/>
          </a:xfrm>
          <a:prstGeom prst="ellipse">
            <a:avLst/>
          </a:prstGeom>
          <a:solidFill>
            <a:srgbClr val="DFE6F2"/>
          </a:solidFill>
          <a:ln w="12700">
            <a:solidFill>
              <a:srgbClr val="DFE6F2">
                <a:alpha val="0"/>
              </a:srgbClr>
            </a:solidFill>
            <a:prstDash val="solid"/>
          </a:ln>
        </p:spPr>
        <p:txBody>
          <a:bodyPr/>
          <a:p/>
        </p:txBody>
      </p:sp>
      <p:sp>
        <p:nvSpPr>
          <p:cNvPr id="10" name="Shape 8"/>
          <p:cNvSpPr/>
          <p:nvPr/>
        </p:nvSpPr>
        <p:spPr>
          <a:xfrm>
            <a:off x="10232136" y="6588252"/>
            <a:ext cx="27432" cy="27432"/>
          </a:xfrm>
          <a:prstGeom prst="ellipse">
            <a:avLst/>
          </a:prstGeom>
          <a:solidFill>
            <a:srgbClr val="DFE6F2"/>
          </a:solidFill>
          <a:ln w="12700">
            <a:solidFill>
              <a:srgbClr val="DFE6F2">
                <a:alpha val="0"/>
              </a:srgbClr>
            </a:solidFill>
            <a:prstDash val="solid"/>
          </a:ln>
        </p:spPr>
        <p:txBody>
          <a:bodyPr/>
          <a:p/>
        </p:txBody>
      </p:sp>
      <p:sp>
        <p:nvSpPr>
          <p:cNvPr id="11" name="Shape 9"/>
          <p:cNvSpPr/>
          <p:nvPr/>
        </p:nvSpPr>
        <p:spPr>
          <a:xfrm>
            <a:off x="10332720" y="6588252"/>
            <a:ext cx="27432" cy="27432"/>
          </a:xfrm>
          <a:prstGeom prst="ellipse">
            <a:avLst/>
          </a:prstGeom>
          <a:solidFill>
            <a:srgbClr val="DFE6F2"/>
          </a:solidFill>
          <a:ln w="12700">
            <a:solidFill>
              <a:srgbClr val="DFE6F2">
                <a:alpha val="0"/>
              </a:srgbClr>
            </a:solidFill>
            <a:prstDash val="solid"/>
          </a:ln>
        </p:spPr>
        <p:txBody>
          <a:bodyPr/>
          <a:p/>
        </p:txBody>
      </p:sp>
      <p:sp>
        <p:nvSpPr>
          <p:cNvPr id="12" name="Shape 10"/>
          <p:cNvSpPr/>
          <p:nvPr/>
        </p:nvSpPr>
        <p:spPr>
          <a:xfrm>
            <a:off x="10433304" y="6588252"/>
            <a:ext cx="27432" cy="27432"/>
          </a:xfrm>
          <a:prstGeom prst="ellipse">
            <a:avLst/>
          </a:prstGeom>
          <a:solidFill>
            <a:srgbClr val="DFE6F2"/>
          </a:solidFill>
          <a:ln w="12700">
            <a:solidFill>
              <a:srgbClr val="DFE6F2">
                <a:alpha val="0"/>
              </a:srgbClr>
            </a:solidFill>
            <a:prstDash val="solid"/>
          </a:ln>
        </p:spPr>
        <p:txBody>
          <a:bodyPr/>
          <a:p/>
        </p:txBody>
      </p:sp>
      <p:sp>
        <p:nvSpPr>
          <p:cNvPr id="13" name="Shape 11"/>
          <p:cNvSpPr/>
          <p:nvPr/>
        </p:nvSpPr>
        <p:spPr>
          <a:xfrm>
            <a:off x="10533888" y="6588252"/>
            <a:ext cx="27432" cy="27432"/>
          </a:xfrm>
          <a:prstGeom prst="ellipse">
            <a:avLst/>
          </a:prstGeom>
          <a:solidFill>
            <a:srgbClr val="6C5CE7"/>
          </a:solidFill>
          <a:ln w="12700">
            <a:solidFill>
              <a:srgbClr val="6C5CE7">
                <a:alpha val="0"/>
              </a:srgbClr>
            </a:solidFill>
            <a:prstDash val="solid"/>
          </a:ln>
        </p:spPr>
        <p:txBody>
          <a:bodyPr/>
          <a:p/>
        </p:txBody>
      </p:sp>
      <p:sp>
        <p:nvSpPr>
          <p:cNvPr id="14" name="Shape 12"/>
          <p:cNvSpPr/>
          <p:nvPr/>
        </p:nvSpPr>
        <p:spPr>
          <a:xfrm>
            <a:off x="10634472" y="6588252"/>
            <a:ext cx="27432" cy="27432"/>
          </a:xfrm>
          <a:prstGeom prst="ellipse">
            <a:avLst/>
          </a:prstGeom>
          <a:solidFill>
            <a:srgbClr val="DFE6F2"/>
          </a:solidFill>
          <a:ln w="12700">
            <a:solidFill>
              <a:srgbClr val="DFE6F2">
                <a:alpha val="0"/>
              </a:srgbClr>
            </a:solidFill>
            <a:prstDash val="solid"/>
          </a:ln>
        </p:spPr>
        <p:txBody>
          <a:bodyPr/>
          <a:p/>
        </p:txBody>
      </p:sp>
      <p:sp>
        <p:nvSpPr>
          <p:cNvPr id="15" name="Shape 13"/>
          <p:cNvSpPr/>
          <p:nvPr/>
        </p:nvSpPr>
        <p:spPr>
          <a:xfrm>
            <a:off x="10735056" y="6588252"/>
            <a:ext cx="27432" cy="27432"/>
          </a:xfrm>
          <a:prstGeom prst="ellipse">
            <a:avLst/>
          </a:prstGeom>
          <a:solidFill>
            <a:srgbClr val="DFE6F2"/>
          </a:solidFill>
          <a:ln w="12700">
            <a:solidFill>
              <a:srgbClr val="DFE6F2">
                <a:alpha val="0"/>
              </a:srgbClr>
            </a:solidFill>
            <a:prstDash val="solid"/>
          </a:ln>
        </p:spPr>
        <p:txBody>
          <a:bodyPr/>
          <a:p/>
        </p:txBody>
      </p:sp>
      <p:sp>
        <p:nvSpPr>
          <p:cNvPr id="16" name="Shape 14"/>
          <p:cNvSpPr/>
          <p:nvPr/>
        </p:nvSpPr>
        <p:spPr>
          <a:xfrm>
            <a:off x="10835640" y="6588252"/>
            <a:ext cx="27432" cy="27432"/>
          </a:xfrm>
          <a:prstGeom prst="ellipse">
            <a:avLst/>
          </a:prstGeom>
          <a:solidFill>
            <a:srgbClr val="DFE6F2"/>
          </a:solidFill>
          <a:ln w="12700">
            <a:solidFill>
              <a:srgbClr val="DFE6F2">
                <a:alpha val="0"/>
              </a:srgbClr>
            </a:solidFill>
            <a:prstDash val="solid"/>
          </a:ln>
        </p:spPr>
        <p:txBody>
          <a:bodyPr/>
          <a:p/>
        </p:txBody>
      </p:sp>
      <p:sp>
        <p:nvSpPr>
          <p:cNvPr id="17" name="Shape 15"/>
          <p:cNvSpPr/>
          <p:nvPr/>
        </p:nvSpPr>
        <p:spPr>
          <a:xfrm>
            <a:off x="10936224" y="6588252"/>
            <a:ext cx="27432" cy="27432"/>
          </a:xfrm>
          <a:prstGeom prst="ellipse">
            <a:avLst/>
          </a:prstGeom>
          <a:solidFill>
            <a:srgbClr val="DFE6F2"/>
          </a:solidFill>
          <a:ln w="12700">
            <a:solidFill>
              <a:srgbClr val="DFE6F2">
                <a:alpha val="0"/>
              </a:srgbClr>
            </a:solidFill>
            <a:prstDash val="solid"/>
          </a:ln>
        </p:spPr>
        <p:txBody>
          <a:bodyPr/>
          <a:p/>
        </p:txBody>
      </p:sp>
      <p:sp>
        <p:nvSpPr>
          <p:cNvPr id="18" name="Shape 16"/>
          <p:cNvSpPr/>
          <p:nvPr/>
        </p:nvSpPr>
        <p:spPr>
          <a:xfrm>
            <a:off x="11036808" y="6588252"/>
            <a:ext cx="27432" cy="27432"/>
          </a:xfrm>
          <a:prstGeom prst="ellipse">
            <a:avLst/>
          </a:prstGeom>
          <a:solidFill>
            <a:srgbClr val="DFE6F2"/>
          </a:solidFill>
          <a:ln w="12700">
            <a:solidFill>
              <a:srgbClr val="DFE6F2">
                <a:alpha val="0"/>
              </a:srgbClr>
            </a:solidFill>
            <a:prstDash val="solid"/>
          </a:ln>
        </p:spPr>
        <p:txBody>
          <a:bodyPr/>
          <a:p/>
        </p:txBody>
      </p:sp>
      <p:sp>
        <p:nvSpPr>
          <p:cNvPr id="19" name="Text 17"/>
          <p:cNvSpPr/>
          <p:nvPr/>
        </p:nvSpPr>
        <p:spPr>
          <a:xfrm>
            <a:off x="11228832" y="6519672"/>
            <a:ext cx="338328" cy="173736"/>
          </a:xfrm>
          <a:prstGeom prst="rect">
            <a:avLst/>
          </a:prstGeom>
          <a:noFill/>
          <a:ln/>
        </p:spPr>
        <p:txBody>
          <a:bodyPr wrap="square" lIns="0" tIns="0" rIns="0" bIns="0" rtlCol="0" anchor="ctr">
            <a:normAutofit/>
          </a:bodyPr>
          <a:lstStyle/>
          <a:p>
            <a:pPr algn="ctr" indent="0" marL="0">
              <a:buNone/>
            </a:pPr>
            <a:r>
              <a:rPr lang="en-US" sz="920" b="1" dirty="0">
                <a:solidFill>
                  <a:srgbClr val="4E5F7B"/>
                </a:solidFill>
                <a:latin typeface="Arial" pitchFamily="34" charset="0"/>
                <a:ea typeface="Arial" pitchFamily="34" charset="-122"/>
                <a:cs typeface="Arial" pitchFamily="34" charset="-120"/>
              </a:rPr>
              <a:t>05</a:t>
            </a:r>
            <a:endParaRPr lang="en-US" sz="920" dirty="0"/>
          </a:p>
        </p:txBody>
      </p:sp>
      <p:sp>
        <p:nvSpPr>
          <p:cNvPr id="20" name="Shape 18"/>
          <p:cNvSpPr/>
          <p:nvPr/>
        </p:nvSpPr>
        <p:spPr>
          <a:xfrm>
            <a:off x="585216" y="1673352"/>
            <a:ext cx="3447288" cy="1993392"/>
          </a:xfrm>
          <a:prstGeom prst="roundRect">
            <a:avLst>
              <a:gd name="adj" fmla="val 5963"/>
            </a:avLst>
          </a:prstGeom>
          <a:solidFill>
            <a:srgbClr val="FFFFFF"/>
          </a:solidFill>
          <a:ln w="10160">
            <a:solidFill>
              <a:srgbClr val="DFE6F2"/>
            </a:solidFill>
            <a:prstDash val="solid"/>
          </a:ln>
        </p:spPr>
        <p:txBody>
          <a:bodyPr/>
          <a:p/>
        </p:txBody>
      </p:sp>
      <p:sp>
        <p:nvSpPr>
          <p:cNvPr id="21" name="Shape 19"/>
          <p:cNvSpPr/>
          <p:nvPr/>
        </p:nvSpPr>
        <p:spPr>
          <a:xfrm>
            <a:off x="2052828" y="2002536"/>
            <a:ext cx="201168" cy="201168"/>
          </a:xfrm>
          <a:prstGeom prst="roundRect">
            <a:avLst>
              <a:gd name="adj" fmla="val 11364"/>
            </a:avLst>
          </a:prstGeom>
          <a:solidFill>
            <a:srgbClr val="FFFFFF"/>
          </a:solidFill>
          <a:ln w="10160">
            <a:solidFill>
              <a:srgbClr val="6C5CE7"/>
            </a:solidFill>
            <a:prstDash val="solid"/>
          </a:ln>
        </p:spPr>
        <p:txBody>
          <a:bodyPr/>
          <a:p/>
        </p:txBody>
      </p:sp>
      <p:sp>
        <p:nvSpPr>
          <p:cNvPr id="22" name="Shape 20"/>
          <p:cNvSpPr/>
          <p:nvPr/>
        </p:nvSpPr>
        <p:spPr>
          <a:xfrm>
            <a:off x="2345436" y="2002536"/>
            <a:ext cx="201168" cy="201168"/>
          </a:xfrm>
          <a:prstGeom prst="roundRect">
            <a:avLst>
              <a:gd name="adj" fmla="val 11364"/>
            </a:avLst>
          </a:prstGeom>
          <a:solidFill>
            <a:srgbClr val="FFFFFF"/>
          </a:solidFill>
          <a:ln w="10160">
            <a:solidFill>
              <a:srgbClr val="6C5CE7"/>
            </a:solidFill>
            <a:prstDash val="solid"/>
          </a:ln>
        </p:spPr>
        <p:txBody>
          <a:bodyPr/>
          <a:p/>
        </p:txBody>
      </p:sp>
      <p:sp>
        <p:nvSpPr>
          <p:cNvPr id="23" name="Shape 21"/>
          <p:cNvSpPr/>
          <p:nvPr/>
        </p:nvSpPr>
        <p:spPr>
          <a:xfrm>
            <a:off x="2052828" y="2295144"/>
            <a:ext cx="201168" cy="201168"/>
          </a:xfrm>
          <a:prstGeom prst="roundRect">
            <a:avLst>
              <a:gd name="adj" fmla="val 11364"/>
            </a:avLst>
          </a:prstGeom>
          <a:solidFill>
            <a:srgbClr val="FFFFFF"/>
          </a:solidFill>
          <a:ln w="10160">
            <a:solidFill>
              <a:srgbClr val="6C5CE7"/>
            </a:solidFill>
            <a:prstDash val="solid"/>
          </a:ln>
        </p:spPr>
        <p:txBody>
          <a:bodyPr/>
          <a:p/>
        </p:txBody>
      </p:sp>
      <p:sp>
        <p:nvSpPr>
          <p:cNvPr id="24" name="Shape 22"/>
          <p:cNvSpPr/>
          <p:nvPr/>
        </p:nvSpPr>
        <p:spPr>
          <a:xfrm>
            <a:off x="2345436" y="2295144"/>
            <a:ext cx="201168" cy="201168"/>
          </a:xfrm>
          <a:prstGeom prst="roundRect">
            <a:avLst>
              <a:gd name="adj" fmla="val 11364"/>
            </a:avLst>
          </a:prstGeom>
          <a:solidFill>
            <a:srgbClr val="FFFFFF"/>
          </a:solidFill>
          <a:ln w="10160">
            <a:solidFill>
              <a:srgbClr val="6C5CE7"/>
            </a:solidFill>
            <a:prstDash val="solid"/>
          </a:ln>
        </p:spPr>
        <p:txBody>
          <a:bodyPr/>
          <a:p/>
        </p:txBody>
      </p:sp>
      <p:sp>
        <p:nvSpPr>
          <p:cNvPr id="25" name="Text 23"/>
          <p:cNvSpPr/>
          <p:nvPr/>
        </p:nvSpPr>
        <p:spPr>
          <a:xfrm>
            <a:off x="740664" y="2724912"/>
            <a:ext cx="3136392" cy="704088"/>
          </a:xfrm>
          <a:prstGeom prst="rect">
            <a:avLst/>
          </a:prstGeom>
          <a:noFill/>
          <a:ln/>
        </p:spPr>
        <p:txBody>
          <a:bodyPr wrap="square" lIns="0" tIns="0" rIns="0" bIns="0" rtlCol="0" anchor="ctr">
            <a:normAutofit/>
          </a:bodyPr>
          <a:lstStyle/>
          <a:p>
            <a:pPr algn="ctr" indent="0" marL="0">
              <a:buNone/>
            </a:pPr>
            <a:r>
              <a:rPr lang="en-US" sz="2400" b="1" dirty="0">
                <a:solidFill>
                  <a:srgbClr val="25344E"/>
                </a:solidFill>
                <a:latin typeface="Arial" pitchFamily="34" charset="0"/>
                <a:ea typeface="Arial" pitchFamily="34" charset="-122"/>
                <a:cs typeface="Arial" pitchFamily="34" charset="-120"/>
              </a:rPr>
              <a:t>Interactive</a:t>
            </a:r>
            <a:endParaRPr lang="en-US" sz="2400" dirty="0"/>
          </a:p>
          <a:p>
            <a:pPr algn="ctr" indent="0" marL="0">
              <a:buNone/>
            </a:pPr>
            <a:r>
              <a:rPr lang="en-US" sz="2400" b="1" dirty="0">
                <a:solidFill>
                  <a:srgbClr val="25344E"/>
                </a:solidFill>
                <a:latin typeface="Arial" pitchFamily="34" charset="0"/>
                <a:ea typeface="Arial" pitchFamily="34" charset="-122"/>
                <a:cs typeface="Arial" pitchFamily="34" charset="-120"/>
              </a:rPr>
              <a:t>building map</a:t>
            </a:r>
            <a:endParaRPr lang="en-US" sz="2400" dirty="0"/>
          </a:p>
        </p:txBody>
      </p:sp>
      <p:sp>
        <p:nvSpPr>
          <p:cNvPr id="26" name="Shape 24"/>
          <p:cNvSpPr/>
          <p:nvPr/>
        </p:nvSpPr>
        <p:spPr>
          <a:xfrm>
            <a:off x="4370832" y="1673352"/>
            <a:ext cx="3447288" cy="1993392"/>
          </a:xfrm>
          <a:prstGeom prst="roundRect">
            <a:avLst>
              <a:gd name="adj" fmla="val 5963"/>
            </a:avLst>
          </a:prstGeom>
          <a:solidFill>
            <a:srgbClr val="FFFFFF"/>
          </a:solidFill>
          <a:ln w="10160">
            <a:solidFill>
              <a:srgbClr val="DFE6F2"/>
            </a:solidFill>
            <a:prstDash val="solid"/>
          </a:ln>
        </p:spPr>
        <p:txBody>
          <a:bodyPr/>
          <a:p/>
        </p:txBody>
      </p:sp>
      <p:sp>
        <p:nvSpPr>
          <p:cNvPr id="27" name="Shape 25"/>
          <p:cNvSpPr/>
          <p:nvPr/>
        </p:nvSpPr>
        <p:spPr>
          <a:xfrm>
            <a:off x="5902452" y="2002536"/>
            <a:ext cx="274320" cy="521208"/>
          </a:xfrm>
          <a:prstGeom prst="rect">
            <a:avLst/>
          </a:prstGeom>
          <a:solidFill>
            <a:srgbClr val="FFFFFF"/>
          </a:solidFill>
          <a:ln w="20320">
            <a:solidFill>
              <a:srgbClr val="138D87"/>
            </a:solidFill>
            <a:prstDash val="solid"/>
          </a:ln>
        </p:spPr>
        <p:txBody>
          <a:bodyPr/>
          <a:p/>
        </p:txBody>
      </p:sp>
      <p:sp>
        <p:nvSpPr>
          <p:cNvPr id="28" name="Shape 26"/>
          <p:cNvSpPr/>
          <p:nvPr/>
        </p:nvSpPr>
        <p:spPr>
          <a:xfrm>
            <a:off x="6039612" y="2267712"/>
            <a:ext cx="356616" cy="0"/>
          </a:xfrm>
          <a:prstGeom prst="line">
            <a:avLst/>
          </a:prstGeom>
          <a:noFill/>
          <a:ln w="20320">
            <a:solidFill>
              <a:srgbClr val="138D87"/>
            </a:solidFill>
            <a:prstDash val="solid"/>
            <a:headEnd type="none"/>
            <a:tailEnd type="none"/>
          </a:ln>
        </p:spPr>
        <p:txBody>
          <a:bodyPr/>
          <a:p/>
        </p:txBody>
      </p:sp>
      <p:sp>
        <p:nvSpPr>
          <p:cNvPr id="29" name="Shape 27"/>
          <p:cNvSpPr/>
          <p:nvPr/>
        </p:nvSpPr>
        <p:spPr>
          <a:xfrm>
            <a:off x="6277356" y="2157984"/>
            <a:ext cx="118872" cy="109728"/>
          </a:xfrm>
          <a:prstGeom prst="line">
            <a:avLst/>
          </a:prstGeom>
          <a:noFill/>
          <a:ln w="20320">
            <a:solidFill>
              <a:srgbClr val="138D87"/>
            </a:solidFill>
            <a:prstDash val="solid"/>
            <a:headEnd type="none"/>
            <a:tailEnd type="none"/>
          </a:ln>
        </p:spPr>
        <p:txBody>
          <a:bodyPr/>
          <a:p/>
        </p:txBody>
      </p:sp>
      <p:sp>
        <p:nvSpPr>
          <p:cNvPr id="30" name="Shape 28"/>
          <p:cNvSpPr/>
          <p:nvPr/>
        </p:nvSpPr>
        <p:spPr>
          <a:xfrm flipV="1">
            <a:off x="6277356" y="2267712"/>
            <a:ext cx="118872" cy="109728"/>
          </a:xfrm>
          <a:prstGeom prst="line">
            <a:avLst/>
          </a:prstGeom>
          <a:noFill/>
          <a:ln w="20320">
            <a:solidFill>
              <a:srgbClr val="138D87"/>
            </a:solidFill>
            <a:prstDash val="solid"/>
            <a:headEnd type="none"/>
            <a:tailEnd type="none"/>
          </a:ln>
        </p:spPr>
        <p:txBody>
          <a:bodyPr/>
          <a:p/>
        </p:txBody>
      </p:sp>
      <p:sp>
        <p:nvSpPr>
          <p:cNvPr id="31" name="Text 29"/>
          <p:cNvSpPr/>
          <p:nvPr/>
        </p:nvSpPr>
        <p:spPr>
          <a:xfrm>
            <a:off x="4526280" y="2724912"/>
            <a:ext cx="3136392" cy="704088"/>
          </a:xfrm>
          <a:prstGeom prst="rect">
            <a:avLst/>
          </a:prstGeom>
          <a:noFill/>
          <a:ln/>
        </p:spPr>
        <p:txBody>
          <a:bodyPr wrap="square" lIns="0" tIns="0" rIns="0" bIns="0" rtlCol="0" anchor="ctr">
            <a:normAutofit/>
          </a:bodyPr>
          <a:lstStyle/>
          <a:p>
            <a:pPr algn="ctr" indent="0" marL="0">
              <a:buNone/>
            </a:pPr>
            <a:r>
              <a:rPr lang="en-US" sz="2400" b="1" dirty="0">
                <a:solidFill>
                  <a:srgbClr val="25344E"/>
                </a:solidFill>
                <a:latin typeface="Arial" pitchFamily="34" charset="0"/>
                <a:ea typeface="Arial" pitchFamily="34" charset="-122"/>
                <a:cs typeface="Arial" pitchFamily="34" charset="-120"/>
              </a:rPr>
              <a:t>Start &amp; exit</a:t>
            </a:r>
            <a:endParaRPr lang="en-US" sz="2400" dirty="0"/>
          </a:p>
          <a:p>
            <a:pPr algn="ctr" indent="0" marL="0">
              <a:buNone/>
            </a:pPr>
            <a:r>
              <a:rPr lang="en-US" sz="2400" b="1" dirty="0">
                <a:solidFill>
                  <a:srgbClr val="25344E"/>
                </a:solidFill>
                <a:latin typeface="Arial" pitchFamily="34" charset="0"/>
                <a:ea typeface="Arial" pitchFamily="34" charset="-122"/>
                <a:cs typeface="Arial" pitchFamily="34" charset="-120"/>
              </a:rPr>
              <a:t>selection</a:t>
            </a:r>
            <a:endParaRPr lang="en-US" sz="2400" dirty="0"/>
          </a:p>
        </p:txBody>
      </p:sp>
      <p:sp>
        <p:nvSpPr>
          <p:cNvPr id="32" name="Shape 30"/>
          <p:cNvSpPr/>
          <p:nvPr/>
        </p:nvSpPr>
        <p:spPr>
          <a:xfrm>
            <a:off x="8156448" y="1673352"/>
            <a:ext cx="3447288" cy="1993392"/>
          </a:xfrm>
          <a:prstGeom prst="roundRect">
            <a:avLst>
              <a:gd name="adj" fmla="val 5963"/>
            </a:avLst>
          </a:prstGeom>
          <a:solidFill>
            <a:srgbClr val="FFFFFF"/>
          </a:solidFill>
          <a:ln w="10160">
            <a:solidFill>
              <a:srgbClr val="DFE6F2"/>
            </a:solidFill>
            <a:prstDash val="solid"/>
          </a:ln>
        </p:spPr>
        <p:txBody>
          <a:bodyPr/>
          <a:p/>
        </p:txBody>
      </p:sp>
      <p:sp>
        <p:nvSpPr>
          <p:cNvPr id="33" name="Shape 31"/>
          <p:cNvSpPr/>
          <p:nvPr/>
        </p:nvSpPr>
        <p:spPr>
          <a:xfrm>
            <a:off x="9624060" y="2002536"/>
            <a:ext cx="548640" cy="512064"/>
          </a:xfrm>
          <a:prstGeom prst="triangle">
            <a:avLst/>
          </a:prstGeom>
          <a:solidFill>
            <a:srgbClr val="FFFFFF"/>
          </a:solidFill>
          <a:ln w="20320">
            <a:solidFill>
              <a:srgbClr val="D56371"/>
            </a:solidFill>
            <a:prstDash val="solid"/>
          </a:ln>
        </p:spPr>
        <p:txBody>
          <a:bodyPr/>
          <a:p/>
        </p:txBody>
      </p:sp>
      <p:sp>
        <p:nvSpPr>
          <p:cNvPr id="34" name="Text 32"/>
          <p:cNvSpPr/>
          <p:nvPr/>
        </p:nvSpPr>
        <p:spPr>
          <a:xfrm>
            <a:off x="9816084" y="2176272"/>
            <a:ext cx="164592" cy="265176"/>
          </a:xfrm>
          <a:prstGeom prst="rect">
            <a:avLst/>
          </a:prstGeom>
          <a:noFill/>
          <a:ln/>
        </p:spPr>
        <p:txBody>
          <a:bodyPr wrap="square" lIns="0" tIns="0" rIns="0" bIns="0" rtlCol="0" anchor="ctr">
            <a:normAutofit/>
          </a:bodyPr>
          <a:lstStyle/>
          <a:p>
            <a:pPr algn="ctr" indent="0" marL="0">
              <a:buNone/>
            </a:pPr>
            <a:r>
              <a:rPr lang="en-US" sz="2000" b="1" dirty="0">
                <a:solidFill>
                  <a:srgbClr val="D56371"/>
                </a:solidFill>
                <a:latin typeface="Arial" pitchFamily="34" charset="0"/>
                <a:ea typeface="Arial" pitchFamily="34" charset="-122"/>
                <a:cs typeface="Arial" pitchFamily="34" charset="-120"/>
              </a:rPr>
              <a:t>!</a:t>
            </a:r>
            <a:endParaRPr lang="en-US" sz="2000" dirty="0"/>
          </a:p>
        </p:txBody>
      </p:sp>
      <p:sp>
        <p:nvSpPr>
          <p:cNvPr id="35" name="Text 33"/>
          <p:cNvSpPr/>
          <p:nvPr/>
        </p:nvSpPr>
        <p:spPr>
          <a:xfrm>
            <a:off x="8311896" y="2724912"/>
            <a:ext cx="3136392" cy="704088"/>
          </a:xfrm>
          <a:prstGeom prst="rect">
            <a:avLst/>
          </a:prstGeom>
          <a:noFill/>
          <a:ln/>
        </p:spPr>
        <p:txBody>
          <a:bodyPr wrap="square" lIns="0" tIns="0" rIns="0" bIns="0" rtlCol="0" anchor="ctr">
            <a:normAutofit/>
          </a:bodyPr>
          <a:lstStyle/>
          <a:p>
            <a:pPr algn="ctr" indent="0" marL="0">
              <a:buNone/>
            </a:pPr>
            <a:r>
              <a:rPr lang="en-US" sz="2400" b="1" dirty="0">
                <a:solidFill>
                  <a:srgbClr val="25344E"/>
                </a:solidFill>
                <a:latin typeface="Arial" pitchFamily="34" charset="0"/>
                <a:ea typeface="Arial" pitchFamily="34" charset="-122"/>
                <a:cs typeface="Arial" pitchFamily="34" charset="-120"/>
              </a:rPr>
              <a:t>Hazard</a:t>
            </a:r>
            <a:endParaRPr lang="en-US" sz="2400" dirty="0"/>
          </a:p>
          <a:p>
            <a:pPr algn="ctr" indent="0" marL="0">
              <a:buNone/>
            </a:pPr>
            <a:r>
              <a:rPr lang="en-US" sz="2400" b="1" dirty="0">
                <a:solidFill>
                  <a:srgbClr val="25344E"/>
                </a:solidFill>
                <a:latin typeface="Arial" pitchFamily="34" charset="0"/>
                <a:ea typeface="Arial" pitchFamily="34" charset="-122"/>
                <a:cs typeface="Arial" pitchFamily="34" charset="-120"/>
              </a:rPr>
              <a:t>editing</a:t>
            </a:r>
            <a:endParaRPr lang="en-US" sz="2400" dirty="0"/>
          </a:p>
        </p:txBody>
      </p:sp>
      <p:sp>
        <p:nvSpPr>
          <p:cNvPr id="36" name="Shape 34"/>
          <p:cNvSpPr/>
          <p:nvPr/>
        </p:nvSpPr>
        <p:spPr>
          <a:xfrm>
            <a:off x="585216" y="3867912"/>
            <a:ext cx="3447288" cy="1993392"/>
          </a:xfrm>
          <a:prstGeom prst="roundRect">
            <a:avLst>
              <a:gd name="adj" fmla="val 5963"/>
            </a:avLst>
          </a:prstGeom>
          <a:solidFill>
            <a:srgbClr val="FFFFFF"/>
          </a:solidFill>
          <a:ln w="10160">
            <a:solidFill>
              <a:srgbClr val="DFE6F2"/>
            </a:solidFill>
            <a:prstDash val="solid"/>
          </a:ln>
        </p:spPr>
        <p:txBody>
          <a:bodyPr/>
          <a:p/>
        </p:txBody>
      </p:sp>
      <p:sp>
        <p:nvSpPr>
          <p:cNvPr id="37" name="Shape 35"/>
          <p:cNvSpPr/>
          <p:nvPr/>
        </p:nvSpPr>
        <p:spPr>
          <a:xfrm>
            <a:off x="2071116" y="4425696"/>
            <a:ext cx="0" cy="228600"/>
          </a:xfrm>
          <a:prstGeom prst="line">
            <a:avLst/>
          </a:prstGeom>
          <a:noFill/>
          <a:ln w="22860">
            <a:solidFill>
              <a:srgbClr val="3977D5"/>
            </a:solidFill>
            <a:prstDash val="solid"/>
            <a:headEnd type="none"/>
            <a:tailEnd type="none"/>
          </a:ln>
        </p:spPr>
        <p:txBody>
          <a:bodyPr/>
          <a:p/>
        </p:txBody>
      </p:sp>
      <p:sp>
        <p:nvSpPr>
          <p:cNvPr id="38" name="Shape 36"/>
          <p:cNvSpPr/>
          <p:nvPr/>
        </p:nvSpPr>
        <p:spPr>
          <a:xfrm>
            <a:off x="2071116" y="4425696"/>
            <a:ext cx="438912" cy="0"/>
          </a:xfrm>
          <a:prstGeom prst="line">
            <a:avLst/>
          </a:prstGeom>
          <a:noFill/>
          <a:ln w="22860">
            <a:solidFill>
              <a:srgbClr val="3977D5"/>
            </a:solidFill>
            <a:prstDash val="solid"/>
            <a:headEnd type="none"/>
            <a:tailEnd type="none"/>
          </a:ln>
        </p:spPr>
        <p:txBody>
          <a:bodyPr/>
          <a:p/>
        </p:txBody>
      </p:sp>
      <p:sp>
        <p:nvSpPr>
          <p:cNvPr id="39" name="Shape 37"/>
          <p:cNvSpPr/>
          <p:nvPr/>
        </p:nvSpPr>
        <p:spPr>
          <a:xfrm>
            <a:off x="2510028" y="4224528"/>
            <a:ext cx="0" cy="201168"/>
          </a:xfrm>
          <a:prstGeom prst="line">
            <a:avLst/>
          </a:prstGeom>
          <a:noFill/>
          <a:ln w="22860">
            <a:solidFill>
              <a:srgbClr val="3977D5"/>
            </a:solidFill>
            <a:prstDash val="solid"/>
            <a:headEnd type="none"/>
            <a:tailEnd type="none"/>
          </a:ln>
        </p:spPr>
        <p:txBody>
          <a:bodyPr/>
          <a:p/>
        </p:txBody>
      </p:sp>
      <p:sp>
        <p:nvSpPr>
          <p:cNvPr id="40" name="Shape 38"/>
          <p:cNvSpPr/>
          <p:nvPr/>
        </p:nvSpPr>
        <p:spPr>
          <a:xfrm>
            <a:off x="2025396" y="4626864"/>
            <a:ext cx="91440" cy="91440"/>
          </a:xfrm>
          <a:prstGeom prst="ellipse">
            <a:avLst/>
          </a:prstGeom>
          <a:solidFill>
            <a:srgbClr val="3977D5"/>
          </a:solidFill>
          <a:ln w="12700">
            <a:solidFill>
              <a:srgbClr val="3977D5">
                <a:alpha val="0"/>
              </a:srgbClr>
            </a:solidFill>
            <a:prstDash val="solid"/>
          </a:ln>
        </p:spPr>
        <p:txBody>
          <a:bodyPr/>
          <a:p/>
        </p:txBody>
      </p:sp>
      <p:sp>
        <p:nvSpPr>
          <p:cNvPr id="41" name="Shape 39"/>
          <p:cNvSpPr/>
          <p:nvPr/>
        </p:nvSpPr>
        <p:spPr>
          <a:xfrm>
            <a:off x="2464308" y="4178808"/>
            <a:ext cx="91440" cy="91440"/>
          </a:xfrm>
          <a:prstGeom prst="ellipse">
            <a:avLst/>
          </a:prstGeom>
          <a:solidFill>
            <a:srgbClr val="3977D5"/>
          </a:solidFill>
          <a:ln w="12700">
            <a:solidFill>
              <a:srgbClr val="3977D5">
                <a:alpha val="0"/>
              </a:srgbClr>
            </a:solidFill>
            <a:prstDash val="solid"/>
          </a:ln>
        </p:spPr>
        <p:txBody>
          <a:bodyPr/>
          <a:p/>
        </p:txBody>
      </p:sp>
      <p:sp>
        <p:nvSpPr>
          <p:cNvPr id="42" name="Text 40"/>
          <p:cNvSpPr/>
          <p:nvPr/>
        </p:nvSpPr>
        <p:spPr>
          <a:xfrm>
            <a:off x="740664" y="4919472"/>
            <a:ext cx="3136392" cy="704088"/>
          </a:xfrm>
          <a:prstGeom prst="rect">
            <a:avLst/>
          </a:prstGeom>
          <a:noFill/>
          <a:ln/>
        </p:spPr>
        <p:txBody>
          <a:bodyPr wrap="square" lIns="0" tIns="0" rIns="0" bIns="0" rtlCol="0" anchor="ctr">
            <a:normAutofit/>
          </a:bodyPr>
          <a:lstStyle/>
          <a:p>
            <a:pPr algn="ctr" indent="0" marL="0">
              <a:buNone/>
            </a:pPr>
            <a:r>
              <a:rPr lang="en-US" sz="2400" b="1" dirty="0">
                <a:solidFill>
                  <a:srgbClr val="25344E"/>
                </a:solidFill>
                <a:latin typeface="Arial" pitchFamily="34" charset="0"/>
                <a:ea typeface="Arial" pitchFamily="34" charset="-122"/>
                <a:cs typeface="Arial" pitchFamily="34" charset="-120"/>
              </a:rPr>
              <a:t>Route</a:t>
            </a:r>
            <a:endParaRPr lang="en-US" sz="2400" dirty="0"/>
          </a:p>
          <a:p>
            <a:pPr algn="ctr" indent="0" marL="0">
              <a:buNone/>
            </a:pPr>
            <a:r>
              <a:rPr lang="en-US" sz="2400" b="1" dirty="0">
                <a:solidFill>
                  <a:srgbClr val="25344E"/>
                </a:solidFill>
                <a:latin typeface="Arial" pitchFamily="34" charset="0"/>
                <a:ea typeface="Arial" pitchFamily="34" charset="-122"/>
                <a:cs typeface="Arial" pitchFamily="34" charset="-120"/>
              </a:rPr>
              <a:t>visualization</a:t>
            </a:r>
            <a:endParaRPr lang="en-US" sz="2400" dirty="0"/>
          </a:p>
        </p:txBody>
      </p:sp>
      <p:sp>
        <p:nvSpPr>
          <p:cNvPr id="43" name="Shape 41"/>
          <p:cNvSpPr/>
          <p:nvPr/>
        </p:nvSpPr>
        <p:spPr>
          <a:xfrm>
            <a:off x="4370832" y="3867912"/>
            <a:ext cx="3447288" cy="1993392"/>
          </a:xfrm>
          <a:prstGeom prst="roundRect">
            <a:avLst>
              <a:gd name="adj" fmla="val 5963"/>
            </a:avLst>
          </a:prstGeom>
          <a:solidFill>
            <a:srgbClr val="FFFFFF"/>
          </a:solidFill>
          <a:ln w="10160">
            <a:solidFill>
              <a:srgbClr val="DFE6F2"/>
            </a:solidFill>
            <a:prstDash val="solid"/>
          </a:ln>
        </p:spPr>
        <p:txBody>
          <a:bodyPr/>
          <a:p/>
        </p:txBody>
      </p:sp>
      <p:sp>
        <p:nvSpPr>
          <p:cNvPr id="44" name="Shape 42"/>
          <p:cNvSpPr/>
          <p:nvPr/>
        </p:nvSpPr>
        <p:spPr>
          <a:xfrm>
            <a:off x="5838444" y="4462272"/>
            <a:ext cx="118872" cy="237744"/>
          </a:xfrm>
          <a:prstGeom prst="roundRect">
            <a:avLst>
              <a:gd name="adj" fmla="val 7692"/>
            </a:avLst>
          </a:prstGeom>
          <a:solidFill>
            <a:srgbClr val="6C5CE7"/>
          </a:solidFill>
          <a:ln w="10160">
            <a:solidFill>
              <a:srgbClr val="6C5CE7"/>
            </a:solidFill>
            <a:prstDash val="solid"/>
          </a:ln>
        </p:spPr>
        <p:txBody>
          <a:bodyPr/>
          <a:p/>
        </p:txBody>
      </p:sp>
      <p:sp>
        <p:nvSpPr>
          <p:cNvPr id="45" name="Shape 43"/>
          <p:cNvSpPr/>
          <p:nvPr/>
        </p:nvSpPr>
        <p:spPr>
          <a:xfrm>
            <a:off x="6039612" y="4251960"/>
            <a:ext cx="118872" cy="448056"/>
          </a:xfrm>
          <a:prstGeom prst="roundRect">
            <a:avLst>
              <a:gd name="adj" fmla="val 7692"/>
            </a:avLst>
          </a:prstGeom>
          <a:solidFill>
            <a:srgbClr val="6C5CE7"/>
          </a:solidFill>
          <a:ln w="10160">
            <a:solidFill>
              <a:srgbClr val="6C5CE7"/>
            </a:solidFill>
            <a:prstDash val="solid"/>
          </a:ln>
        </p:spPr>
        <p:txBody>
          <a:bodyPr/>
          <a:p/>
        </p:txBody>
      </p:sp>
      <p:sp>
        <p:nvSpPr>
          <p:cNvPr id="46" name="Shape 44"/>
          <p:cNvSpPr/>
          <p:nvPr/>
        </p:nvSpPr>
        <p:spPr>
          <a:xfrm>
            <a:off x="6240780" y="4361688"/>
            <a:ext cx="118872" cy="338328"/>
          </a:xfrm>
          <a:prstGeom prst="roundRect">
            <a:avLst>
              <a:gd name="adj" fmla="val 7692"/>
            </a:avLst>
          </a:prstGeom>
          <a:solidFill>
            <a:srgbClr val="6C5CE7"/>
          </a:solidFill>
          <a:ln w="10160">
            <a:solidFill>
              <a:srgbClr val="6C5CE7"/>
            </a:solidFill>
            <a:prstDash val="solid"/>
          </a:ln>
        </p:spPr>
        <p:txBody>
          <a:bodyPr/>
          <a:p/>
        </p:txBody>
      </p:sp>
      <p:sp>
        <p:nvSpPr>
          <p:cNvPr id="47" name="Text 45"/>
          <p:cNvSpPr/>
          <p:nvPr/>
        </p:nvSpPr>
        <p:spPr>
          <a:xfrm>
            <a:off x="4526280" y="4919472"/>
            <a:ext cx="3136392" cy="704088"/>
          </a:xfrm>
          <a:prstGeom prst="rect">
            <a:avLst/>
          </a:prstGeom>
          <a:noFill/>
          <a:ln/>
        </p:spPr>
        <p:txBody>
          <a:bodyPr wrap="square" lIns="0" tIns="0" rIns="0" bIns="0" rtlCol="0" anchor="ctr">
            <a:normAutofit/>
          </a:bodyPr>
          <a:lstStyle/>
          <a:p>
            <a:pPr algn="ctr" indent="0" marL="0">
              <a:buNone/>
            </a:pPr>
            <a:r>
              <a:rPr lang="en-US" sz="2400" b="1" dirty="0">
                <a:solidFill>
                  <a:srgbClr val="25344E"/>
                </a:solidFill>
                <a:latin typeface="Arial" pitchFamily="34" charset="0"/>
                <a:ea typeface="Arial" pitchFamily="34" charset="-122"/>
                <a:cs typeface="Arial" pitchFamily="34" charset="-120"/>
              </a:rPr>
              <a:t>Algorithm</a:t>
            </a:r>
            <a:endParaRPr lang="en-US" sz="2400" dirty="0"/>
          </a:p>
          <a:p>
            <a:pPr algn="ctr" indent="0" marL="0">
              <a:buNone/>
            </a:pPr>
            <a:r>
              <a:rPr lang="en-US" sz="2400" b="1" dirty="0">
                <a:solidFill>
                  <a:srgbClr val="25344E"/>
                </a:solidFill>
                <a:latin typeface="Arial" pitchFamily="34" charset="0"/>
                <a:ea typeface="Arial" pitchFamily="34" charset="-122"/>
                <a:cs typeface="Arial" pitchFamily="34" charset="-120"/>
              </a:rPr>
              <a:t>comparison</a:t>
            </a:r>
            <a:endParaRPr lang="en-US" sz="2400" dirty="0"/>
          </a:p>
        </p:txBody>
      </p:sp>
      <p:sp>
        <p:nvSpPr>
          <p:cNvPr id="48" name="Shape 46"/>
          <p:cNvSpPr/>
          <p:nvPr/>
        </p:nvSpPr>
        <p:spPr>
          <a:xfrm>
            <a:off x="8156448" y="3867912"/>
            <a:ext cx="3447288" cy="1993392"/>
          </a:xfrm>
          <a:prstGeom prst="roundRect">
            <a:avLst>
              <a:gd name="adj" fmla="val 5963"/>
            </a:avLst>
          </a:prstGeom>
          <a:solidFill>
            <a:srgbClr val="FFFFFF"/>
          </a:solidFill>
          <a:ln w="10160">
            <a:solidFill>
              <a:srgbClr val="DFE6F2"/>
            </a:solidFill>
            <a:prstDash val="solid"/>
          </a:ln>
        </p:spPr>
        <p:txBody>
          <a:bodyPr/>
          <a:p/>
        </p:txBody>
      </p:sp>
      <p:sp>
        <p:nvSpPr>
          <p:cNvPr id="49" name="Shape 47"/>
          <p:cNvSpPr/>
          <p:nvPr/>
        </p:nvSpPr>
        <p:spPr>
          <a:xfrm>
            <a:off x="9624060" y="4197096"/>
            <a:ext cx="0" cy="512064"/>
          </a:xfrm>
          <a:prstGeom prst="line">
            <a:avLst/>
          </a:prstGeom>
          <a:noFill/>
          <a:ln w="19050">
            <a:solidFill>
              <a:srgbClr val="138D87"/>
            </a:solidFill>
            <a:prstDash val="solid"/>
            <a:headEnd type="none"/>
            <a:tailEnd type="none"/>
          </a:ln>
        </p:spPr>
        <p:txBody>
          <a:bodyPr/>
          <a:p/>
        </p:txBody>
      </p:sp>
      <p:sp>
        <p:nvSpPr>
          <p:cNvPr id="50" name="Shape 48"/>
          <p:cNvSpPr/>
          <p:nvPr/>
        </p:nvSpPr>
        <p:spPr>
          <a:xfrm>
            <a:off x="9624060" y="4709160"/>
            <a:ext cx="548640" cy="0"/>
          </a:xfrm>
          <a:prstGeom prst="line">
            <a:avLst/>
          </a:prstGeom>
          <a:noFill/>
          <a:ln w="19050">
            <a:solidFill>
              <a:srgbClr val="138D87"/>
            </a:solidFill>
            <a:prstDash val="solid"/>
            <a:headEnd type="none"/>
            <a:tailEnd type="none"/>
          </a:ln>
        </p:spPr>
        <p:txBody>
          <a:bodyPr/>
          <a:p/>
        </p:txBody>
      </p:sp>
      <p:sp>
        <p:nvSpPr>
          <p:cNvPr id="51" name="Shape 49"/>
          <p:cNvSpPr/>
          <p:nvPr/>
        </p:nvSpPr>
        <p:spPr>
          <a:xfrm flipV="1">
            <a:off x="9697212" y="4434840"/>
            <a:ext cx="146304" cy="155448"/>
          </a:xfrm>
          <a:prstGeom prst="line">
            <a:avLst/>
          </a:prstGeom>
          <a:noFill/>
          <a:ln w="21590">
            <a:solidFill>
              <a:srgbClr val="138D87"/>
            </a:solidFill>
            <a:prstDash val="solid"/>
            <a:headEnd type="none"/>
            <a:tailEnd type="none"/>
          </a:ln>
        </p:spPr>
        <p:txBody>
          <a:bodyPr/>
          <a:p/>
        </p:txBody>
      </p:sp>
      <p:sp>
        <p:nvSpPr>
          <p:cNvPr id="52" name="Shape 50"/>
          <p:cNvSpPr/>
          <p:nvPr/>
        </p:nvSpPr>
        <p:spPr>
          <a:xfrm>
            <a:off x="9843516" y="4434840"/>
            <a:ext cx="128016" cy="54864"/>
          </a:xfrm>
          <a:prstGeom prst="line">
            <a:avLst/>
          </a:prstGeom>
          <a:noFill/>
          <a:ln w="21590">
            <a:solidFill>
              <a:srgbClr val="138D87"/>
            </a:solidFill>
            <a:prstDash val="solid"/>
            <a:headEnd type="none"/>
            <a:tailEnd type="none"/>
          </a:ln>
        </p:spPr>
        <p:txBody>
          <a:bodyPr/>
          <a:p/>
        </p:txBody>
      </p:sp>
      <p:sp>
        <p:nvSpPr>
          <p:cNvPr id="53" name="Shape 51"/>
          <p:cNvSpPr/>
          <p:nvPr/>
        </p:nvSpPr>
        <p:spPr>
          <a:xfrm flipV="1">
            <a:off x="9971532" y="4270248"/>
            <a:ext cx="192024" cy="219456"/>
          </a:xfrm>
          <a:prstGeom prst="line">
            <a:avLst/>
          </a:prstGeom>
          <a:noFill/>
          <a:ln w="21590">
            <a:solidFill>
              <a:srgbClr val="138D87"/>
            </a:solidFill>
            <a:prstDash val="solid"/>
            <a:headEnd type="none"/>
            <a:tailEnd type="none"/>
          </a:ln>
        </p:spPr>
        <p:txBody>
          <a:bodyPr/>
          <a:p/>
        </p:txBody>
      </p:sp>
      <p:sp>
        <p:nvSpPr>
          <p:cNvPr id="54" name="Text 52"/>
          <p:cNvSpPr/>
          <p:nvPr/>
        </p:nvSpPr>
        <p:spPr>
          <a:xfrm>
            <a:off x="8311896" y="4919472"/>
            <a:ext cx="3136392" cy="704088"/>
          </a:xfrm>
          <a:prstGeom prst="rect">
            <a:avLst/>
          </a:prstGeom>
          <a:noFill/>
          <a:ln/>
        </p:spPr>
        <p:txBody>
          <a:bodyPr wrap="square" lIns="0" tIns="0" rIns="0" bIns="0" rtlCol="0" anchor="ctr">
            <a:normAutofit/>
          </a:bodyPr>
          <a:lstStyle/>
          <a:p>
            <a:pPr algn="ctr" indent="0" marL="0">
              <a:buNone/>
            </a:pPr>
            <a:r>
              <a:rPr lang="en-US" sz="2400" b="1" dirty="0">
                <a:solidFill>
                  <a:srgbClr val="25344E"/>
                </a:solidFill>
                <a:latin typeface="Arial" pitchFamily="34" charset="0"/>
                <a:ea typeface="Arial" pitchFamily="34" charset="-122"/>
                <a:cs typeface="Arial" pitchFamily="34" charset="-120"/>
              </a:rPr>
              <a:t>Performance</a:t>
            </a:r>
            <a:endParaRPr lang="en-US" sz="2400" dirty="0"/>
          </a:p>
          <a:p>
            <a:pPr algn="ctr" indent="0" marL="0">
              <a:buNone/>
            </a:pPr>
            <a:r>
              <a:rPr lang="en-US" sz="2400" b="1" dirty="0">
                <a:solidFill>
                  <a:srgbClr val="25344E"/>
                </a:solidFill>
                <a:latin typeface="Arial" pitchFamily="34" charset="0"/>
                <a:ea typeface="Arial" pitchFamily="34" charset="-122"/>
                <a:cs typeface="Arial" pitchFamily="34" charset="-120"/>
              </a:rPr>
              <a:t>results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F"/>
        </a:solidFill>
      </p:bgPr>
    </p:bg>
    <p:spTree>
      <p:nvGrpSpPr>
        <p:cNvPr id="1" name=""/>
        <p:cNvGrpSpPr/>
        <p:nvPr/>
      </p:nvGrpSpPr>
      <p:grpSpPr>
        <a:xfrm>
          <a:off x="0" y="0"/>
          <a:ext cx="0" cy="0"/>
          <a:chOff x="0" y="0"/>
          <a:chExt cx="0" cy="0"/>
        </a:xfrm>
      </p:grpSpPr>
      <p:sp>
        <p:nvSpPr>
          <p:cNvPr id="4" name="Text 2"/>
          <p:cNvSpPr/>
          <p:nvPr/>
        </p:nvSpPr>
        <p:spPr>
          <a:xfrm>
            <a:off x="585216" y="832104"/>
            <a:ext cx="10314432" cy="530352"/>
          </a:xfrm>
          <a:prstGeom prst="rect">
            <a:avLst/>
          </a:prstGeom>
          <a:noFill/>
          <a:ln/>
        </p:spPr>
        <p:txBody>
          <a:bodyPr wrap="square" lIns="0" tIns="0" rIns="0" bIns="0" rtlCol="0" anchor="ctr">
            <a:normAutofit/>
          </a:bodyPr>
          <a:lstStyle/>
          <a:p>
            <a:pPr algn="l" indent="0" marL="0">
              <a:buNone/>
            </a:pPr>
            <a:r>
              <a:rPr lang="en-US" sz="2900" b="1" dirty="0">
                <a:solidFill>
                  <a:srgbClr val="25344E"/>
                </a:solidFill>
                <a:latin typeface="Arial" pitchFamily="34" charset="0"/>
                <a:ea typeface="Arial" pitchFamily="34" charset="-122"/>
                <a:cs typeface="Arial" pitchFamily="34" charset="-120"/>
              </a:rPr>
              <a:t>A* Algorithm and Heuristic</a:t>
            </a:r>
            <a:endParaRPr lang="en-US" sz="2900" dirty="0"/>
          </a:p>
        </p:txBody>
      </p:sp>
      <p:sp>
        <p:nvSpPr>
          <p:cNvPr id="5" name="Shape 3"/>
          <p:cNvSpPr/>
          <p:nvPr/>
        </p:nvSpPr>
        <p:spPr>
          <a:xfrm>
            <a:off x="10991088" y="877824"/>
            <a:ext cx="448056" cy="411480"/>
          </a:xfrm>
          <a:prstGeom prst="roundRect">
            <a:avLst>
              <a:gd name="adj" fmla="val 28889"/>
            </a:avLst>
          </a:prstGeom>
          <a:solidFill>
            <a:srgbClr val="FFFFFF"/>
          </a:solidFill>
          <a:ln w="10160">
            <a:solidFill>
              <a:srgbClr val="FFFFFF"/>
            </a:solidFill>
            <a:prstDash val="solid"/>
          </a:ln>
        </p:spPr>
        <p:txBody>
          <a:bodyPr/>
          <a:p/>
        </p:txBody>
      </p:sp>
      <p:sp>
        <p:nvSpPr>
          <p:cNvPr id="6" name="Text 4"/>
          <p:cNvSpPr/>
          <p:nvPr/>
        </p:nvSpPr>
        <p:spPr>
          <a:xfrm>
            <a:off x="11064240" y="900684"/>
            <a:ext cx="301752" cy="365760"/>
          </a:xfrm>
          <a:prstGeom prst="rect">
            <a:avLst/>
          </a:prstGeom>
          <a:noFill/>
          <a:ln/>
        </p:spPr>
        <p:txBody>
          <a:bodyPr wrap="square" lIns="0" tIns="0" rIns="0" bIns="0" rtlCol="0" anchor="ctr">
            <a:normAutofit/>
          </a:bodyPr>
          <a:lstStyle/>
          <a:p>
            <a:pPr algn="ctr" indent="0" marL="0">
              <a:buNone/>
            </a:pPr>
            <a:r>
              <a:rPr lang="en-US" sz="1300" b="1" dirty="0">
                <a:solidFill>
                  <a:srgbClr val="6C5CE7"/>
                </a:solidFill>
                <a:latin typeface="Arial" pitchFamily="34" charset="0"/>
                <a:ea typeface="Arial" pitchFamily="34" charset="-122"/>
                <a:cs typeface="Arial" pitchFamily="34" charset="-120"/>
              </a:rPr>
              <a:t>06</a:t>
            </a:r>
            <a:endParaRPr lang="en-US" sz="1300" dirty="0"/>
          </a:p>
        </p:txBody>
      </p:sp>
      <p:sp>
        <p:nvSpPr>
          <p:cNvPr id="7" name="Shape 5"/>
          <p:cNvSpPr/>
          <p:nvPr/>
        </p:nvSpPr>
        <p:spPr>
          <a:xfrm>
            <a:off x="585216" y="6451092"/>
            <a:ext cx="11021568" cy="0"/>
          </a:xfrm>
          <a:prstGeom prst="line">
            <a:avLst/>
          </a:prstGeom>
          <a:noFill/>
          <a:ln w="9525">
            <a:solidFill>
              <a:srgbClr val="DFE6F2"/>
            </a:solidFill>
            <a:prstDash val="solid"/>
            <a:headEnd type="none"/>
            <a:tailEnd type="none"/>
          </a:ln>
        </p:spPr>
        <p:txBody>
          <a:bodyPr/>
          <a:p/>
        </p:txBody>
      </p:sp>
      <p:sp>
        <p:nvSpPr>
          <p:cNvPr id="9" name="Shape 7"/>
          <p:cNvSpPr/>
          <p:nvPr/>
        </p:nvSpPr>
        <p:spPr>
          <a:xfrm>
            <a:off x="10131552" y="6588252"/>
            <a:ext cx="27432" cy="27432"/>
          </a:xfrm>
          <a:prstGeom prst="ellipse">
            <a:avLst/>
          </a:prstGeom>
          <a:solidFill>
            <a:srgbClr val="DFE6F2"/>
          </a:solidFill>
          <a:ln w="12700">
            <a:solidFill>
              <a:srgbClr val="DFE6F2">
                <a:alpha val="0"/>
              </a:srgbClr>
            </a:solidFill>
            <a:prstDash val="solid"/>
          </a:ln>
        </p:spPr>
        <p:txBody>
          <a:bodyPr/>
          <a:p/>
        </p:txBody>
      </p:sp>
      <p:sp>
        <p:nvSpPr>
          <p:cNvPr id="10" name="Shape 8"/>
          <p:cNvSpPr/>
          <p:nvPr/>
        </p:nvSpPr>
        <p:spPr>
          <a:xfrm>
            <a:off x="10232136" y="6588252"/>
            <a:ext cx="27432" cy="27432"/>
          </a:xfrm>
          <a:prstGeom prst="ellipse">
            <a:avLst/>
          </a:prstGeom>
          <a:solidFill>
            <a:srgbClr val="DFE6F2"/>
          </a:solidFill>
          <a:ln w="12700">
            <a:solidFill>
              <a:srgbClr val="DFE6F2">
                <a:alpha val="0"/>
              </a:srgbClr>
            </a:solidFill>
            <a:prstDash val="solid"/>
          </a:ln>
        </p:spPr>
        <p:txBody>
          <a:bodyPr/>
          <a:p/>
        </p:txBody>
      </p:sp>
      <p:sp>
        <p:nvSpPr>
          <p:cNvPr id="11" name="Shape 9"/>
          <p:cNvSpPr/>
          <p:nvPr/>
        </p:nvSpPr>
        <p:spPr>
          <a:xfrm>
            <a:off x="10332720" y="6588252"/>
            <a:ext cx="27432" cy="27432"/>
          </a:xfrm>
          <a:prstGeom prst="ellipse">
            <a:avLst/>
          </a:prstGeom>
          <a:solidFill>
            <a:srgbClr val="DFE6F2"/>
          </a:solidFill>
          <a:ln w="12700">
            <a:solidFill>
              <a:srgbClr val="DFE6F2">
                <a:alpha val="0"/>
              </a:srgbClr>
            </a:solidFill>
            <a:prstDash val="solid"/>
          </a:ln>
        </p:spPr>
        <p:txBody>
          <a:bodyPr/>
          <a:p/>
        </p:txBody>
      </p:sp>
      <p:sp>
        <p:nvSpPr>
          <p:cNvPr id="12" name="Shape 10"/>
          <p:cNvSpPr/>
          <p:nvPr/>
        </p:nvSpPr>
        <p:spPr>
          <a:xfrm>
            <a:off x="10433304" y="6588252"/>
            <a:ext cx="27432" cy="27432"/>
          </a:xfrm>
          <a:prstGeom prst="ellipse">
            <a:avLst/>
          </a:prstGeom>
          <a:solidFill>
            <a:srgbClr val="DFE6F2"/>
          </a:solidFill>
          <a:ln w="12700">
            <a:solidFill>
              <a:srgbClr val="DFE6F2">
                <a:alpha val="0"/>
              </a:srgbClr>
            </a:solidFill>
            <a:prstDash val="solid"/>
          </a:ln>
        </p:spPr>
        <p:txBody>
          <a:bodyPr/>
          <a:p/>
        </p:txBody>
      </p:sp>
      <p:sp>
        <p:nvSpPr>
          <p:cNvPr id="13" name="Shape 11"/>
          <p:cNvSpPr/>
          <p:nvPr/>
        </p:nvSpPr>
        <p:spPr>
          <a:xfrm>
            <a:off x="10533888" y="6588252"/>
            <a:ext cx="27432" cy="27432"/>
          </a:xfrm>
          <a:prstGeom prst="ellipse">
            <a:avLst/>
          </a:prstGeom>
          <a:solidFill>
            <a:srgbClr val="DFE6F2"/>
          </a:solidFill>
          <a:ln w="12700">
            <a:solidFill>
              <a:srgbClr val="DFE6F2">
                <a:alpha val="0"/>
              </a:srgbClr>
            </a:solidFill>
            <a:prstDash val="solid"/>
          </a:ln>
        </p:spPr>
        <p:txBody>
          <a:bodyPr/>
          <a:p/>
        </p:txBody>
      </p:sp>
      <p:sp>
        <p:nvSpPr>
          <p:cNvPr id="14" name="Shape 12"/>
          <p:cNvSpPr/>
          <p:nvPr/>
        </p:nvSpPr>
        <p:spPr>
          <a:xfrm>
            <a:off x="10634472" y="6588252"/>
            <a:ext cx="27432" cy="27432"/>
          </a:xfrm>
          <a:prstGeom prst="ellipse">
            <a:avLst/>
          </a:prstGeom>
          <a:solidFill>
            <a:srgbClr val="6C5CE7"/>
          </a:solidFill>
          <a:ln w="12700">
            <a:solidFill>
              <a:srgbClr val="6C5CE7">
                <a:alpha val="0"/>
              </a:srgbClr>
            </a:solidFill>
            <a:prstDash val="solid"/>
          </a:ln>
        </p:spPr>
        <p:txBody>
          <a:bodyPr/>
          <a:p/>
        </p:txBody>
      </p:sp>
      <p:sp>
        <p:nvSpPr>
          <p:cNvPr id="15" name="Shape 13"/>
          <p:cNvSpPr/>
          <p:nvPr/>
        </p:nvSpPr>
        <p:spPr>
          <a:xfrm>
            <a:off x="10735056" y="6588252"/>
            <a:ext cx="27432" cy="27432"/>
          </a:xfrm>
          <a:prstGeom prst="ellipse">
            <a:avLst/>
          </a:prstGeom>
          <a:solidFill>
            <a:srgbClr val="DFE6F2"/>
          </a:solidFill>
          <a:ln w="12700">
            <a:solidFill>
              <a:srgbClr val="DFE6F2">
                <a:alpha val="0"/>
              </a:srgbClr>
            </a:solidFill>
            <a:prstDash val="solid"/>
          </a:ln>
        </p:spPr>
        <p:txBody>
          <a:bodyPr/>
          <a:p/>
        </p:txBody>
      </p:sp>
      <p:sp>
        <p:nvSpPr>
          <p:cNvPr id="16" name="Shape 14"/>
          <p:cNvSpPr/>
          <p:nvPr/>
        </p:nvSpPr>
        <p:spPr>
          <a:xfrm>
            <a:off x="10835640" y="6588252"/>
            <a:ext cx="27432" cy="27432"/>
          </a:xfrm>
          <a:prstGeom prst="ellipse">
            <a:avLst/>
          </a:prstGeom>
          <a:solidFill>
            <a:srgbClr val="DFE6F2"/>
          </a:solidFill>
          <a:ln w="12700">
            <a:solidFill>
              <a:srgbClr val="DFE6F2">
                <a:alpha val="0"/>
              </a:srgbClr>
            </a:solidFill>
            <a:prstDash val="solid"/>
          </a:ln>
        </p:spPr>
        <p:txBody>
          <a:bodyPr/>
          <a:p/>
        </p:txBody>
      </p:sp>
      <p:sp>
        <p:nvSpPr>
          <p:cNvPr id="17" name="Shape 15"/>
          <p:cNvSpPr/>
          <p:nvPr/>
        </p:nvSpPr>
        <p:spPr>
          <a:xfrm>
            <a:off x="10936224" y="6588252"/>
            <a:ext cx="27432" cy="27432"/>
          </a:xfrm>
          <a:prstGeom prst="ellipse">
            <a:avLst/>
          </a:prstGeom>
          <a:solidFill>
            <a:srgbClr val="DFE6F2"/>
          </a:solidFill>
          <a:ln w="12700">
            <a:solidFill>
              <a:srgbClr val="DFE6F2">
                <a:alpha val="0"/>
              </a:srgbClr>
            </a:solidFill>
            <a:prstDash val="solid"/>
          </a:ln>
        </p:spPr>
        <p:txBody>
          <a:bodyPr/>
          <a:p/>
        </p:txBody>
      </p:sp>
      <p:sp>
        <p:nvSpPr>
          <p:cNvPr id="18" name="Shape 16"/>
          <p:cNvSpPr/>
          <p:nvPr/>
        </p:nvSpPr>
        <p:spPr>
          <a:xfrm>
            <a:off x="11036808" y="6588252"/>
            <a:ext cx="27432" cy="27432"/>
          </a:xfrm>
          <a:prstGeom prst="ellipse">
            <a:avLst/>
          </a:prstGeom>
          <a:solidFill>
            <a:srgbClr val="DFE6F2"/>
          </a:solidFill>
          <a:ln w="12700">
            <a:solidFill>
              <a:srgbClr val="DFE6F2">
                <a:alpha val="0"/>
              </a:srgbClr>
            </a:solidFill>
            <a:prstDash val="solid"/>
          </a:ln>
        </p:spPr>
        <p:txBody>
          <a:bodyPr/>
          <a:p/>
        </p:txBody>
      </p:sp>
      <p:sp>
        <p:nvSpPr>
          <p:cNvPr id="19" name="Text 17"/>
          <p:cNvSpPr/>
          <p:nvPr/>
        </p:nvSpPr>
        <p:spPr>
          <a:xfrm>
            <a:off x="11228832" y="6519672"/>
            <a:ext cx="338328" cy="173736"/>
          </a:xfrm>
          <a:prstGeom prst="rect">
            <a:avLst/>
          </a:prstGeom>
          <a:noFill/>
          <a:ln/>
        </p:spPr>
        <p:txBody>
          <a:bodyPr wrap="square" lIns="0" tIns="0" rIns="0" bIns="0" rtlCol="0" anchor="ctr">
            <a:normAutofit/>
          </a:bodyPr>
          <a:lstStyle/>
          <a:p>
            <a:pPr algn="ctr" indent="0" marL="0">
              <a:buNone/>
            </a:pPr>
            <a:r>
              <a:rPr lang="en-US" sz="920" b="1" dirty="0">
                <a:solidFill>
                  <a:srgbClr val="4E5F7B"/>
                </a:solidFill>
                <a:latin typeface="Arial" pitchFamily="34" charset="0"/>
                <a:ea typeface="Arial" pitchFamily="34" charset="-122"/>
                <a:cs typeface="Arial" pitchFamily="34" charset="-120"/>
              </a:rPr>
              <a:t>06</a:t>
            </a:r>
            <a:endParaRPr lang="en-US" sz="920" dirty="0"/>
          </a:p>
        </p:txBody>
      </p:sp>
      <p:sp>
        <p:nvSpPr>
          <p:cNvPr id="20" name="Shape 18"/>
          <p:cNvSpPr/>
          <p:nvPr/>
        </p:nvSpPr>
        <p:spPr>
          <a:xfrm>
            <a:off x="585216" y="1618488"/>
            <a:ext cx="6565392" cy="4288536"/>
          </a:xfrm>
          <a:prstGeom prst="roundRect">
            <a:avLst>
              <a:gd name="adj" fmla="val 2772"/>
            </a:avLst>
          </a:prstGeom>
          <a:solidFill>
            <a:srgbClr val="FFFFFF"/>
          </a:solidFill>
          <a:ln w="10160">
            <a:solidFill>
              <a:srgbClr val="DFE6F2"/>
            </a:solidFill>
            <a:prstDash val="solid"/>
          </a:ln>
        </p:spPr>
        <p:txBody>
          <a:bodyPr/>
          <a:p/>
        </p:txBody>
      </p:sp>
      <p:sp>
        <p:nvSpPr>
          <p:cNvPr id="21" name="Shape 19"/>
          <p:cNvSpPr/>
          <p:nvPr/>
        </p:nvSpPr>
        <p:spPr>
          <a:xfrm>
            <a:off x="7434072" y="1618488"/>
            <a:ext cx="4169664" cy="4288536"/>
          </a:xfrm>
          <a:prstGeom prst="roundRect">
            <a:avLst>
              <a:gd name="adj" fmla="val 2851"/>
            </a:avLst>
          </a:prstGeom>
          <a:solidFill>
            <a:srgbClr val="FFFFFF"/>
          </a:solidFill>
          <a:ln w="10160">
            <a:solidFill>
              <a:srgbClr val="DFE6F2"/>
            </a:solidFill>
            <a:prstDash val="solid"/>
          </a:ln>
        </p:spPr>
        <p:txBody>
          <a:bodyPr/>
          <a:p/>
        </p:txBody>
      </p:sp>
      <p:sp>
        <p:nvSpPr>
          <p:cNvPr id="22" name="Shape 20"/>
          <p:cNvSpPr/>
          <p:nvPr/>
        </p:nvSpPr>
        <p:spPr>
          <a:xfrm>
            <a:off x="859536" y="1901952"/>
            <a:ext cx="6016752" cy="822960"/>
          </a:xfrm>
          <a:prstGeom prst="roundRect">
            <a:avLst>
              <a:gd name="adj" fmla="val 14444"/>
            </a:avLst>
          </a:prstGeom>
          <a:solidFill>
            <a:srgbClr val="EFECFD"/>
          </a:solidFill>
          <a:ln w="10160">
            <a:solidFill>
              <a:srgbClr val="EFECFD"/>
            </a:solidFill>
            <a:prstDash val="solid"/>
          </a:ln>
        </p:spPr>
        <p:txBody>
          <a:bodyPr/>
          <a:p/>
        </p:txBody>
      </p:sp>
      <p:sp>
        <p:nvSpPr>
          <p:cNvPr id="23" name="Text 21"/>
          <p:cNvSpPr/>
          <p:nvPr/>
        </p:nvSpPr>
        <p:spPr>
          <a:xfrm>
            <a:off x="969264" y="2066544"/>
            <a:ext cx="5797296" cy="475488"/>
          </a:xfrm>
          <a:prstGeom prst="rect">
            <a:avLst/>
          </a:prstGeom>
          <a:noFill/>
          <a:ln/>
        </p:spPr>
        <p:txBody>
          <a:bodyPr wrap="square" lIns="0" tIns="0" rIns="0" bIns="0" rtlCol="0" anchor="ctr"/>
          <a:lstStyle/>
          <a:p>
            <a:pPr algn="ctr" indent="0" marL="0">
              <a:buNone/>
            </a:pPr>
            <a:r>
              <a:rPr lang="en-US" sz="3300" b="1" dirty="0">
                <a:solidFill>
                  <a:srgbClr val="6C5CE7"/>
                </a:solidFill>
                <a:latin typeface="Arial" pitchFamily="34" charset="0"/>
                <a:ea typeface="Arial" pitchFamily="34" charset="-122"/>
                <a:cs typeface="Arial" pitchFamily="34" charset="-120"/>
              </a:rPr>
              <a:t>f(n)</a:t>
            </a:r>
            <a:pPr algn="ctr" indent="0" marL="0">
              <a:buNone/>
            </a:pPr>
            <a:r>
              <a:rPr lang="en-US" sz="3300" b="1" dirty="0">
                <a:solidFill>
                  <a:srgbClr val="25344E"/>
                </a:solidFill>
                <a:latin typeface="Arial" pitchFamily="34" charset="0"/>
                <a:ea typeface="Arial" pitchFamily="34" charset="-122"/>
                <a:cs typeface="Arial" pitchFamily="34" charset="-120"/>
              </a:rPr>
              <a:t> = </a:t>
            </a:r>
            <a:pPr algn="ctr" indent="0" marL="0">
              <a:buNone/>
            </a:pPr>
            <a:r>
              <a:rPr lang="en-US" sz="3300" b="1" dirty="0">
                <a:solidFill>
                  <a:srgbClr val="138D87"/>
                </a:solidFill>
                <a:latin typeface="Arial" pitchFamily="34" charset="0"/>
                <a:ea typeface="Arial" pitchFamily="34" charset="-122"/>
                <a:cs typeface="Arial" pitchFamily="34" charset="-120"/>
              </a:rPr>
              <a:t>g(n)</a:t>
            </a:r>
            <a:pPr algn="ctr" indent="0" marL="0">
              <a:buNone/>
            </a:pPr>
            <a:r>
              <a:rPr lang="en-US" sz="3300" b="1" dirty="0">
                <a:solidFill>
                  <a:srgbClr val="25344E"/>
                </a:solidFill>
                <a:latin typeface="Arial" pitchFamily="34" charset="0"/>
                <a:ea typeface="Arial" pitchFamily="34" charset="-122"/>
                <a:cs typeface="Arial" pitchFamily="34" charset="-120"/>
              </a:rPr>
              <a:t> + </a:t>
            </a:r>
            <a:pPr algn="ctr" indent="0" marL="0">
              <a:buNone/>
            </a:pPr>
            <a:r>
              <a:rPr lang="en-US" sz="3300" b="1" dirty="0">
                <a:solidFill>
                  <a:srgbClr val="3977D5"/>
                </a:solidFill>
                <a:latin typeface="Arial" pitchFamily="34" charset="0"/>
                <a:ea typeface="Arial" pitchFamily="34" charset="-122"/>
                <a:cs typeface="Arial" pitchFamily="34" charset="-120"/>
              </a:rPr>
              <a:t>h(n)</a:t>
            </a:r>
            <a:endParaRPr lang="en-US" sz="3300" dirty="0"/>
          </a:p>
        </p:txBody>
      </p:sp>
      <p:sp>
        <p:nvSpPr>
          <p:cNvPr id="24" name="Shape 22"/>
          <p:cNvSpPr/>
          <p:nvPr/>
        </p:nvSpPr>
        <p:spPr>
          <a:xfrm>
            <a:off x="1033272" y="2926080"/>
            <a:ext cx="868680" cy="402336"/>
          </a:xfrm>
          <a:prstGeom prst="roundRect">
            <a:avLst>
              <a:gd name="adj" fmla="val 29545"/>
            </a:avLst>
          </a:prstGeom>
          <a:solidFill>
            <a:srgbClr val="E7F6F2"/>
          </a:solidFill>
          <a:ln w="10160">
            <a:solidFill>
              <a:srgbClr val="E7F6F2"/>
            </a:solidFill>
            <a:prstDash val="solid"/>
          </a:ln>
        </p:spPr>
        <p:txBody>
          <a:bodyPr/>
          <a:p/>
        </p:txBody>
      </p:sp>
      <p:sp>
        <p:nvSpPr>
          <p:cNvPr id="25" name="Text 23"/>
          <p:cNvSpPr/>
          <p:nvPr/>
        </p:nvSpPr>
        <p:spPr>
          <a:xfrm>
            <a:off x="1106424" y="2948940"/>
            <a:ext cx="722376" cy="356616"/>
          </a:xfrm>
          <a:prstGeom prst="rect">
            <a:avLst/>
          </a:prstGeom>
          <a:noFill/>
          <a:ln/>
        </p:spPr>
        <p:txBody>
          <a:bodyPr wrap="square" lIns="0" tIns="0" rIns="0" bIns="0" rtlCol="0" anchor="ctr">
            <a:normAutofit/>
          </a:bodyPr>
          <a:lstStyle/>
          <a:p>
            <a:pPr algn="ctr" indent="0" marL="0">
              <a:buNone/>
            </a:pPr>
            <a:r>
              <a:rPr lang="en-US" sz="2100" b="1" dirty="0">
                <a:solidFill>
                  <a:srgbClr val="138D87"/>
                </a:solidFill>
                <a:latin typeface="Arial" pitchFamily="34" charset="0"/>
                <a:ea typeface="Arial" pitchFamily="34" charset="-122"/>
                <a:cs typeface="Arial" pitchFamily="34" charset="-120"/>
              </a:rPr>
              <a:t>g(n)</a:t>
            </a:r>
            <a:endParaRPr lang="en-US" sz="2100" dirty="0"/>
          </a:p>
        </p:txBody>
      </p:sp>
      <p:sp>
        <p:nvSpPr>
          <p:cNvPr id="26" name="Text 24"/>
          <p:cNvSpPr/>
          <p:nvPr/>
        </p:nvSpPr>
        <p:spPr>
          <a:xfrm>
            <a:off x="2130552" y="2926080"/>
            <a:ext cx="4297680" cy="402336"/>
          </a:xfrm>
          <a:prstGeom prst="rect">
            <a:avLst/>
          </a:prstGeom>
          <a:noFill/>
          <a:ln/>
        </p:spPr>
        <p:txBody>
          <a:bodyPr wrap="square" lIns="0" tIns="0" rIns="0" bIns="0" rtlCol="0" anchor="ctr">
            <a:normAutofit/>
          </a:bodyPr>
          <a:lstStyle/>
          <a:p>
            <a:pPr algn="ctr" indent="0" marL="0">
              <a:buNone/>
            </a:pPr>
            <a:r>
              <a:rPr lang="en-US" sz="2200" dirty="0">
                <a:solidFill>
                  <a:srgbClr val="4E5F7B"/>
                </a:solidFill>
                <a:latin typeface="Arial" pitchFamily="34" charset="0"/>
                <a:ea typeface="Arial" pitchFamily="34" charset="-122"/>
                <a:cs typeface="Arial" pitchFamily="34" charset="-120"/>
              </a:rPr>
              <a:t>Cost so far</a:t>
            </a:r>
            <a:endParaRPr lang="en-US" sz="2200" dirty="0"/>
          </a:p>
        </p:txBody>
      </p:sp>
      <p:sp>
        <p:nvSpPr>
          <p:cNvPr id="27" name="Shape 25"/>
          <p:cNvSpPr/>
          <p:nvPr/>
        </p:nvSpPr>
        <p:spPr>
          <a:xfrm>
            <a:off x="1033272" y="3493008"/>
            <a:ext cx="868680" cy="402336"/>
          </a:xfrm>
          <a:prstGeom prst="roundRect">
            <a:avLst>
              <a:gd name="adj" fmla="val 29545"/>
            </a:avLst>
          </a:prstGeom>
          <a:solidFill>
            <a:srgbClr val="EAF2FE"/>
          </a:solidFill>
          <a:ln w="10160">
            <a:solidFill>
              <a:srgbClr val="EAF2FE"/>
            </a:solidFill>
            <a:prstDash val="solid"/>
          </a:ln>
        </p:spPr>
        <p:txBody>
          <a:bodyPr/>
          <a:p/>
        </p:txBody>
      </p:sp>
      <p:sp>
        <p:nvSpPr>
          <p:cNvPr id="28" name="Text 26"/>
          <p:cNvSpPr/>
          <p:nvPr/>
        </p:nvSpPr>
        <p:spPr>
          <a:xfrm>
            <a:off x="1106424" y="3515868"/>
            <a:ext cx="722376" cy="356616"/>
          </a:xfrm>
          <a:prstGeom prst="rect">
            <a:avLst/>
          </a:prstGeom>
          <a:noFill/>
          <a:ln/>
        </p:spPr>
        <p:txBody>
          <a:bodyPr wrap="square" lIns="0" tIns="0" rIns="0" bIns="0" rtlCol="0" anchor="ctr">
            <a:normAutofit/>
          </a:bodyPr>
          <a:lstStyle/>
          <a:p>
            <a:pPr algn="ctr" indent="0" marL="0">
              <a:buNone/>
            </a:pPr>
            <a:r>
              <a:rPr lang="en-US" sz="2100" b="1" dirty="0">
                <a:solidFill>
                  <a:srgbClr val="3977D5"/>
                </a:solidFill>
                <a:latin typeface="Arial" pitchFamily="34" charset="0"/>
                <a:ea typeface="Arial" pitchFamily="34" charset="-122"/>
                <a:cs typeface="Arial" pitchFamily="34" charset="-120"/>
              </a:rPr>
              <a:t>h(n)</a:t>
            </a:r>
            <a:endParaRPr lang="en-US" sz="2100" dirty="0"/>
          </a:p>
        </p:txBody>
      </p:sp>
      <p:sp>
        <p:nvSpPr>
          <p:cNvPr id="29" name="Text 27"/>
          <p:cNvSpPr/>
          <p:nvPr/>
        </p:nvSpPr>
        <p:spPr>
          <a:xfrm>
            <a:off x="2130552" y="3493008"/>
            <a:ext cx="4297680" cy="402336"/>
          </a:xfrm>
          <a:prstGeom prst="rect">
            <a:avLst/>
          </a:prstGeom>
          <a:noFill/>
          <a:ln/>
        </p:spPr>
        <p:txBody>
          <a:bodyPr wrap="square" lIns="0" tIns="0" rIns="0" bIns="0" rtlCol="0" anchor="ctr">
            <a:normAutofit/>
          </a:bodyPr>
          <a:lstStyle/>
          <a:p>
            <a:pPr algn="ctr" indent="0" marL="0">
              <a:buNone/>
            </a:pPr>
            <a:r>
              <a:rPr lang="en-US" sz="2200" dirty="0">
                <a:solidFill>
                  <a:srgbClr val="4E5F7B"/>
                </a:solidFill>
                <a:latin typeface="Arial" pitchFamily="34" charset="0"/>
                <a:ea typeface="Arial" pitchFamily="34" charset="-122"/>
                <a:cs typeface="Arial" pitchFamily="34" charset="-120"/>
              </a:rPr>
              <a:t>Estimated distance</a:t>
            </a:r>
            <a:endParaRPr lang="en-US" sz="2200" dirty="0"/>
          </a:p>
        </p:txBody>
      </p:sp>
      <p:sp>
        <p:nvSpPr>
          <p:cNvPr id="30" name="Shape 28"/>
          <p:cNvSpPr/>
          <p:nvPr/>
        </p:nvSpPr>
        <p:spPr>
          <a:xfrm>
            <a:off x="1033272" y="4059936"/>
            <a:ext cx="868680" cy="402336"/>
          </a:xfrm>
          <a:prstGeom prst="roundRect">
            <a:avLst>
              <a:gd name="adj" fmla="val 29545"/>
            </a:avLst>
          </a:prstGeom>
          <a:solidFill>
            <a:srgbClr val="EFECFD"/>
          </a:solidFill>
          <a:ln w="10160">
            <a:solidFill>
              <a:srgbClr val="EFECFD"/>
            </a:solidFill>
            <a:prstDash val="solid"/>
          </a:ln>
        </p:spPr>
        <p:txBody>
          <a:bodyPr/>
          <a:p/>
        </p:txBody>
      </p:sp>
      <p:sp>
        <p:nvSpPr>
          <p:cNvPr id="31" name="Text 29"/>
          <p:cNvSpPr/>
          <p:nvPr/>
        </p:nvSpPr>
        <p:spPr>
          <a:xfrm>
            <a:off x="1106424" y="4082796"/>
            <a:ext cx="722376" cy="356616"/>
          </a:xfrm>
          <a:prstGeom prst="rect">
            <a:avLst/>
          </a:prstGeom>
          <a:noFill/>
          <a:ln/>
        </p:spPr>
        <p:txBody>
          <a:bodyPr wrap="square" lIns="0" tIns="0" rIns="0" bIns="0" rtlCol="0" anchor="ctr">
            <a:normAutofit/>
          </a:bodyPr>
          <a:lstStyle/>
          <a:p>
            <a:pPr algn="ctr" indent="0" marL="0">
              <a:buNone/>
            </a:pPr>
            <a:r>
              <a:rPr lang="en-US" sz="2100" b="1" dirty="0">
                <a:solidFill>
                  <a:srgbClr val="6C5CE7"/>
                </a:solidFill>
                <a:latin typeface="Arial" pitchFamily="34" charset="0"/>
                <a:ea typeface="Arial" pitchFamily="34" charset="-122"/>
                <a:cs typeface="Arial" pitchFamily="34" charset="-120"/>
              </a:rPr>
              <a:t>f(n)</a:t>
            </a:r>
            <a:endParaRPr lang="en-US" sz="2100" dirty="0"/>
          </a:p>
        </p:txBody>
      </p:sp>
      <p:sp>
        <p:nvSpPr>
          <p:cNvPr id="32" name="Text 30"/>
          <p:cNvSpPr/>
          <p:nvPr/>
        </p:nvSpPr>
        <p:spPr>
          <a:xfrm>
            <a:off x="2130552" y="4059936"/>
            <a:ext cx="4297680" cy="402336"/>
          </a:xfrm>
          <a:prstGeom prst="rect">
            <a:avLst/>
          </a:prstGeom>
          <a:noFill/>
          <a:ln/>
        </p:spPr>
        <p:txBody>
          <a:bodyPr wrap="square" lIns="0" tIns="0" rIns="0" bIns="0" rtlCol="0" anchor="ctr">
            <a:normAutofit/>
          </a:bodyPr>
          <a:lstStyle/>
          <a:p>
            <a:pPr algn="ctr" indent="0" marL="0">
              <a:buNone/>
            </a:pPr>
            <a:r>
              <a:rPr lang="en-US" sz="2200" dirty="0">
                <a:solidFill>
                  <a:srgbClr val="4E5F7B"/>
                </a:solidFill>
                <a:latin typeface="Arial" pitchFamily="34" charset="0"/>
                <a:ea typeface="Arial" pitchFamily="34" charset="-122"/>
                <a:cs typeface="Arial" pitchFamily="34" charset="-120"/>
              </a:rPr>
              <a:t>Search priority</a:t>
            </a:r>
            <a:endParaRPr lang="en-US" sz="2200" dirty="0"/>
          </a:p>
        </p:txBody>
      </p:sp>
      <p:sp>
        <p:nvSpPr>
          <p:cNvPr id="33" name="Shape 31"/>
          <p:cNvSpPr/>
          <p:nvPr/>
        </p:nvSpPr>
        <p:spPr>
          <a:xfrm>
            <a:off x="960120" y="4736592"/>
            <a:ext cx="5806440" cy="0"/>
          </a:xfrm>
          <a:prstGeom prst="line">
            <a:avLst/>
          </a:prstGeom>
          <a:noFill/>
          <a:ln w="10160">
            <a:solidFill>
              <a:srgbClr val="DFE6F2"/>
            </a:solidFill>
            <a:prstDash val="solid"/>
            <a:headEnd type="none"/>
            <a:tailEnd type="none"/>
          </a:ln>
        </p:spPr>
        <p:txBody>
          <a:bodyPr/>
          <a:p/>
        </p:txBody>
      </p:sp>
      <p:sp>
        <p:nvSpPr>
          <p:cNvPr id="34" name="Text 32"/>
          <p:cNvSpPr/>
          <p:nvPr/>
        </p:nvSpPr>
        <p:spPr>
          <a:xfrm>
            <a:off x="932688" y="4919472"/>
            <a:ext cx="5843016" cy="292608"/>
          </a:xfrm>
          <a:prstGeom prst="rect">
            <a:avLst/>
          </a:prstGeom>
          <a:noFill/>
          <a:ln/>
        </p:spPr>
        <p:txBody>
          <a:bodyPr wrap="square" lIns="0" tIns="0" rIns="0" bIns="0" rtlCol="0" anchor="ctr">
            <a:normAutofit/>
          </a:bodyPr>
          <a:lstStyle/>
          <a:p>
            <a:pPr algn="ctr" indent="0" marL="0">
              <a:buNone/>
            </a:pPr>
            <a:r>
              <a:rPr lang="en-US" sz="1800" b="1" dirty="0">
                <a:solidFill>
                  <a:srgbClr val="25344E"/>
                </a:solidFill>
                <a:latin typeface="Arial" pitchFamily="34" charset="0"/>
                <a:ea typeface="Arial" pitchFamily="34" charset="-122"/>
                <a:cs typeface="Arial" pitchFamily="34" charset="-120"/>
              </a:rPr>
              <a:t>Manhattan distance</a:t>
            </a:r>
            <a:endParaRPr lang="en-US" sz="1800" dirty="0"/>
          </a:p>
        </p:txBody>
      </p:sp>
      <p:sp>
        <p:nvSpPr>
          <p:cNvPr id="35" name="Text 33"/>
          <p:cNvSpPr/>
          <p:nvPr/>
        </p:nvSpPr>
        <p:spPr>
          <a:xfrm>
            <a:off x="914400" y="5385816"/>
            <a:ext cx="5907024" cy="347472"/>
          </a:xfrm>
          <a:prstGeom prst="rect">
            <a:avLst/>
          </a:prstGeom>
          <a:noFill/>
          <a:ln/>
        </p:spPr>
        <p:txBody>
          <a:bodyPr wrap="square" lIns="0" tIns="0" rIns="0" bIns="0" rtlCol="0" anchor="ctr"/>
          <a:lstStyle/>
          <a:p>
            <a:pPr algn="ctr" indent="0" marL="0">
              <a:buNone/>
            </a:pPr>
            <a:r>
              <a:rPr lang="en-US" sz="2500" b="1" dirty="0">
                <a:solidFill>
                  <a:srgbClr val="138D87"/>
                </a:solidFill>
                <a:latin typeface="Arial" pitchFamily="34" charset="0"/>
                <a:ea typeface="Arial" pitchFamily="34" charset="-122"/>
                <a:cs typeface="Arial" pitchFamily="34" charset="-120"/>
              </a:rPr>
              <a:t>h(n) = |x</a:t>
            </a:r>
            <a:pPr algn="ctr" indent="0" marL="0">
              <a:buNone/>
            </a:pPr>
            <a:r>
              <a:rPr lang="en-US" sz="1500" b="1" baseline="-40000" dirty="0">
                <a:solidFill>
                  <a:srgbClr val="138D87"/>
                </a:solidFill>
                <a:latin typeface="Arial" pitchFamily="34" charset="0"/>
                <a:ea typeface="Arial" pitchFamily="34" charset="-122"/>
                <a:cs typeface="Arial" pitchFamily="34" charset="-120"/>
              </a:rPr>
              <a:t>n</a:t>
            </a:r>
            <a:pPr algn="ctr" indent="0" marL="0">
              <a:buNone/>
            </a:pPr>
            <a:r>
              <a:rPr lang="en-US" sz="2500" b="1" dirty="0">
                <a:solidFill>
                  <a:srgbClr val="138D87"/>
                </a:solidFill>
                <a:latin typeface="Arial" pitchFamily="34" charset="0"/>
                <a:ea typeface="Arial" pitchFamily="34" charset="-122"/>
                <a:cs typeface="Arial" pitchFamily="34" charset="-120"/>
              </a:rPr>
              <a:t> − x</a:t>
            </a:r>
            <a:pPr algn="ctr" indent="0" marL="0">
              <a:buNone/>
            </a:pPr>
            <a:r>
              <a:rPr lang="en-US" sz="1500" b="1" baseline="-40000" dirty="0">
                <a:solidFill>
                  <a:srgbClr val="138D87"/>
                </a:solidFill>
                <a:latin typeface="Arial" pitchFamily="34" charset="0"/>
                <a:ea typeface="Arial" pitchFamily="34" charset="-122"/>
                <a:cs typeface="Arial" pitchFamily="34" charset="-120"/>
              </a:rPr>
              <a:t>e</a:t>
            </a:r>
            <a:pPr algn="ctr" indent="0" marL="0">
              <a:buNone/>
            </a:pPr>
            <a:r>
              <a:rPr lang="en-US" sz="2500" b="1" dirty="0">
                <a:solidFill>
                  <a:srgbClr val="138D87"/>
                </a:solidFill>
                <a:latin typeface="Arial" pitchFamily="34" charset="0"/>
                <a:ea typeface="Arial" pitchFamily="34" charset="-122"/>
                <a:cs typeface="Arial" pitchFamily="34" charset="-120"/>
              </a:rPr>
              <a:t>| + |y</a:t>
            </a:r>
            <a:pPr algn="ctr" indent="0" marL="0">
              <a:buNone/>
            </a:pPr>
            <a:r>
              <a:rPr lang="en-US" sz="1500" b="1" baseline="-40000" dirty="0">
                <a:solidFill>
                  <a:srgbClr val="138D87"/>
                </a:solidFill>
                <a:latin typeface="Arial" pitchFamily="34" charset="0"/>
                <a:ea typeface="Arial" pitchFamily="34" charset="-122"/>
                <a:cs typeface="Arial" pitchFamily="34" charset="-120"/>
              </a:rPr>
              <a:t>n</a:t>
            </a:r>
            <a:pPr algn="ctr" indent="0" marL="0">
              <a:buNone/>
            </a:pPr>
            <a:r>
              <a:rPr lang="en-US" sz="2500" b="1" dirty="0">
                <a:solidFill>
                  <a:srgbClr val="138D87"/>
                </a:solidFill>
                <a:latin typeface="Arial" pitchFamily="34" charset="0"/>
                <a:ea typeface="Arial" pitchFamily="34" charset="-122"/>
                <a:cs typeface="Arial" pitchFamily="34" charset="-120"/>
              </a:rPr>
              <a:t> − y</a:t>
            </a:r>
            <a:pPr algn="ctr" indent="0" marL="0">
              <a:buNone/>
            </a:pPr>
            <a:r>
              <a:rPr lang="en-US" sz="1500" b="1" baseline="-40000" dirty="0">
                <a:solidFill>
                  <a:srgbClr val="138D87"/>
                </a:solidFill>
                <a:latin typeface="Arial" pitchFamily="34" charset="0"/>
                <a:ea typeface="Arial" pitchFamily="34" charset="-122"/>
                <a:cs typeface="Arial" pitchFamily="34" charset="-120"/>
              </a:rPr>
              <a:t>e</a:t>
            </a:r>
            <a:pPr algn="ctr" indent="0" marL="0">
              <a:buNone/>
            </a:pPr>
            <a:r>
              <a:rPr lang="en-US" sz="2500" b="1" dirty="0">
                <a:solidFill>
                  <a:srgbClr val="138D87"/>
                </a:solidFill>
                <a:latin typeface="Arial" pitchFamily="34" charset="0"/>
                <a:ea typeface="Arial" pitchFamily="34" charset="-122"/>
                <a:cs typeface="Arial" pitchFamily="34" charset="-120"/>
              </a:rPr>
              <a:t>|</a:t>
            </a:r>
            <a:endParaRPr lang="en-US" sz="2500" dirty="0"/>
          </a:p>
        </p:txBody>
      </p:sp>
      <p:sp>
        <p:nvSpPr>
          <p:cNvPr id="36" name="Text 34"/>
          <p:cNvSpPr/>
          <p:nvPr/>
        </p:nvSpPr>
        <p:spPr>
          <a:xfrm>
            <a:off x="7644384" y="1920240"/>
            <a:ext cx="3749040" cy="393192"/>
          </a:xfrm>
          <a:prstGeom prst="rect">
            <a:avLst/>
          </a:prstGeom>
          <a:noFill/>
          <a:ln/>
        </p:spPr>
        <p:txBody>
          <a:bodyPr wrap="square" lIns="0" tIns="0" rIns="0" bIns="0" rtlCol="0" anchor="ctr">
            <a:normAutofit/>
          </a:bodyPr>
          <a:lstStyle/>
          <a:p>
            <a:pPr algn="ctr" indent="0" marL="0">
              <a:buNone/>
            </a:pPr>
            <a:r>
              <a:rPr lang="en-US" sz="2400" b="1" dirty="0">
                <a:solidFill>
                  <a:srgbClr val="25344E"/>
                </a:solidFill>
                <a:latin typeface="Arial" pitchFamily="34" charset="0"/>
                <a:ea typeface="Arial" pitchFamily="34" charset="-122"/>
                <a:cs typeface="Arial" pitchFamily="34" charset="-120"/>
              </a:rPr>
              <a:t>Search process</a:t>
            </a:r>
            <a:endParaRPr lang="en-US" sz="2400" dirty="0"/>
          </a:p>
        </p:txBody>
      </p:sp>
      <p:sp>
        <p:nvSpPr>
          <p:cNvPr id="37" name="Shape 35"/>
          <p:cNvSpPr/>
          <p:nvPr/>
        </p:nvSpPr>
        <p:spPr>
          <a:xfrm>
            <a:off x="7813548" y="2711196"/>
            <a:ext cx="338328" cy="338328"/>
          </a:xfrm>
          <a:prstGeom prst="ellipse">
            <a:avLst/>
          </a:prstGeom>
          <a:solidFill>
            <a:srgbClr val="EFECFD"/>
          </a:solidFill>
          <a:ln w="12700">
            <a:solidFill>
              <a:srgbClr val="EFECFD">
                <a:alpha val="0"/>
              </a:srgbClr>
            </a:solidFill>
            <a:prstDash val="solid"/>
          </a:ln>
        </p:spPr>
        <p:txBody>
          <a:bodyPr/>
          <a:p/>
        </p:txBody>
      </p:sp>
      <p:sp>
        <p:nvSpPr>
          <p:cNvPr id="38" name="Text 36"/>
          <p:cNvSpPr/>
          <p:nvPr/>
        </p:nvSpPr>
        <p:spPr>
          <a:xfrm>
            <a:off x="7813548" y="2724912"/>
            <a:ext cx="338328" cy="310896"/>
          </a:xfrm>
          <a:prstGeom prst="rect">
            <a:avLst/>
          </a:prstGeom>
          <a:noFill/>
          <a:ln/>
        </p:spPr>
        <p:txBody>
          <a:bodyPr wrap="square" lIns="0" tIns="0" rIns="0" bIns="0" rtlCol="0" anchor="ctr">
            <a:normAutofit/>
          </a:bodyPr>
          <a:lstStyle/>
          <a:p>
            <a:pPr algn="ctr" indent="0" marL="0">
              <a:buNone/>
            </a:pPr>
            <a:r>
              <a:rPr lang="en-US" sz="1200" b="1" dirty="0">
                <a:solidFill>
                  <a:srgbClr val="6C5CE7"/>
                </a:solidFill>
                <a:latin typeface="Arial" pitchFamily="34" charset="0"/>
                <a:ea typeface="Arial" pitchFamily="34" charset="-122"/>
                <a:cs typeface="Arial" pitchFamily="34" charset="-120"/>
              </a:rPr>
              <a:t>01</a:t>
            </a:r>
            <a:endParaRPr lang="en-US" sz="1200" dirty="0"/>
          </a:p>
        </p:txBody>
      </p:sp>
      <p:sp>
        <p:nvSpPr>
          <p:cNvPr id="39" name="Text 37"/>
          <p:cNvSpPr/>
          <p:nvPr/>
        </p:nvSpPr>
        <p:spPr>
          <a:xfrm>
            <a:off x="8339328" y="2688336"/>
            <a:ext cx="2871216" cy="384048"/>
          </a:xfrm>
          <a:prstGeom prst="rect">
            <a:avLst/>
          </a:prstGeom>
          <a:noFill/>
          <a:ln/>
        </p:spPr>
        <p:txBody>
          <a:bodyPr wrap="square" lIns="0" tIns="0" rIns="0" bIns="0" rtlCol="0" anchor="ctr">
            <a:normAutofit/>
          </a:bodyPr>
          <a:lstStyle/>
          <a:p>
            <a:pPr algn="ctr" indent="0" marL="0">
              <a:buNone/>
            </a:pPr>
            <a:r>
              <a:rPr lang="en-US" sz="2200" dirty="0">
                <a:solidFill>
                  <a:srgbClr val="4E5F7B"/>
                </a:solidFill>
                <a:latin typeface="Arial" pitchFamily="34" charset="0"/>
                <a:ea typeface="Arial" pitchFamily="34" charset="-122"/>
                <a:cs typeface="Arial" pitchFamily="34" charset="-120"/>
              </a:rPr>
              <a:t>Start</a:t>
            </a:r>
            <a:endParaRPr lang="en-US" sz="2200" dirty="0"/>
          </a:p>
        </p:txBody>
      </p:sp>
      <p:sp>
        <p:nvSpPr>
          <p:cNvPr id="40" name="Shape 38"/>
          <p:cNvSpPr/>
          <p:nvPr/>
        </p:nvSpPr>
        <p:spPr>
          <a:xfrm>
            <a:off x="7813548" y="3378708"/>
            <a:ext cx="338328" cy="338328"/>
          </a:xfrm>
          <a:prstGeom prst="ellipse">
            <a:avLst/>
          </a:prstGeom>
          <a:solidFill>
            <a:srgbClr val="EFECFD"/>
          </a:solidFill>
          <a:ln w="12700">
            <a:solidFill>
              <a:srgbClr val="EFECFD">
                <a:alpha val="0"/>
              </a:srgbClr>
            </a:solidFill>
            <a:prstDash val="solid"/>
          </a:ln>
        </p:spPr>
        <p:txBody>
          <a:bodyPr/>
          <a:p/>
        </p:txBody>
      </p:sp>
      <p:sp>
        <p:nvSpPr>
          <p:cNvPr id="41" name="Text 39"/>
          <p:cNvSpPr/>
          <p:nvPr/>
        </p:nvSpPr>
        <p:spPr>
          <a:xfrm>
            <a:off x="7813548" y="3392424"/>
            <a:ext cx="338328" cy="310896"/>
          </a:xfrm>
          <a:prstGeom prst="rect">
            <a:avLst/>
          </a:prstGeom>
          <a:noFill/>
          <a:ln/>
        </p:spPr>
        <p:txBody>
          <a:bodyPr wrap="square" lIns="0" tIns="0" rIns="0" bIns="0" rtlCol="0" anchor="ctr">
            <a:normAutofit/>
          </a:bodyPr>
          <a:lstStyle/>
          <a:p>
            <a:pPr algn="ctr" indent="0" marL="0">
              <a:buNone/>
            </a:pPr>
            <a:r>
              <a:rPr lang="en-US" sz="1200" b="1" dirty="0">
                <a:solidFill>
                  <a:srgbClr val="6C5CE7"/>
                </a:solidFill>
                <a:latin typeface="Arial" pitchFamily="34" charset="0"/>
                <a:ea typeface="Arial" pitchFamily="34" charset="-122"/>
                <a:cs typeface="Arial" pitchFamily="34" charset="-120"/>
              </a:rPr>
              <a:t>02</a:t>
            </a:r>
            <a:endParaRPr lang="en-US" sz="1200" dirty="0"/>
          </a:p>
        </p:txBody>
      </p:sp>
      <p:sp>
        <p:nvSpPr>
          <p:cNvPr id="42" name="Text 40"/>
          <p:cNvSpPr/>
          <p:nvPr/>
        </p:nvSpPr>
        <p:spPr>
          <a:xfrm>
            <a:off x="8339328" y="3355848"/>
            <a:ext cx="2871216" cy="384048"/>
          </a:xfrm>
          <a:prstGeom prst="rect">
            <a:avLst/>
          </a:prstGeom>
          <a:noFill/>
          <a:ln/>
        </p:spPr>
        <p:txBody>
          <a:bodyPr wrap="square" lIns="0" tIns="0" rIns="0" bIns="0" rtlCol="0" anchor="ctr">
            <a:normAutofit/>
          </a:bodyPr>
          <a:lstStyle/>
          <a:p>
            <a:pPr algn="ctr" indent="0" marL="0">
              <a:buNone/>
            </a:pPr>
            <a:r>
              <a:rPr lang="en-US" sz="2200" dirty="0">
                <a:solidFill>
                  <a:srgbClr val="4E5F7B"/>
                </a:solidFill>
                <a:latin typeface="Arial" pitchFamily="34" charset="0"/>
                <a:ea typeface="Arial" pitchFamily="34" charset="-122"/>
                <a:cs typeface="Arial" pitchFamily="34" charset="-120"/>
              </a:rPr>
              <a:t>Lowest f(n)</a:t>
            </a:r>
            <a:endParaRPr lang="en-US" sz="2200" dirty="0"/>
          </a:p>
        </p:txBody>
      </p:sp>
      <p:sp>
        <p:nvSpPr>
          <p:cNvPr id="43" name="Shape 41"/>
          <p:cNvSpPr/>
          <p:nvPr/>
        </p:nvSpPr>
        <p:spPr>
          <a:xfrm>
            <a:off x="7813548" y="4046220"/>
            <a:ext cx="338328" cy="338328"/>
          </a:xfrm>
          <a:prstGeom prst="ellipse">
            <a:avLst/>
          </a:prstGeom>
          <a:solidFill>
            <a:srgbClr val="EFECFD"/>
          </a:solidFill>
          <a:ln w="12700">
            <a:solidFill>
              <a:srgbClr val="EFECFD">
                <a:alpha val="0"/>
              </a:srgbClr>
            </a:solidFill>
            <a:prstDash val="solid"/>
          </a:ln>
        </p:spPr>
        <p:txBody>
          <a:bodyPr/>
          <a:p/>
        </p:txBody>
      </p:sp>
      <p:sp>
        <p:nvSpPr>
          <p:cNvPr id="44" name="Text 42"/>
          <p:cNvSpPr/>
          <p:nvPr/>
        </p:nvSpPr>
        <p:spPr>
          <a:xfrm>
            <a:off x="7813548" y="4059936"/>
            <a:ext cx="338328" cy="310896"/>
          </a:xfrm>
          <a:prstGeom prst="rect">
            <a:avLst/>
          </a:prstGeom>
          <a:noFill/>
          <a:ln/>
        </p:spPr>
        <p:txBody>
          <a:bodyPr wrap="square" lIns="0" tIns="0" rIns="0" bIns="0" rtlCol="0" anchor="ctr">
            <a:normAutofit/>
          </a:bodyPr>
          <a:lstStyle/>
          <a:p>
            <a:pPr algn="ctr" indent="0" marL="0">
              <a:buNone/>
            </a:pPr>
            <a:r>
              <a:rPr lang="en-US" sz="1200" b="1" dirty="0">
                <a:solidFill>
                  <a:srgbClr val="6C5CE7"/>
                </a:solidFill>
                <a:latin typeface="Arial" pitchFamily="34" charset="0"/>
                <a:ea typeface="Arial" pitchFamily="34" charset="-122"/>
                <a:cs typeface="Arial" pitchFamily="34" charset="-120"/>
              </a:rPr>
              <a:t>03</a:t>
            </a:r>
            <a:endParaRPr lang="en-US" sz="1200" dirty="0"/>
          </a:p>
        </p:txBody>
      </p:sp>
      <p:sp>
        <p:nvSpPr>
          <p:cNvPr id="45" name="Text 43"/>
          <p:cNvSpPr/>
          <p:nvPr/>
        </p:nvSpPr>
        <p:spPr>
          <a:xfrm>
            <a:off x="8339328" y="4023360"/>
            <a:ext cx="2871216" cy="384048"/>
          </a:xfrm>
          <a:prstGeom prst="rect">
            <a:avLst/>
          </a:prstGeom>
          <a:noFill/>
          <a:ln/>
        </p:spPr>
        <p:txBody>
          <a:bodyPr wrap="square" lIns="0" tIns="0" rIns="0" bIns="0" rtlCol="0" anchor="ctr">
            <a:normAutofit/>
          </a:bodyPr>
          <a:lstStyle/>
          <a:p>
            <a:pPr algn="ctr" indent="0" marL="0">
              <a:buNone/>
            </a:pPr>
            <a:r>
              <a:rPr lang="en-US" sz="2200" dirty="0">
                <a:solidFill>
                  <a:srgbClr val="4E5F7B"/>
                </a:solidFill>
                <a:latin typeface="Arial" pitchFamily="34" charset="0"/>
                <a:ea typeface="Arial" pitchFamily="34" charset="-122"/>
                <a:cs typeface="Arial" pitchFamily="34" charset="-120"/>
              </a:rPr>
              <a:t>Update neighbors</a:t>
            </a:r>
            <a:endParaRPr lang="en-US" sz="2200" dirty="0"/>
          </a:p>
        </p:txBody>
      </p:sp>
      <p:sp>
        <p:nvSpPr>
          <p:cNvPr id="46" name="Shape 44"/>
          <p:cNvSpPr/>
          <p:nvPr/>
        </p:nvSpPr>
        <p:spPr>
          <a:xfrm>
            <a:off x="7813548" y="4713732"/>
            <a:ext cx="338328" cy="338328"/>
          </a:xfrm>
          <a:prstGeom prst="ellipse">
            <a:avLst/>
          </a:prstGeom>
          <a:solidFill>
            <a:srgbClr val="EFECFD"/>
          </a:solidFill>
          <a:ln w="12700">
            <a:solidFill>
              <a:srgbClr val="EFECFD">
                <a:alpha val="0"/>
              </a:srgbClr>
            </a:solidFill>
            <a:prstDash val="solid"/>
          </a:ln>
        </p:spPr>
        <p:txBody>
          <a:bodyPr/>
          <a:p/>
        </p:txBody>
      </p:sp>
      <p:sp>
        <p:nvSpPr>
          <p:cNvPr id="47" name="Text 45"/>
          <p:cNvSpPr/>
          <p:nvPr/>
        </p:nvSpPr>
        <p:spPr>
          <a:xfrm>
            <a:off x="7813548" y="4727448"/>
            <a:ext cx="338328" cy="310896"/>
          </a:xfrm>
          <a:prstGeom prst="rect">
            <a:avLst/>
          </a:prstGeom>
          <a:noFill/>
          <a:ln/>
        </p:spPr>
        <p:txBody>
          <a:bodyPr wrap="square" lIns="0" tIns="0" rIns="0" bIns="0" rtlCol="0" anchor="ctr">
            <a:normAutofit/>
          </a:bodyPr>
          <a:lstStyle/>
          <a:p>
            <a:pPr algn="ctr" indent="0" marL="0">
              <a:buNone/>
            </a:pPr>
            <a:r>
              <a:rPr lang="en-US" sz="1200" b="1" dirty="0">
                <a:solidFill>
                  <a:srgbClr val="6C5CE7"/>
                </a:solidFill>
                <a:latin typeface="Arial" pitchFamily="34" charset="0"/>
                <a:ea typeface="Arial" pitchFamily="34" charset="-122"/>
                <a:cs typeface="Arial" pitchFamily="34" charset="-120"/>
              </a:rPr>
              <a:t>04</a:t>
            </a:r>
            <a:endParaRPr lang="en-US" sz="1200" dirty="0"/>
          </a:p>
        </p:txBody>
      </p:sp>
      <p:sp>
        <p:nvSpPr>
          <p:cNvPr id="48" name="Text 46"/>
          <p:cNvSpPr/>
          <p:nvPr/>
        </p:nvSpPr>
        <p:spPr>
          <a:xfrm>
            <a:off x="8339328" y="4690872"/>
            <a:ext cx="2871216" cy="384048"/>
          </a:xfrm>
          <a:prstGeom prst="rect">
            <a:avLst/>
          </a:prstGeom>
          <a:noFill/>
          <a:ln/>
        </p:spPr>
        <p:txBody>
          <a:bodyPr wrap="square" lIns="0" tIns="0" rIns="0" bIns="0" rtlCol="0" anchor="ctr">
            <a:normAutofit/>
          </a:bodyPr>
          <a:lstStyle/>
          <a:p>
            <a:pPr algn="ctr" indent="0" marL="0">
              <a:buNone/>
            </a:pPr>
            <a:r>
              <a:rPr lang="en-US" sz="2200" dirty="0">
                <a:solidFill>
                  <a:srgbClr val="4E5F7B"/>
                </a:solidFill>
                <a:latin typeface="Arial" pitchFamily="34" charset="0"/>
                <a:ea typeface="Arial" pitchFamily="34" charset="-122"/>
                <a:cs typeface="Arial" pitchFamily="34" charset="-120"/>
              </a:rPr>
              <a:t>Reach exit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F"/>
        </a:solidFill>
      </p:bgPr>
    </p:bg>
    <p:spTree>
      <p:nvGrpSpPr>
        <p:cNvPr id="1" name=""/>
        <p:cNvGrpSpPr/>
        <p:nvPr/>
      </p:nvGrpSpPr>
      <p:grpSpPr>
        <a:xfrm>
          <a:off x="0" y="0"/>
          <a:ext cx="0" cy="0"/>
          <a:chOff x="0" y="0"/>
          <a:chExt cx="0" cy="0"/>
        </a:xfrm>
      </p:grpSpPr>
      <p:sp>
        <p:nvSpPr>
          <p:cNvPr id="4" name="Text 2"/>
          <p:cNvSpPr/>
          <p:nvPr/>
        </p:nvSpPr>
        <p:spPr>
          <a:xfrm>
            <a:off x="585216" y="832104"/>
            <a:ext cx="10314432" cy="530352"/>
          </a:xfrm>
          <a:prstGeom prst="rect">
            <a:avLst/>
          </a:prstGeom>
          <a:noFill/>
          <a:ln/>
        </p:spPr>
        <p:txBody>
          <a:bodyPr wrap="square" lIns="0" tIns="0" rIns="0" bIns="0" rtlCol="0" anchor="ctr">
            <a:normAutofit/>
          </a:bodyPr>
          <a:lstStyle/>
          <a:p>
            <a:pPr algn="l" indent="0" marL="0">
              <a:buNone/>
            </a:pPr>
            <a:r>
              <a:rPr lang="en-US" sz="2900" b="1" dirty="0">
                <a:solidFill>
                  <a:srgbClr val="25344E"/>
                </a:solidFill>
                <a:latin typeface="Arial" pitchFamily="34" charset="0"/>
                <a:ea typeface="Arial" pitchFamily="34" charset="-122"/>
                <a:cs typeface="Arial" pitchFamily="34" charset="-120"/>
              </a:rPr>
              <a:t>Supporting Algorithms and Evaluation</a:t>
            </a:r>
            <a:endParaRPr lang="en-US" sz="2900" dirty="0"/>
          </a:p>
        </p:txBody>
      </p:sp>
      <p:sp>
        <p:nvSpPr>
          <p:cNvPr id="5" name="Shape 3"/>
          <p:cNvSpPr/>
          <p:nvPr/>
        </p:nvSpPr>
        <p:spPr>
          <a:xfrm>
            <a:off x="10991088" y="877824"/>
            <a:ext cx="448056" cy="411480"/>
          </a:xfrm>
          <a:prstGeom prst="roundRect">
            <a:avLst>
              <a:gd name="adj" fmla="val 28889"/>
            </a:avLst>
          </a:prstGeom>
          <a:solidFill>
            <a:srgbClr val="FFFFFF"/>
          </a:solidFill>
          <a:ln w="10160">
            <a:solidFill>
              <a:srgbClr val="FFFFFF"/>
            </a:solidFill>
            <a:prstDash val="solid"/>
          </a:ln>
        </p:spPr>
        <p:txBody>
          <a:bodyPr/>
          <a:p/>
        </p:txBody>
      </p:sp>
      <p:sp>
        <p:nvSpPr>
          <p:cNvPr id="6" name="Text 4"/>
          <p:cNvSpPr/>
          <p:nvPr/>
        </p:nvSpPr>
        <p:spPr>
          <a:xfrm>
            <a:off x="11064240" y="900684"/>
            <a:ext cx="301752" cy="365760"/>
          </a:xfrm>
          <a:prstGeom prst="rect">
            <a:avLst/>
          </a:prstGeom>
          <a:noFill/>
          <a:ln/>
        </p:spPr>
        <p:txBody>
          <a:bodyPr wrap="square" lIns="0" tIns="0" rIns="0" bIns="0" rtlCol="0" anchor="ctr">
            <a:normAutofit/>
          </a:bodyPr>
          <a:lstStyle/>
          <a:p>
            <a:pPr algn="ctr" indent="0" marL="0">
              <a:buNone/>
            </a:pPr>
            <a:r>
              <a:rPr lang="en-US" sz="1300" b="1" dirty="0">
                <a:solidFill>
                  <a:srgbClr val="6C5CE7"/>
                </a:solidFill>
                <a:latin typeface="Arial" pitchFamily="34" charset="0"/>
                <a:ea typeface="Arial" pitchFamily="34" charset="-122"/>
                <a:cs typeface="Arial" pitchFamily="34" charset="-120"/>
              </a:rPr>
              <a:t>07</a:t>
            </a:r>
            <a:endParaRPr lang="en-US" sz="1300" dirty="0"/>
          </a:p>
        </p:txBody>
      </p:sp>
      <p:sp>
        <p:nvSpPr>
          <p:cNvPr id="7" name="Shape 5"/>
          <p:cNvSpPr/>
          <p:nvPr/>
        </p:nvSpPr>
        <p:spPr>
          <a:xfrm>
            <a:off x="585216" y="6451092"/>
            <a:ext cx="11021568" cy="0"/>
          </a:xfrm>
          <a:prstGeom prst="line">
            <a:avLst/>
          </a:prstGeom>
          <a:noFill/>
          <a:ln w="9525">
            <a:solidFill>
              <a:srgbClr val="DFE6F2"/>
            </a:solidFill>
            <a:prstDash val="solid"/>
            <a:headEnd type="none"/>
            <a:tailEnd type="none"/>
          </a:ln>
        </p:spPr>
        <p:txBody>
          <a:bodyPr/>
          <a:p/>
        </p:txBody>
      </p:sp>
      <p:sp>
        <p:nvSpPr>
          <p:cNvPr id="9" name="Shape 7"/>
          <p:cNvSpPr/>
          <p:nvPr/>
        </p:nvSpPr>
        <p:spPr>
          <a:xfrm>
            <a:off x="10131552" y="6588252"/>
            <a:ext cx="27432" cy="27432"/>
          </a:xfrm>
          <a:prstGeom prst="ellipse">
            <a:avLst/>
          </a:prstGeom>
          <a:solidFill>
            <a:srgbClr val="DFE6F2"/>
          </a:solidFill>
          <a:ln w="12700">
            <a:solidFill>
              <a:srgbClr val="DFE6F2">
                <a:alpha val="0"/>
              </a:srgbClr>
            </a:solidFill>
            <a:prstDash val="solid"/>
          </a:ln>
        </p:spPr>
        <p:txBody>
          <a:bodyPr/>
          <a:p/>
        </p:txBody>
      </p:sp>
      <p:sp>
        <p:nvSpPr>
          <p:cNvPr id="10" name="Shape 8"/>
          <p:cNvSpPr/>
          <p:nvPr/>
        </p:nvSpPr>
        <p:spPr>
          <a:xfrm>
            <a:off x="10232136" y="6588252"/>
            <a:ext cx="27432" cy="27432"/>
          </a:xfrm>
          <a:prstGeom prst="ellipse">
            <a:avLst/>
          </a:prstGeom>
          <a:solidFill>
            <a:srgbClr val="DFE6F2"/>
          </a:solidFill>
          <a:ln w="12700">
            <a:solidFill>
              <a:srgbClr val="DFE6F2">
                <a:alpha val="0"/>
              </a:srgbClr>
            </a:solidFill>
            <a:prstDash val="solid"/>
          </a:ln>
        </p:spPr>
        <p:txBody>
          <a:bodyPr/>
          <a:p/>
        </p:txBody>
      </p:sp>
      <p:sp>
        <p:nvSpPr>
          <p:cNvPr id="11" name="Shape 9"/>
          <p:cNvSpPr/>
          <p:nvPr/>
        </p:nvSpPr>
        <p:spPr>
          <a:xfrm>
            <a:off x="10332720" y="6588252"/>
            <a:ext cx="27432" cy="27432"/>
          </a:xfrm>
          <a:prstGeom prst="ellipse">
            <a:avLst/>
          </a:prstGeom>
          <a:solidFill>
            <a:srgbClr val="DFE6F2"/>
          </a:solidFill>
          <a:ln w="12700">
            <a:solidFill>
              <a:srgbClr val="DFE6F2">
                <a:alpha val="0"/>
              </a:srgbClr>
            </a:solidFill>
            <a:prstDash val="solid"/>
          </a:ln>
        </p:spPr>
        <p:txBody>
          <a:bodyPr/>
          <a:p/>
        </p:txBody>
      </p:sp>
      <p:sp>
        <p:nvSpPr>
          <p:cNvPr id="12" name="Shape 10"/>
          <p:cNvSpPr/>
          <p:nvPr/>
        </p:nvSpPr>
        <p:spPr>
          <a:xfrm>
            <a:off x="10433304" y="6588252"/>
            <a:ext cx="27432" cy="27432"/>
          </a:xfrm>
          <a:prstGeom prst="ellipse">
            <a:avLst/>
          </a:prstGeom>
          <a:solidFill>
            <a:srgbClr val="DFE6F2"/>
          </a:solidFill>
          <a:ln w="12700">
            <a:solidFill>
              <a:srgbClr val="DFE6F2">
                <a:alpha val="0"/>
              </a:srgbClr>
            </a:solidFill>
            <a:prstDash val="solid"/>
          </a:ln>
        </p:spPr>
        <p:txBody>
          <a:bodyPr/>
          <a:p/>
        </p:txBody>
      </p:sp>
      <p:sp>
        <p:nvSpPr>
          <p:cNvPr id="13" name="Shape 11"/>
          <p:cNvSpPr/>
          <p:nvPr/>
        </p:nvSpPr>
        <p:spPr>
          <a:xfrm>
            <a:off x="10533888" y="6588252"/>
            <a:ext cx="27432" cy="27432"/>
          </a:xfrm>
          <a:prstGeom prst="ellipse">
            <a:avLst/>
          </a:prstGeom>
          <a:solidFill>
            <a:srgbClr val="DFE6F2"/>
          </a:solidFill>
          <a:ln w="12700">
            <a:solidFill>
              <a:srgbClr val="DFE6F2">
                <a:alpha val="0"/>
              </a:srgbClr>
            </a:solidFill>
            <a:prstDash val="solid"/>
          </a:ln>
        </p:spPr>
        <p:txBody>
          <a:bodyPr/>
          <a:p/>
        </p:txBody>
      </p:sp>
      <p:sp>
        <p:nvSpPr>
          <p:cNvPr id="14" name="Shape 12"/>
          <p:cNvSpPr/>
          <p:nvPr/>
        </p:nvSpPr>
        <p:spPr>
          <a:xfrm>
            <a:off x="10634472" y="6588252"/>
            <a:ext cx="27432" cy="27432"/>
          </a:xfrm>
          <a:prstGeom prst="ellipse">
            <a:avLst/>
          </a:prstGeom>
          <a:solidFill>
            <a:srgbClr val="DFE6F2"/>
          </a:solidFill>
          <a:ln w="12700">
            <a:solidFill>
              <a:srgbClr val="DFE6F2">
                <a:alpha val="0"/>
              </a:srgbClr>
            </a:solidFill>
            <a:prstDash val="solid"/>
          </a:ln>
        </p:spPr>
        <p:txBody>
          <a:bodyPr/>
          <a:p/>
        </p:txBody>
      </p:sp>
      <p:sp>
        <p:nvSpPr>
          <p:cNvPr id="15" name="Shape 13"/>
          <p:cNvSpPr/>
          <p:nvPr/>
        </p:nvSpPr>
        <p:spPr>
          <a:xfrm>
            <a:off x="10735056" y="6588252"/>
            <a:ext cx="27432" cy="27432"/>
          </a:xfrm>
          <a:prstGeom prst="ellipse">
            <a:avLst/>
          </a:prstGeom>
          <a:solidFill>
            <a:srgbClr val="6C5CE7"/>
          </a:solidFill>
          <a:ln w="12700">
            <a:solidFill>
              <a:srgbClr val="6C5CE7">
                <a:alpha val="0"/>
              </a:srgbClr>
            </a:solidFill>
            <a:prstDash val="solid"/>
          </a:ln>
        </p:spPr>
        <p:txBody>
          <a:bodyPr/>
          <a:p/>
        </p:txBody>
      </p:sp>
      <p:sp>
        <p:nvSpPr>
          <p:cNvPr id="16" name="Shape 14"/>
          <p:cNvSpPr/>
          <p:nvPr/>
        </p:nvSpPr>
        <p:spPr>
          <a:xfrm>
            <a:off x="10835640" y="6588252"/>
            <a:ext cx="27432" cy="27432"/>
          </a:xfrm>
          <a:prstGeom prst="ellipse">
            <a:avLst/>
          </a:prstGeom>
          <a:solidFill>
            <a:srgbClr val="DFE6F2"/>
          </a:solidFill>
          <a:ln w="12700">
            <a:solidFill>
              <a:srgbClr val="DFE6F2">
                <a:alpha val="0"/>
              </a:srgbClr>
            </a:solidFill>
            <a:prstDash val="solid"/>
          </a:ln>
        </p:spPr>
        <p:txBody>
          <a:bodyPr/>
          <a:p/>
        </p:txBody>
      </p:sp>
      <p:sp>
        <p:nvSpPr>
          <p:cNvPr id="17" name="Shape 15"/>
          <p:cNvSpPr/>
          <p:nvPr/>
        </p:nvSpPr>
        <p:spPr>
          <a:xfrm>
            <a:off x="10936224" y="6588252"/>
            <a:ext cx="27432" cy="27432"/>
          </a:xfrm>
          <a:prstGeom prst="ellipse">
            <a:avLst/>
          </a:prstGeom>
          <a:solidFill>
            <a:srgbClr val="DFE6F2"/>
          </a:solidFill>
          <a:ln w="12700">
            <a:solidFill>
              <a:srgbClr val="DFE6F2">
                <a:alpha val="0"/>
              </a:srgbClr>
            </a:solidFill>
            <a:prstDash val="solid"/>
          </a:ln>
        </p:spPr>
        <p:txBody>
          <a:bodyPr/>
          <a:p/>
        </p:txBody>
      </p:sp>
      <p:sp>
        <p:nvSpPr>
          <p:cNvPr id="18" name="Shape 16"/>
          <p:cNvSpPr/>
          <p:nvPr/>
        </p:nvSpPr>
        <p:spPr>
          <a:xfrm>
            <a:off x="11036808" y="6588252"/>
            <a:ext cx="27432" cy="27432"/>
          </a:xfrm>
          <a:prstGeom prst="ellipse">
            <a:avLst/>
          </a:prstGeom>
          <a:solidFill>
            <a:srgbClr val="DFE6F2"/>
          </a:solidFill>
          <a:ln w="12700">
            <a:solidFill>
              <a:srgbClr val="DFE6F2">
                <a:alpha val="0"/>
              </a:srgbClr>
            </a:solidFill>
            <a:prstDash val="solid"/>
          </a:ln>
        </p:spPr>
        <p:txBody>
          <a:bodyPr/>
          <a:p/>
        </p:txBody>
      </p:sp>
      <p:sp>
        <p:nvSpPr>
          <p:cNvPr id="19" name="Text 17"/>
          <p:cNvSpPr/>
          <p:nvPr/>
        </p:nvSpPr>
        <p:spPr>
          <a:xfrm>
            <a:off x="11228832" y="6519672"/>
            <a:ext cx="338328" cy="173736"/>
          </a:xfrm>
          <a:prstGeom prst="rect">
            <a:avLst/>
          </a:prstGeom>
          <a:noFill/>
          <a:ln/>
        </p:spPr>
        <p:txBody>
          <a:bodyPr wrap="square" lIns="0" tIns="0" rIns="0" bIns="0" rtlCol="0" anchor="ctr">
            <a:normAutofit/>
          </a:bodyPr>
          <a:lstStyle/>
          <a:p>
            <a:pPr algn="ctr" indent="0" marL="0">
              <a:buNone/>
            </a:pPr>
            <a:r>
              <a:rPr lang="en-US" sz="920" b="1" dirty="0">
                <a:solidFill>
                  <a:srgbClr val="4E5F7B"/>
                </a:solidFill>
                <a:latin typeface="Arial" pitchFamily="34" charset="0"/>
                <a:ea typeface="Arial" pitchFamily="34" charset="-122"/>
                <a:cs typeface="Arial" pitchFamily="34" charset="-120"/>
              </a:rPr>
              <a:t>07</a:t>
            </a:r>
            <a:endParaRPr lang="en-US" sz="920" dirty="0"/>
          </a:p>
        </p:txBody>
      </p:sp>
      <p:sp>
        <p:nvSpPr>
          <p:cNvPr id="20" name="Shape 18"/>
          <p:cNvSpPr/>
          <p:nvPr/>
        </p:nvSpPr>
        <p:spPr>
          <a:xfrm>
            <a:off x="585216" y="1645920"/>
            <a:ext cx="5349240" cy="4059936"/>
          </a:xfrm>
          <a:prstGeom prst="roundRect">
            <a:avLst>
              <a:gd name="adj" fmla="val 2928"/>
            </a:avLst>
          </a:prstGeom>
          <a:solidFill>
            <a:srgbClr val="FFFFFF"/>
          </a:solidFill>
          <a:ln w="10160">
            <a:solidFill>
              <a:srgbClr val="DFE6F2"/>
            </a:solidFill>
            <a:prstDash val="solid"/>
          </a:ln>
        </p:spPr>
        <p:txBody>
          <a:bodyPr/>
          <a:p/>
        </p:txBody>
      </p:sp>
      <p:sp>
        <p:nvSpPr>
          <p:cNvPr id="21" name="Shape 19"/>
          <p:cNvSpPr/>
          <p:nvPr/>
        </p:nvSpPr>
        <p:spPr>
          <a:xfrm>
            <a:off x="6254496" y="1645920"/>
            <a:ext cx="5349240" cy="4059936"/>
          </a:xfrm>
          <a:prstGeom prst="roundRect">
            <a:avLst>
              <a:gd name="adj" fmla="val 2928"/>
            </a:avLst>
          </a:prstGeom>
          <a:solidFill>
            <a:srgbClr val="FFFFFF"/>
          </a:solidFill>
          <a:ln w="10160">
            <a:solidFill>
              <a:srgbClr val="DFE6F2"/>
            </a:solidFill>
            <a:prstDash val="solid"/>
          </a:ln>
        </p:spPr>
        <p:txBody>
          <a:bodyPr/>
          <a:p/>
        </p:txBody>
      </p:sp>
      <p:sp>
        <p:nvSpPr>
          <p:cNvPr id="22" name="Text 20"/>
          <p:cNvSpPr/>
          <p:nvPr/>
        </p:nvSpPr>
        <p:spPr>
          <a:xfrm>
            <a:off x="813816" y="1901952"/>
            <a:ext cx="4892040" cy="393192"/>
          </a:xfrm>
          <a:prstGeom prst="rect">
            <a:avLst/>
          </a:prstGeom>
          <a:noFill/>
          <a:ln/>
        </p:spPr>
        <p:txBody>
          <a:bodyPr wrap="square" lIns="0" tIns="0" rIns="0" bIns="0" rtlCol="0" anchor="ctr">
            <a:normAutofit/>
          </a:bodyPr>
          <a:lstStyle/>
          <a:p>
            <a:pPr algn="ctr" indent="0" marL="0">
              <a:buNone/>
            </a:pPr>
            <a:r>
              <a:rPr lang="en-US" sz="2400" b="1" dirty="0">
                <a:solidFill>
                  <a:srgbClr val="25344E"/>
                </a:solidFill>
                <a:latin typeface="Arial" pitchFamily="34" charset="0"/>
                <a:ea typeface="Arial" pitchFamily="34" charset="-122"/>
                <a:cs typeface="Arial" pitchFamily="34" charset="-120"/>
              </a:rPr>
              <a:t>Six algorithms</a:t>
            </a:r>
            <a:endParaRPr lang="en-US" sz="2400" dirty="0"/>
          </a:p>
        </p:txBody>
      </p:sp>
      <p:sp>
        <p:nvSpPr>
          <p:cNvPr id="23" name="Text 21"/>
          <p:cNvSpPr/>
          <p:nvPr/>
        </p:nvSpPr>
        <p:spPr>
          <a:xfrm>
            <a:off x="6483096" y="1901952"/>
            <a:ext cx="4892040" cy="393192"/>
          </a:xfrm>
          <a:prstGeom prst="rect">
            <a:avLst/>
          </a:prstGeom>
          <a:noFill/>
          <a:ln/>
        </p:spPr>
        <p:txBody>
          <a:bodyPr wrap="square" lIns="0" tIns="0" rIns="0" bIns="0" rtlCol="0" anchor="ctr">
            <a:normAutofit/>
          </a:bodyPr>
          <a:lstStyle/>
          <a:p>
            <a:pPr algn="ctr" indent="0" marL="0">
              <a:buNone/>
            </a:pPr>
            <a:r>
              <a:rPr lang="en-US" sz="2400" b="1" dirty="0">
                <a:solidFill>
                  <a:srgbClr val="25344E"/>
                </a:solidFill>
                <a:latin typeface="Arial" pitchFamily="34" charset="0"/>
                <a:ea typeface="Arial" pitchFamily="34" charset="-122"/>
                <a:cs typeface="Arial" pitchFamily="34" charset="-120"/>
              </a:rPr>
              <a:t>Comparison metrics</a:t>
            </a:r>
            <a:endParaRPr lang="en-US" sz="2400" dirty="0"/>
          </a:p>
        </p:txBody>
      </p:sp>
      <p:sp>
        <p:nvSpPr>
          <p:cNvPr id="24" name="Shape 22"/>
          <p:cNvSpPr/>
          <p:nvPr/>
        </p:nvSpPr>
        <p:spPr>
          <a:xfrm>
            <a:off x="896112" y="2670048"/>
            <a:ext cx="2221992" cy="685800"/>
          </a:xfrm>
          <a:prstGeom prst="roundRect">
            <a:avLst>
              <a:gd name="adj" fmla="val 17333"/>
            </a:avLst>
          </a:prstGeom>
          <a:solidFill>
            <a:srgbClr val="E7F6F2"/>
          </a:solidFill>
          <a:ln w="10160">
            <a:solidFill>
              <a:srgbClr val="E7F6F2"/>
            </a:solidFill>
            <a:prstDash val="solid"/>
          </a:ln>
        </p:spPr>
        <p:txBody>
          <a:bodyPr/>
          <a:p/>
        </p:txBody>
      </p:sp>
      <p:sp>
        <p:nvSpPr>
          <p:cNvPr id="25" name="Text 23"/>
          <p:cNvSpPr/>
          <p:nvPr/>
        </p:nvSpPr>
        <p:spPr>
          <a:xfrm>
            <a:off x="996696" y="2788920"/>
            <a:ext cx="2020824" cy="429768"/>
          </a:xfrm>
          <a:prstGeom prst="rect">
            <a:avLst/>
          </a:prstGeom>
          <a:noFill/>
          <a:ln/>
        </p:spPr>
        <p:txBody>
          <a:bodyPr wrap="square" lIns="0" tIns="0" rIns="0" bIns="0" rtlCol="0" anchor="ctr">
            <a:normAutofit/>
          </a:bodyPr>
          <a:lstStyle/>
          <a:p>
            <a:pPr algn="ctr" indent="0" marL="0">
              <a:buNone/>
            </a:pPr>
            <a:r>
              <a:rPr lang="en-US" sz="2200" b="1" dirty="0">
                <a:solidFill>
                  <a:srgbClr val="138D87"/>
                </a:solidFill>
                <a:latin typeface="Arial" pitchFamily="34" charset="0"/>
                <a:ea typeface="Arial" pitchFamily="34" charset="-122"/>
                <a:cs typeface="Arial" pitchFamily="34" charset="-120"/>
              </a:rPr>
              <a:t>A* (main)</a:t>
            </a:r>
            <a:endParaRPr lang="en-US" sz="2200" dirty="0"/>
          </a:p>
        </p:txBody>
      </p:sp>
      <p:sp>
        <p:nvSpPr>
          <p:cNvPr id="26" name="Shape 24"/>
          <p:cNvSpPr/>
          <p:nvPr/>
        </p:nvSpPr>
        <p:spPr>
          <a:xfrm>
            <a:off x="3328416" y="2670048"/>
            <a:ext cx="2221992" cy="685800"/>
          </a:xfrm>
          <a:prstGeom prst="roundRect">
            <a:avLst>
              <a:gd name="adj" fmla="val 17333"/>
            </a:avLst>
          </a:prstGeom>
          <a:solidFill>
            <a:srgbClr val="EFECFD"/>
          </a:solidFill>
          <a:ln w="10160">
            <a:solidFill>
              <a:srgbClr val="EFECFD"/>
            </a:solidFill>
            <a:prstDash val="solid"/>
          </a:ln>
        </p:spPr>
        <p:txBody>
          <a:bodyPr/>
          <a:p/>
        </p:txBody>
      </p:sp>
      <p:sp>
        <p:nvSpPr>
          <p:cNvPr id="27" name="Text 25"/>
          <p:cNvSpPr/>
          <p:nvPr/>
        </p:nvSpPr>
        <p:spPr>
          <a:xfrm>
            <a:off x="3429000" y="2788920"/>
            <a:ext cx="2020824" cy="429768"/>
          </a:xfrm>
          <a:prstGeom prst="rect">
            <a:avLst/>
          </a:prstGeom>
          <a:noFill/>
          <a:ln/>
        </p:spPr>
        <p:txBody>
          <a:bodyPr wrap="square" lIns="0" tIns="0" rIns="0" bIns="0" rtlCol="0" anchor="ctr">
            <a:normAutofit/>
          </a:bodyPr>
          <a:lstStyle/>
          <a:p>
            <a:pPr algn="ctr" indent="0" marL="0">
              <a:buNone/>
            </a:pPr>
            <a:r>
              <a:rPr lang="en-US" sz="2200" b="1" dirty="0">
                <a:solidFill>
                  <a:srgbClr val="6C5CE7"/>
                </a:solidFill>
                <a:latin typeface="Arial" pitchFamily="34" charset="0"/>
                <a:ea typeface="Arial" pitchFamily="34" charset="-122"/>
                <a:cs typeface="Arial" pitchFamily="34" charset="-120"/>
              </a:rPr>
              <a:t>BFS</a:t>
            </a:r>
            <a:endParaRPr lang="en-US" sz="2200" dirty="0"/>
          </a:p>
        </p:txBody>
      </p:sp>
      <p:sp>
        <p:nvSpPr>
          <p:cNvPr id="28" name="Shape 26"/>
          <p:cNvSpPr/>
          <p:nvPr/>
        </p:nvSpPr>
        <p:spPr>
          <a:xfrm>
            <a:off x="896112" y="3566160"/>
            <a:ext cx="2221992" cy="685800"/>
          </a:xfrm>
          <a:prstGeom prst="roundRect">
            <a:avLst>
              <a:gd name="adj" fmla="val 17333"/>
            </a:avLst>
          </a:prstGeom>
          <a:solidFill>
            <a:srgbClr val="EFECFD"/>
          </a:solidFill>
          <a:ln w="10160">
            <a:solidFill>
              <a:srgbClr val="EFECFD"/>
            </a:solidFill>
            <a:prstDash val="solid"/>
          </a:ln>
        </p:spPr>
        <p:txBody>
          <a:bodyPr/>
          <a:p/>
        </p:txBody>
      </p:sp>
      <p:sp>
        <p:nvSpPr>
          <p:cNvPr id="29" name="Text 27"/>
          <p:cNvSpPr/>
          <p:nvPr/>
        </p:nvSpPr>
        <p:spPr>
          <a:xfrm>
            <a:off x="996696" y="3685032"/>
            <a:ext cx="2020824" cy="429768"/>
          </a:xfrm>
          <a:prstGeom prst="rect">
            <a:avLst/>
          </a:prstGeom>
          <a:noFill/>
          <a:ln/>
        </p:spPr>
        <p:txBody>
          <a:bodyPr wrap="square" lIns="0" tIns="0" rIns="0" bIns="0" rtlCol="0" anchor="ctr">
            <a:normAutofit/>
          </a:bodyPr>
          <a:lstStyle/>
          <a:p>
            <a:pPr algn="ctr" indent="0" marL="0">
              <a:buNone/>
            </a:pPr>
            <a:r>
              <a:rPr lang="en-US" sz="2200" b="1" dirty="0">
                <a:solidFill>
                  <a:srgbClr val="6C5CE7"/>
                </a:solidFill>
                <a:latin typeface="Arial" pitchFamily="34" charset="0"/>
                <a:ea typeface="Arial" pitchFamily="34" charset="-122"/>
                <a:cs typeface="Arial" pitchFamily="34" charset="-120"/>
              </a:rPr>
              <a:t>DFS</a:t>
            </a:r>
            <a:endParaRPr lang="en-US" sz="2200" dirty="0"/>
          </a:p>
        </p:txBody>
      </p:sp>
      <p:sp>
        <p:nvSpPr>
          <p:cNvPr id="30" name="Shape 28"/>
          <p:cNvSpPr/>
          <p:nvPr/>
        </p:nvSpPr>
        <p:spPr>
          <a:xfrm>
            <a:off x="3328416" y="3566160"/>
            <a:ext cx="2221992" cy="685800"/>
          </a:xfrm>
          <a:prstGeom prst="roundRect">
            <a:avLst>
              <a:gd name="adj" fmla="val 17333"/>
            </a:avLst>
          </a:prstGeom>
          <a:solidFill>
            <a:srgbClr val="EFECFD"/>
          </a:solidFill>
          <a:ln w="10160">
            <a:solidFill>
              <a:srgbClr val="EFECFD"/>
            </a:solidFill>
            <a:prstDash val="solid"/>
          </a:ln>
        </p:spPr>
        <p:txBody>
          <a:bodyPr/>
          <a:p/>
        </p:txBody>
      </p:sp>
      <p:sp>
        <p:nvSpPr>
          <p:cNvPr id="31" name="Text 29"/>
          <p:cNvSpPr/>
          <p:nvPr/>
        </p:nvSpPr>
        <p:spPr>
          <a:xfrm>
            <a:off x="3429000" y="3685032"/>
            <a:ext cx="2020824" cy="429768"/>
          </a:xfrm>
          <a:prstGeom prst="rect">
            <a:avLst/>
          </a:prstGeom>
          <a:noFill/>
          <a:ln/>
        </p:spPr>
        <p:txBody>
          <a:bodyPr wrap="square" lIns="0" tIns="0" rIns="0" bIns="0" rtlCol="0" anchor="ctr">
            <a:normAutofit/>
          </a:bodyPr>
          <a:lstStyle/>
          <a:p>
            <a:pPr algn="ctr" indent="0" marL="0">
              <a:buNone/>
            </a:pPr>
            <a:r>
              <a:rPr lang="en-US" sz="2200" b="1" dirty="0">
                <a:solidFill>
                  <a:srgbClr val="6C5CE7"/>
                </a:solidFill>
                <a:latin typeface="Arial" pitchFamily="34" charset="0"/>
                <a:ea typeface="Arial" pitchFamily="34" charset="-122"/>
                <a:cs typeface="Arial" pitchFamily="34" charset="-120"/>
              </a:rPr>
              <a:t>Dijkstra</a:t>
            </a:r>
            <a:endParaRPr lang="en-US" sz="2200" dirty="0"/>
          </a:p>
        </p:txBody>
      </p:sp>
      <p:sp>
        <p:nvSpPr>
          <p:cNvPr id="32" name="Shape 30"/>
          <p:cNvSpPr/>
          <p:nvPr/>
        </p:nvSpPr>
        <p:spPr>
          <a:xfrm>
            <a:off x="896112" y="4462272"/>
            <a:ext cx="2221992" cy="685800"/>
          </a:xfrm>
          <a:prstGeom prst="roundRect">
            <a:avLst>
              <a:gd name="adj" fmla="val 17333"/>
            </a:avLst>
          </a:prstGeom>
          <a:solidFill>
            <a:srgbClr val="EFECFD"/>
          </a:solidFill>
          <a:ln w="10160">
            <a:solidFill>
              <a:srgbClr val="EFECFD"/>
            </a:solidFill>
            <a:prstDash val="solid"/>
          </a:ln>
        </p:spPr>
        <p:txBody>
          <a:bodyPr/>
          <a:p/>
        </p:txBody>
      </p:sp>
      <p:sp>
        <p:nvSpPr>
          <p:cNvPr id="33" name="Text 31"/>
          <p:cNvSpPr/>
          <p:nvPr/>
        </p:nvSpPr>
        <p:spPr>
          <a:xfrm>
            <a:off x="996696" y="4581144"/>
            <a:ext cx="2020824" cy="429768"/>
          </a:xfrm>
          <a:prstGeom prst="rect">
            <a:avLst/>
          </a:prstGeom>
          <a:noFill/>
          <a:ln/>
        </p:spPr>
        <p:txBody>
          <a:bodyPr wrap="square" lIns="0" tIns="0" rIns="0" bIns="0" rtlCol="0" anchor="ctr">
            <a:normAutofit/>
          </a:bodyPr>
          <a:lstStyle/>
          <a:p>
            <a:pPr algn="ctr" indent="0" marL="0">
              <a:buNone/>
            </a:pPr>
            <a:r>
              <a:rPr lang="en-US" sz="2200" b="1" dirty="0">
                <a:solidFill>
                  <a:srgbClr val="6C5CE7"/>
                </a:solidFill>
                <a:latin typeface="Arial" pitchFamily="34" charset="0"/>
                <a:ea typeface="Arial" pitchFamily="34" charset="-122"/>
                <a:cs typeface="Arial" pitchFamily="34" charset="-120"/>
              </a:rPr>
              <a:t>UCS</a:t>
            </a:r>
            <a:endParaRPr lang="en-US" sz="2200" dirty="0"/>
          </a:p>
        </p:txBody>
      </p:sp>
      <p:sp>
        <p:nvSpPr>
          <p:cNvPr id="34" name="Shape 32"/>
          <p:cNvSpPr/>
          <p:nvPr/>
        </p:nvSpPr>
        <p:spPr>
          <a:xfrm>
            <a:off x="3328416" y="4462272"/>
            <a:ext cx="2221992" cy="685800"/>
          </a:xfrm>
          <a:prstGeom prst="roundRect">
            <a:avLst>
              <a:gd name="adj" fmla="val 17333"/>
            </a:avLst>
          </a:prstGeom>
          <a:solidFill>
            <a:srgbClr val="EFECFD"/>
          </a:solidFill>
          <a:ln w="10160">
            <a:solidFill>
              <a:srgbClr val="EFECFD"/>
            </a:solidFill>
            <a:prstDash val="solid"/>
          </a:ln>
        </p:spPr>
        <p:txBody>
          <a:bodyPr/>
          <a:p/>
        </p:txBody>
      </p:sp>
      <p:sp>
        <p:nvSpPr>
          <p:cNvPr id="35" name="Text 33"/>
          <p:cNvSpPr/>
          <p:nvPr/>
        </p:nvSpPr>
        <p:spPr>
          <a:xfrm>
            <a:off x="3429000" y="4581144"/>
            <a:ext cx="2020824" cy="429768"/>
          </a:xfrm>
          <a:prstGeom prst="rect">
            <a:avLst/>
          </a:prstGeom>
          <a:noFill/>
          <a:ln/>
        </p:spPr>
        <p:txBody>
          <a:bodyPr wrap="square" lIns="0" tIns="0" rIns="0" bIns="0" rtlCol="0" anchor="ctr">
            <a:normAutofit/>
          </a:bodyPr>
          <a:lstStyle/>
          <a:p>
            <a:pPr algn="ctr" indent="0" marL="0">
              <a:buNone/>
            </a:pPr>
            <a:r>
              <a:rPr lang="en-US" sz="2200" b="1" dirty="0">
                <a:solidFill>
                  <a:srgbClr val="6C5CE7"/>
                </a:solidFill>
                <a:latin typeface="Arial" pitchFamily="34" charset="0"/>
                <a:ea typeface="Arial" pitchFamily="34" charset="-122"/>
                <a:cs typeface="Arial" pitchFamily="34" charset="-120"/>
              </a:rPr>
              <a:t>Greedy</a:t>
            </a:r>
            <a:endParaRPr lang="en-US" sz="2200" dirty="0"/>
          </a:p>
        </p:txBody>
      </p:sp>
      <p:sp>
        <p:nvSpPr>
          <p:cNvPr id="36" name="Shape 34"/>
          <p:cNvSpPr/>
          <p:nvPr/>
        </p:nvSpPr>
        <p:spPr>
          <a:xfrm>
            <a:off x="6565392" y="2670048"/>
            <a:ext cx="2221992" cy="685800"/>
          </a:xfrm>
          <a:prstGeom prst="roundRect">
            <a:avLst>
              <a:gd name="adj" fmla="val 17333"/>
            </a:avLst>
          </a:prstGeom>
          <a:solidFill>
            <a:srgbClr val="EAF2FE"/>
          </a:solidFill>
          <a:ln w="10160">
            <a:solidFill>
              <a:srgbClr val="EAF2FE"/>
            </a:solidFill>
            <a:prstDash val="solid"/>
          </a:ln>
        </p:spPr>
        <p:txBody>
          <a:bodyPr/>
          <a:p/>
        </p:txBody>
      </p:sp>
      <p:sp>
        <p:nvSpPr>
          <p:cNvPr id="37" name="Text 35"/>
          <p:cNvSpPr/>
          <p:nvPr/>
        </p:nvSpPr>
        <p:spPr>
          <a:xfrm>
            <a:off x="6647688" y="2788920"/>
            <a:ext cx="2057400" cy="429768"/>
          </a:xfrm>
          <a:prstGeom prst="rect">
            <a:avLst/>
          </a:prstGeom>
          <a:noFill/>
          <a:ln/>
        </p:spPr>
        <p:txBody>
          <a:bodyPr wrap="square" lIns="0" tIns="0" rIns="0" bIns="0" rtlCol="0" anchor="ctr">
            <a:normAutofit/>
          </a:bodyPr>
          <a:lstStyle/>
          <a:p>
            <a:pPr algn="ctr" indent="0" marL="0">
              <a:buNone/>
            </a:pPr>
            <a:r>
              <a:rPr lang="en-US" sz="1950" b="1" dirty="0">
                <a:solidFill>
                  <a:srgbClr val="3977D5"/>
                </a:solidFill>
                <a:latin typeface="Arial" pitchFamily="34" charset="0"/>
                <a:ea typeface="Arial" pitchFamily="34" charset="-122"/>
                <a:cs typeface="Arial" pitchFamily="34" charset="-120"/>
              </a:rPr>
              <a:t>Path found?</a:t>
            </a:r>
            <a:endParaRPr lang="en-US" sz="1950" dirty="0"/>
          </a:p>
        </p:txBody>
      </p:sp>
      <p:sp>
        <p:nvSpPr>
          <p:cNvPr id="38" name="Shape 36"/>
          <p:cNvSpPr/>
          <p:nvPr/>
        </p:nvSpPr>
        <p:spPr>
          <a:xfrm>
            <a:off x="8997696" y="2670048"/>
            <a:ext cx="2221992" cy="685800"/>
          </a:xfrm>
          <a:prstGeom prst="roundRect">
            <a:avLst>
              <a:gd name="adj" fmla="val 17333"/>
            </a:avLst>
          </a:prstGeom>
          <a:solidFill>
            <a:srgbClr val="EAF2FE"/>
          </a:solidFill>
          <a:ln w="10160">
            <a:solidFill>
              <a:srgbClr val="EAF2FE"/>
            </a:solidFill>
            <a:prstDash val="solid"/>
          </a:ln>
        </p:spPr>
        <p:txBody>
          <a:bodyPr/>
          <a:p/>
        </p:txBody>
      </p:sp>
      <p:sp>
        <p:nvSpPr>
          <p:cNvPr id="39" name="Text 37"/>
          <p:cNvSpPr/>
          <p:nvPr/>
        </p:nvSpPr>
        <p:spPr>
          <a:xfrm>
            <a:off x="9079992" y="2788920"/>
            <a:ext cx="2057400" cy="429768"/>
          </a:xfrm>
          <a:prstGeom prst="rect">
            <a:avLst/>
          </a:prstGeom>
          <a:noFill/>
          <a:ln/>
        </p:spPr>
        <p:txBody>
          <a:bodyPr wrap="square" lIns="0" tIns="0" rIns="0" bIns="0" rtlCol="0" anchor="ctr">
            <a:normAutofit/>
          </a:bodyPr>
          <a:lstStyle/>
          <a:p>
            <a:pPr algn="ctr" indent="0" marL="0">
              <a:buNone/>
            </a:pPr>
            <a:r>
              <a:rPr lang="en-US" sz="1950" b="1" dirty="0">
                <a:solidFill>
                  <a:srgbClr val="3977D5"/>
                </a:solidFill>
                <a:latin typeface="Arial" pitchFamily="34" charset="0"/>
                <a:ea typeface="Arial" pitchFamily="34" charset="-122"/>
                <a:cs typeface="Arial" pitchFamily="34" charset="-120"/>
              </a:rPr>
              <a:t>Selected exit</a:t>
            </a:r>
            <a:endParaRPr lang="en-US" sz="1950" dirty="0"/>
          </a:p>
        </p:txBody>
      </p:sp>
      <p:sp>
        <p:nvSpPr>
          <p:cNvPr id="40" name="Shape 38"/>
          <p:cNvSpPr/>
          <p:nvPr/>
        </p:nvSpPr>
        <p:spPr>
          <a:xfrm>
            <a:off x="6565392" y="3566160"/>
            <a:ext cx="2221992" cy="685800"/>
          </a:xfrm>
          <a:prstGeom prst="roundRect">
            <a:avLst>
              <a:gd name="adj" fmla="val 17333"/>
            </a:avLst>
          </a:prstGeom>
          <a:solidFill>
            <a:srgbClr val="EAF2FE"/>
          </a:solidFill>
          <a:ln w="10160">
            <a:solidFill>
              <a:srgbClr val="EAF2FE"/>
            </a:solidFill>
            <a:prstDash val="solid"/>
          </a:ln>
        </p:spPr>
        <p:txBody>
          <a:bodyPr/>
          <a:p/>
        </p:txBody>
      </p:sp>
      <p:sp>
        <p:nvSpPr>
          <p:cNvPr id="41" name="Text 39"/>
          <p:cNvSpPr/>
          <p:nvPr/>
        </p:nvSpPr>
        <p:spPr>
          <a:xfrm>
            <a:off x="6647688" y="3685032"/>
            <a:ext cx="2057400" cy="429768"/>
          </a:xfrm>
          <a:prstGeom prst="rect">
            <a:avLst/>
          </a:prstGeom>
          <a:noFill/>
          <a:ln/>
        </p:spPr>
        <p:txBody>
          <a:bodyPr wrap="square" lIns="0" tIns="0" rIns="0" bIns="0" rtlCol="0" anchor="ctr">
            <a:normAutofit/>
          </a:bodyPr>
          <a:lstStyle/>
          <a:p>
            <a:pPr algn="ctr" indent="0" marL="0">
              <a:buNone/>
            </a:pPr>
            <a:r>
              <a:rPr lang="en-US" sz="1950" b="1" dirty="0">
                <a:solidFill>
                  <a:srgbClr val="3977D5"/>
                </a:solidFill>
                <a:latin typeface="Arial" pitchFamily="34" charset="0"/>
                <a:ea typeface="Arial" pitchFamily="34" charset="-122"/>
                <a:cs typeface="Arial" pitchFamily="34" charset="-120"/>
              </a:rPr>
              <a:t>Route cost</a:t>
            </a:r>
            <a:endParaRPr lang="en-US" sz="1950" dirty="0"/>
          </a:p>
        </p:txBody>
      </p:sp>
      <p:sp>
        <p:nvSpPr>
          <p:cNvPr id="42" name="Shape 40"/>
          <p:cNvSpPr/>
          <p:nvPr/>
        </p:nvSpPr>
        <p:spPr>
          <a:xfrm>
            <a:off x="8997696" y="3566160"/>
            <a:ext cx="2221992" cy="685800"/>
          </a:xfrm>
          <a:prstGeom prst="roundRect">
            <a:avLst>
              <a:gd name="adj" fmla="val 17333"/>
            </a:avLst>
          </a:prstGeom>
          <a:solidFill>
            <a:srgbClr val="EAF2FE"/>
          </a:solidFill>
          <a:ln w="10160">
            <a:solidFill>
              <a:srgbClr val="EAF2FE"/>
            </a:solidFill>
            <a:prstDash val="solid"/>
          </a:ln>
        </p:spPr>
        <p:txBody>
          <a:bodyPr/>
          <a:p/>
        </p:txBody>
      </p:sp>
      <p:sp>
        <p:nvSpPr>
          <p:cNvPr id="43" name="Text 41"/>
          <p:cNvSpPr/>
          <p:nvPr/>
        </p:nvSpPr>
        <p:spPr>
          <a:xfrm>
            <a:off x="9079992" y="3685032"/>
            <a:ext cx="2057400" cy="429768"/>
          </a:xfrm>
          <a:prstGeom prst="rect">
            <a:avLst/>
          </a:prstGeom>
          <a:noFill/>
          <a:ln/>
        </p:spPr>
        <p:txBody>
          <a:bodyPr wrap="square" lIns="0" tIns="0" rIns="0" bIns="0" rtlCol="0" anchor="ctr">
            <a:normAutofit/>
          </a:bodyPr>
          <a:lstStyle/>
          <a:p>
            <a:pPr algn="ctr" indent="0" marL="0">
              <a:buNone/>
            </a:pPr>
            <a:r>
              <a:rPr lang="en-US" sz="1950" b="1" dirty="0">
                <a:solidFill>
                  <a:srgbClr val="3977D5"/>
                </a:solidFill>
                <a:latin typeface="Arial" pitchFamily="34" charset="0"/>
                <a:ea typeface="Arial" pitchFamily="34" charset="-122"/>
                <a:cs typeface="Arial" pitchFamily="34" charset="-120"/>
              </a:rPr>
              <a:t>Path length</a:t>
            </a:r>
            <a:endParaRPr lang="en-US" sz="1950" dirty="0"/>
          </a:p>
        </p:txBody>
      </p:sp>
      <p:sp>
        <p:nvSpPr>
          <p:cNvPr id="44" name="Shape 42"/>
          <p:cNvSpPr/>
          <p:nvPr/>
        </p:nvSpPr>
        <p:spPr>
          <a:xfrm>
            <a:off x="6565392" y="4462272"/>
            <a:ext cx="2221992" cy="685800"/>
          </a:xfrm>
          <a:prstGeom prst="roundRect">
            <a:avLst>
              <a:gd name="adj" fmla="val 17333"/>
            </a:avLst>
          </a:prstGeom>
          <a:solidFill>
            <a:srgbClr val="EAF2FE"/>
          </a:solidFill>
          <a:ln w="10160">
            <a:solidFill>
              <a:srgbClr val="EAF2FE"/>
            </a:solidFill>
            <a:prstDash val="solid"/>
          </a:ln>
        </p:spPr>
        <p:txBody>
          <a:bodyPr/>
          <a:p/>
        </p:txBody>
      </p:sp>
      <p:sp>
        <p:nvSpPr>
          <p:cNvPr id="45" name="Text 43"/>
          <p:cNvSpPr/>
          <p:nvPr/>
        </p:nvSpPr>
        <p:spPr>
          <a:xfrm>
            <a:off x="6647688" y="4581144"/>
            <a:ext cx="2057400" cy="429768"/>
          </a:xfrm>
          <a:prstGeom prst="rect">
            <a:avLst/>
          </a:prstGeom>
          <a:noFill/>
          <a:ln/>
        </p:spPr>
        <p:txBody>
          <a:bodyPr wrap="square" lIns="0" tIns="0" rIns="0" bIns="0" rtlCol="0" anchor="ctr">
            <a:normAutofit/>
          </a:bodyPr>
          <a:lstStyle/>
          <a:p>
            <a:pPr algn="ctr" indent="0" marL="0">
              <a:buNone/>
            </a:pPr>
            <a:r>
              <a:rPr lang="en-US" sz="1950" b="1" dirty="0">
                <a:solidFill>
                  <a:srgbClr val="3977D5"/>
                </a:solidFill>
                <a:latin typeface="Arial" pitchFamily="34" charset="0"/>
                <a:ea typeface="Arial" pitchFamily="34" charset="-122"/>
                <a:cs typeface="Arial" pitchFamily="34" charset="-120"/>
              </a:rPr>
              <a:t>Nodes explored</a:t>
            </a:r>
            <a:endParaRPr lang="en-US" sz="1950" dirty="0"/>
          </a:p>
        </p:txBody>
      </p:sp>
      <p:sp>
        <p:nvSpPr>
          <p:cNvPr id="46" name="Shape 44"/>
          <p:cNvSpPr/>
          <p:nvPr/>
        </p:nvSpPr>
        <p:spPr>
          <a:xfrm>
            <a:off x="8997696" y="4462272"/>
            <a:ext cx="2221992" cy="685800"/>
          </a:xfrm>
          <a:prstGeom prst="roundRect">
            <a:avLst>
              <a:gd name="adj" fmla="val 17333"/>
            </a:avLst>
          </a:prstGeom>
          <a:solidFill>
            <a:srgbClr val="EAF2FE"/>
          </a:solidFill>
          <a:ln w="10160">
            <a:solidFill>
              <a:srgbClr val="EAF2FE"/>
            </a:solidFill>
            <a:prstDash val="solid"/>
          </a:ln>
        </p:spPr>
        <p:txBody>
          <a:bodyPr/>
          <a:p/>
        </p:txBody>
      </p:sp>
      <p:sp>
        <p:nvSpPr>
          <p:cNvPr id="47" name="Text 45"/>
          <p:cNvSpPr/>
          <p:nvPr/>
        </p:nvSpPr>
        <p:spPr>
          <a:xfrm>
            <a:off x="9079992" y="4581144"/>
            <a:ext cx="2057400" cy="429768"/>
          </a:xfrm>
          <a:prstGeom prst="rect">
            <a:avLst/>
          </a:prstGeom>
          <a:noFill/>
          <a:ln/>
        </p:spPr>
        <p:txBody>
          <a:bodyPr wrap="square" lIns="0" tIns="0" rIns="0" bIns="0" rtlCol="0" anchor="ctr">
            <a:normAutofit/>
          </a:bodyPr>
          <a:lstStyle/>
          <a:p>
            <a:pPr algn="ctr" indent="0" marL="0">
              <a:buNone/>
            </a:pPr>
            <a:r>
              <a:rPr lang="en-US" sz="1950" b="1" dirty="0">
                <a:solidFill>
                  <a:srgbClr val="3977D5"/>
                </a:solidFill>
                <a:latin typeface="Arial" pitchFamily="34" charset="0"/>
                <a:ea typeface="Arial" pitchFamily="34" charset="-122"/>
                <a:cs typeface="Arial" pitchFamily="34" charset="-120"/>
              </a:rPr>
              <a:t>Execution time</a:t>
            </a:r>
            <a:endParaRPr lang="en-US" sz="1950" dirty="0"/>
          </a:p>
        </p:txBody>
      </p:sp>
      <p:sp>
        <p:nvSpPr>
          <p:cNvPr id="48" name="Shape 46"/>
          <p:cNvSpPr/>
          <p:nvPr/>
        </p:nvSpPr>
        <p:spPr>
          <a:xfrm>
            <a:off x="585216" y="5897880"/>
            <a:ext cx="11021568" cy="429768"/>
          </a:xfrm>
          <a:prstGeom prst="roundRect">
            <a:avLst>
              <a:gd name="adj" fmla="val 27660"/>
            </a:avLst>
          </a:prstGeom>
          <a:solidFill>
            <a:srgbClr val="E7F6F2"/>
          </a:solidFill>
          <a:ln w="10160">
            <a:solidFill>
              <a:srgbClr val="E7F6F2"/>
            </a:solidFill>
            <a:prstDash val="solid"/>
          </a:ln>
        </p:spPr>
        <p:txBody>
          <a:bodyPr/>
          <a:p/>
        </p:txBody>
      </p:sp>
      <p:sp>
        <p:nvSpPr>
          <p:cNvPr id="49" name="Text 47"/>
          <p:cNvSpPr/>
          <p:nvPr/>
        </p:nvSpPr>
        <p:spPr>
          <a:xfrm>
            <a:off x="722376" y="5939028"/>
            <a:ext cx="10747248" cy="342900"/>
          </a:xfrm>
          <a:prstGeom prst="rect">
            <a:avLst/>
          </a:prstGeom>
          <a:noFill/>
          <a:ln/>
        </p:spPr>
        <p:txBody>
          <a:bodyPr wrap="square" lIns="0" tIns="0" rIns="0" bIns="0" rtlCol="0" anchor="ctr">
            <a:normAutofit/>
          </a:bodyPr>
          <a:lstStyle/>
          <a:p>
            <a:pPr algn="ctr" indent="0" marL="0">
              <a:buNone/>
            </a:pPr>
            <a:r>
              <a:rPr lang="en-US" sz="1950" b="1" dirty="0">
                <a:solidFill>
                  <a:srgbClr val="138D87"/>
                </a:solidFill>
                <a:latin typeface="Arial" pitchFamily="34" charset="0"/>
                <a:ea typeface="Arial" pitchFamily="34" charset="-122"/>
                <a:cs typeface="Arial" pitchFamily="34" charset="-120"/>
              </a:rPr>
              <a:t>Same map · Same start · Same exits · Same hazards</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F"/>
        </a:solidFill>
      </p:bgPr>
    </p:bg>
    <p:spTree>
      <p:nvGrpSpPr>
        <p:cNvPr id="1" name=""/>
        <p:cNvGrpSpPr/>
        <p:nvPr/>
      </p:nvGrpSpPr>
      <p:grpSpPr>
        <a:xfrm>
          <a:off x="0" y="0"/>
          <a:ext cx="0" cy="0"/>
          <a:chOff x="0" y="0"/>
          <a:chExt cx="0" cy="0"/>
        </a:xfrm>
      </p:grpSpPr>
      <p:sp>
        <p:nvSpPr>
          <p:cNvPr id="4" name="Text 2"/>
          <p:cNvSpPr/>
          <p:nvPr/>
        </p:nvSpPr>
        <p:spPr>
          <a:xfrm>
            <a:off x="585216" y="832104"/>
            <a:ext cx="10314432" cy="530352"/>
          </a:xfrm>
          <a:prstGeom prst="rect">
            <a:avLst/>
          </a:prstGeom>
          <a:noFill/>
          <a:ln/>
        </p:spPr>
        <p:txBody>
          <a:bodyPr wrap="square" lIns="0" tIns="0" rIns="0" bIns="0" rtlCol="0" anchor="ctr">
            <a:normAutofit/>
          </a:bodyPr>
          <a:lstStyle/>
          <a:p>
            <a:pPr algn="l" indent="0" marL="0">
              <a:buNone/>
            </a:pPr>
            <a:r>
              <a:rPr lang="en-US" sz="2900" b="1" dirty="0">
                <a:solidFill>
                  <a:srgbClr val="25344E"/>
                </a:solidFill>
                <a:latin typeface="Arial" pitchFamily="34" charset="0"/>
                <a:ea typeface="Arial" pitchFamily="34" charset="-122"/>
                <a:cs typeface="Arial" pitchFamily="34" charset="-120"/>
              </a:rPr>
              <a:t>Technology Stack and Team Assignment</a:t>
            </a:r>
            <a:endParaRPr lang="en-US" sz="2900" dirty="0"/>
          </a:p>
        </p:txBody>
      </p:sp>
      <p:sp>
        <p:nvSpPr>
          <p:cNvPr id="5" name="Shape 3"/>
          <p:cNvSpPr/>
          <p:nvPr/>
        </p:nvSpPr>
        <p:spPr>
          <a:xfrm>
            <a:off x="10991088" y="877824"/>
            <a:ext cx="448056" cy="411480"/>
          </a:xfrm>
          <a:prstGeom prst="roundRect">
            <a:avLst>
              <a:gd name="adj" fmla="val 28889"/>
            </a:avLst>
          </a:prstGeom>
          <a:solidFill>
            <a:srgbClr val="FFFFFF"/>
          </a:solidFill>
          <a:ln w="10160">
            <a:solidFill>
              <a:srgbClr val="FFFFFF"/>
            </a:solidFill>
            <a:prstDash val="solid"/>
          </a:ln>
        </p:spPr>
        <p:txBody>
          <a:bodyPr/>
          <a:p/>
        </p:txBody>
      </p:sp>
      <p:sp>
        <p:nvSpPr>
          <p:cNvPr id="6" name="Text 4"/>
          <p:cNvSpPr/>
          <p:nvPr/>
        </p:nvSpPr>
        <p:spPr>
          <a:xfrm>
            <a:off x="11064240" y="900684"/>
            <a:ext cx="301752" cy="365760"/>
          </a:xfrm>
          <a:prstGeom prst="rect">
            <a:avLst/>
          </a:prstGeom>
          <a:noFill/>
          <a:ln/>
        </p:spPr>
        <p:txBody>
          <a:bodyPr wrap="square" lIns="0" tIns="0" rIns="0" bIns="0" rtlCol="0" anchor="ctr">
            <a:normAutofit/>
          </a:bodyPr>
          <a:lstStyle/>
          <a:p>
            <a:pPr algn="ctr" indent="0" marL="0">
              <a:buNone/>
            </a:pPr>
            <a:r>
              <a:rPr lang="en-US" sz="1300" b="1" dirty="0">
                <a:solidFill>
                  <a:srgbClr val="6C5CE7"/>
                </a:solidFill>
                <a:latin typeface="Arial" pitchFamily="34" charset="0"/>
                <a:ea typeface="Arial" pitchFamily="34" charset="-122"/>
                <a:cs typeface="Arial" pitchFamily="34" charset="-120"/>
              </a:rPr>
              <a:t>08</a:t>
            </a:r>
            <a:endParaRPr lang="en-US" sz="1300" dirty="0"/>
          </a:p>
        </p:txBody>
      </p:sp>
      <p:sp>
        <p:nvSpPr>
          <p:cNvPr id="7" name="Shape 5"/>
          <p:cNvSpPr/>
          <p:nvPr/>
        </p:nvSpPr>
        <p:spPr>
          <a:xfrm>
            <a:off x="585216" y="6451092"/>
            <a:ext cx="11021568" cy="0"/>
          </a:xfrm>
          <a:prstGeom prst="line">
            <a:avLst/>
          </a:prstGeom>
          <a:noFill/>
          <a:ln w="9525">
            <a:solidFill>
              <a:srgbClr val="DFE6F2"/>
            </a:solidFill>
            <a:prstDash val="solid"/>
            <a:headEnd type="none"/>
            <a:tailEnd type="none"/>
          </a:ln>
        </p:spPr>
        <p:txBody>
          <a:bodyPr/>
          <a:p/>
        </p:txBody>
      </p:sp>
      <p:sp>
        <p:nvSpPr>
          <p:cNvPr id="9" name="Shape 7"/>
          <p:cNvSpPr/>
          <p:nvPr/>
        </p:nvSpPr>
        <p:spPr>
          <a:xfrm>
            <a:off x="10131552" y="6588252"/>
            <a:ext cx="27432" cy="27432"/>
          </a:xfrm>
          <a:prstGeom prst="ellipse">
            <a:avLst/>
          </a:prstGeom>
          <a:solidFill>
            <a:srgbClr val="DFE6F2"/>
          </a:solidFill>
          <a:ln w="12700">
            <a:solidFill>
              <a:srgbClr val="DFE6F2">
                <a:alpha val="0"/>
              </a:srgbClr>
            </a:solidFill>
            <a:prstDash val="solid"/>
          </a:ln>
        </p:spPr>
        <p:txBody>
          <a:bodyPr/>
          <a:p/>
        </p:txBody>
      </p:sp>
      <p:sp>
        <p:nvSpPr>
          <p:cNvPr id="10" name="Shape 8"/>
          <p:cNvSpPr/>
          <p:nvPr/>
        </p:nvSpPr>
        <p:spPr>
          <a:xfrm>
            <a:off x="10232136" y="6588252"/>
            <a:ext cx="27432" cy="27432"/>
          </a:xfrm>
          <a:prstGeom prst="ellipse">
            <a:avLst/>
          </a:prstGeom>
          <a:solidFill>
            <a:srgbClr val="DFE6F2"/>
          </a:solidFill>
          <a:ln w="12700">
            <a:solidFill>
              <a:srgbClr val="DFE6F2">
                <a:alpha val="0"/>
              </a:srgbClr>
            </a:solidFill>
            <a:prstDash val="solid"/>
          </a:ln>
        </p:spPr>
        <p:txBody>
          <a:bodyPr/>
          <a:p/>
        </p:txBody>
      </p:sp>
      <p:sp>
        <p:nvSpPr>
          <p:cNvPr id="11" name="Shape 9"/>
          <p:cNvSpPr/>
          <p:nvPr/>
        </p:nvSpPr>
        <p:spPr>
          <a:xfrm>
            <a:off x="10332720" y="6588252"/>
            <a:ext cx="27432" cy="27432"/>
          </a:xfrm>
          <a:prstGeom prst="ellipse">
            <a:avLst/>
          </a:prstGeom>
          <a:solidFill>
            <a:srgbClr val="DFE6F2"/>
          </a:solidFill>
          <a:ln w="12700">
            <a:solidFill>
              <a:srgbClr val="DFE6F2">
                <a:alpha val="0"/>
              </a:srgbClr>
            </a:solidFill>
            <a:prstDash val="solid"/>
          </a:ln>
        </p:spPr>
        <p:txBody>
          <a:bodyPr/>
          <a:p/>
        </p:txBody>
      </p:sp>
      <p:sp>
        <p:nvSpPr>
          <p:cNvPr id="12" name="Shape 10"/>
          <p:cNvSpPr/>
          <p:nvPr/>
        </p:nvSpPr>
        <p:spPr>
          <a:xfrm>
            <a:off x="10433304" y="6588252"/>
            <a:ext cx="27432" cy="27432"/>
          </a:xfrm>
          <a:prstGeom prst="ellipse">
            <a:avLst/>
          </a:prstGeom>
          <a:solidFill>
            <a:srgbClr val="DFE6F2"/>
          </a:solidFill>
          <a:ln w="12700">
            <a:solidFill>
              <a:srgbClr val="DFE6F2">
                <a:alpha val="0"/>
              </a:srgbClr>
            </a:solidFill>
            <a:prstDash val="solid"/>
          </a:ln>
        </p:spPr>
        <p:txBody>
          <a:bodyPr/>
          <a:p/>
        </p:txBody>
      </p:sp>
      <p:sp>
        <p:nvSpPr>
          <p:cNvPr id="13" name="Shape 11"/>
          <p:cNvSpPr/>
          <p:nvPr/>
        </p:nvSpPr>
        <p:spPr>
          <a:xfrm>
            <a:off x="10533888" y="6588252"/>
            <a:ext cx="27432" cy="27432"/>
          </a:xfrm>
          <a:prstGeom prst="ellipse">
            <a:avLst/>
          </a:prstGeom>
          <a:solidFill>
            <a:srgbClr val="DFE6F2"/>
          </a:solidFill>
          <a:ln w="12700">
            <a:solidFill>
              <a:srgbClr val="DFE6F2">
                <a:alpha val="0"/>
              </a:srgbClr>
            </a:solidFill>
            <a:prstDash val="solid"/>
          </a:ln>
        </p:spPr>
        <p:txBody>
          <a:bodyPr/>
          <a:p/>
        </p:txBody>
      </p:sp>
      <p:sp>
        <p:nvSpPr>
          <p:cNvPr id="14" name="Shape 12"/>
          <p:cNvSpPr/>
          <p:nvPr/>
        </p:nvSpPr>
        <p:spPr>
          <a:xfrm>
            <a:off x="10634472" y="6588252"/>
            <a:ext cx="27432" cy="27432"/>
          </a:xfrm>
          <a:prstGeom prst="ellipse">
            <a:avLst/>
          </a:prstGeom>
          <a:solidFill>
            <a:srgbClr val="DFE6F2"/>
          </a:solidFill>
          <a:ln w="12700">
            <a:solidFill>
              <a:srgbClr val="DFE6F2">
                <a:alpha val="0"/>
              </a:srgbClr>
            </a:solidFill>
            <a:prstDash val="solid"/>
          </a:ln>
        </p:spPr>
        <p:txBody>
          <a:bodyPr/>
          <a:p/>
        </p:txBody>
      </p:sp>
      <p:sp>
        <p:nvSpPr>
          <p:cNvPr id="15" name="Shape 13"/>
          <p:cNvSpPr/>
          <p:nvPr/>
        </p:nvSpPr>
        <p:spPr>
          <a:xfrm>
            <a:off x="10735056" y="6588252"/>
            <a:ext cx="27432" cy="27432"/>
          </a:xfrm>
          <a:prstGeom prst="ellipse">
            <a:avLst/>
          </a:prstGeom>
          <a:solidFill>
            <a:srgbClr val="DFE6F2"/>
          </a:solidFill>
          <a:ln w="12700">
            <a:solidFill>
              <a:srgbClr val="DFE6F2">
                <a:alpha val="0"/>
              </a:srgbClr>
            </a:solidFill>
            <a:prstDash val="solid"/>
          </a:ln>
        </p:spPr>
        <p:txBody>
          <a:bodyPr/>
          <a:p/>
        </p:txBody>
      </p:sp>
      <p:sp>
        <p:nvSpPr>
          <p:cNvPr id="16" name="Shape 14"/>
          <p:cNvSpPr/>
          <p:nvPr/>
        </p:nvSpPr>
        <p:spPr>
          <a:xfrm>
            <a:off x="10835640" y="6588252"/>
            <a:ext cx="27432" cy="27432"/>
          </a:xfrm>
          <a:prstGeom prst="ellipse">
            <a:avLst/>
          </a:prstGeom>
          <a:solidFill>
            <a:srgbClr val="6C5CE7"/>
          </a:solidFill>
          <a:ln w="12700">
            <a:solidFill>
              <a:srgbClr val="6C5CE7">
                <a:alpha val="0"/>
              </a:srgbClr>
            </a:solidFill>
            <a:prstDash val="solid"/>
          </a:ln>
        </p:spPr>
        <p:txBody>
          <a:bodyPr/>
          <a:p/>
        </p:txBody>
      </p:sp>
      <p:sp>
        <p:nvSpPr>
          <p:cNvPr id="17" name="Shape 15"/>
          <p:cNvSpPr/>
          <p:nvPr/>
        </p:nvSpPr>
        <p:spPr>
          <a:xfrm>
            <a:off x="10936224" y="6588252"/>
            <a:ext cx="27432" cy="27432"/>
          </a:xfrm>
          <a:prstGeom prst="ellipse">
            <a:avLst/>
          </a:prstGeom>
          <a:solidFill>
            <a:srgbClr val="DFE6F2"/>
          </a:solidFill>
          <a:ln w="12700">
            <a:solidFill>
              <a:srgbClr val="DFE6F2">
                <a:alpha val="0"/>
              </a:srgbClr>
            </a:solidFill>
            <a:prstDash val="solid"/>
          </a:ln>
        </p:spPr>
        <p:txBody>
          <a:bodyPr/>
          <a:p/>
        </p:txBody>
      </p:sp>
      <p:sp>
        <p:nvSpPr>
          <p:cNvPr id="18" name="Shape 16"/>
          <p:cNvSpPr/>
          <p:nvPr/>
        </p:nvSpPr>
        <p:spPr>
          <a:xfrm>
            <a:off x="11036808" y="6588252"/>
            <a:ext cx="27432" cy="27432"/>
          </a:xfrm>
          <a:prstGeom prst="ellipse">
            <a:avLst/>
          </a:prstGeom>
          <a:solidFill>
            <a:srgbClr val="DFE6F2"/>
          </a:solidFill>
          <a:ln w="12700">
            <a:solidFill>
              <a:srgbClr val="DFE6F2">
                <a:alpha val="0"/>
              </a:srgbClr>
            </a:solidFill>
            <a:prstDash val="solid"/>
          </a:ln>
        </p:spPr>
        <p:txBody>
          <a:bodyPr/>
          <a:p/>
        </p:txBody>
      </p:sp>
      <p:sp>
        <p:nvSpPr>
          <p:cNvPr id="19" name="Text 17"/>
          <p:cNvSpPr/>
          <p:nvPr/>
        </p:nvSpPr>
        <p:spPr>
          <a:xfrm>
            <a:off x="11228832" y="6519672"/>
            <a:ext cx="338328" cy="173736"/>
          </a:xfrm>
          <a:prstGeom prst="rect">
            <a:avLst/>
          </a:prstGeom>
          <a:noFill/>
          <a:ln/>
        </p:spPr>
        <p:txBody>
          <a:bodyPr wrap="square" lIns="0" tIns="0" rIns="0" bIns="0" rtlCol="0" anchor="ctr">
            <a:normAutofit/>
          </a:bodyPr>
          <a:lstStyle/>
          <a:p>
            <a:pPr algn="ctr" indent="0" marL="0">
              <a:buNone/>
            </a:pPr>
            <a:r>
              <a:rPr lang="en-US" sz="920" b="1" dirty="0">
                <a:solidFill>
                  <a:srgbClr val="4E5F7B"/>
                </a:solidFill>
                <a:latin typeface="Arial" pitchFamily="34" charset="0"/>
                <a:ea typeface="Arial" pitchFamily="34" charset="-122"/>
                <a:cs typeface="Arial" pitchFamily="34" charset="-120"/>
              </a:rPr>
              <a:t>08</a:t>
            </a:r>
            <a:endParaRPr lang="en-US" sz="920" dirty="0"/>
          </a:p>
        </p:txBody>
      </p:sp>
      <p:sp>
        <p:nvSpPr>
          <p:cNvPr id="20" name="Shape 18"/>
          <p:cNvSpPr/>
          <p:nvPr/>
        </p:nvSpPr>
        <p:spPr>
          <a:xfrm>
            <a:off x="585216" y="1645920"/>
            <a:ext cx="5349240" cy="4059936"/>
          </a:xfrm>
          <a:prstGeom prst="roundRect">
            <a:avLst>
              <a:gd name="adj" fmla="val 2928"/>
            </a:avLst>
          </a:prstGeom>
          <a:solidFill>
            <a:srgbClr val="FFFFFF"/>
          </a:solidFill>
          <a:ln w="10160">
            <a:solidFill>
              <a:srgbClr val="DFE6F2"/>
            </a:solidFill>
            <a:prstDash val="solid"/>
          </a:ln>
        </p:spPr>
        <p:txBody>
          <a:bodyPr/>
          <a:p/>
        </p:txBody>
      </p:sp>
      <p:sp>
        <p:nvSpPr>
          <p:cNvPr id="21" name="Shape 19"/>
          <p:cNvSpPr/>
          <p:nvPr/>
        </p:nvSpPr>
        <p:spPr>
          <a:xfrm>
            <a:off x="6254496" y="1645920"/>
            <a:ext cx="5349240" cy="4059936"/>
          </a:xfrm>
          <a:prstGeom prst="roundRect">
            <a:avLst>
              <a:gd name="adj" fmla="val 2928"/>
            </a:avLst>
          </a:prstGeom>
          <a:solidFill>
            <a:srgbClr val="FFFFFF"/>
          </a:solidFill>
          <a:ln w="10160">
            <a:solidFill>
              <a:srgbClr val="DFE6F2"/>
            </a:solidFill>
            <a:prstDash val="solid"/>
          </a:ln>
        </p:spPr>
        <p:txBody>
          <a:bodyPr/>
          <a:p/>
        </p:txBody>
      </p:sp>
      <p:sp>
        <p:nvSpPr>
          <p:cNvPr id="22" name="Text 20"/>
          <p:cNvSpPr/>
          <p:nvPr/>
        </p:nvSpPr>
        <p:spPr>
          <a:xfrm>
            <a:off x="813816" y="1901952"/>
            <a:ext cx="4892040" cy="393192"/>
          </a:xfrm>
          <a:prstGeom prst="rect">
            <a:avLst/>
          </a:prstGeom>
          <a:noFill/>
          <a:ln/>
        </p:spPr>
        <p:txBody>
          <a:bodyPr wrap="square" lIns="0" tIns="0" rIns="0" bIns="0" rtlCol="0" anchor="ctr">
            <a:normAutofit/>
          </a:bodyPr>
          <a:lstStyle/>
          <a:p>
            <a:pPr algn="ctr" indent="0" marL="0">
              <a:buNone/>
            </a:pPr>
            <a:r>
              <a:rPr lang="en-US" sz="2400" b="1" dirty="0">
                <a:solidFill>
                  <a:srgbClr val="25344E"/>
                </a:solidFill>
                <a:latin typeface="Arial" pitchFamily="34" charset="0"/>
                <a:ea typeface="Arial" pitchFamily="34" charset="-122"/>
                <a:cs typeface="Arial" pitchFamily="34" charset="-120"/>
              </a:rPr>
              <a:t>Technology</a:t>
            </a:r>
            <a:endParaRPr lang="en-US" sz="2400" dirty="0"/>
          </a:p>
        </p:txBody>
      </p:sp>
      <p:sp>
        <p:nvSpPr>
          <p:cNvPr id="23" name="Text 21"/>
          <p:cNvSpPr/>
          <p:nvPr/>
        </p:nvSpPr>
        <p:spPr>
          <a:xfrm>
            <a:off x="6483096" y="1901952"/>
            <a:ext cx="4892040" cy="393192"/>
          </a:xfrm>
          <a:prstGeom prst="rect">
            <a:avLst/>
          </a:prstGeom>
          <a:noFill/>
          <a:ln/>
        </p:spPr>
        <p:txBody>
          <a:bodyPr wrap="none" lIns="0" tIns="0" rIns="0" bIns="0" rtlCol="0" anchor="ctr">
            <a:noAutofit/>
          </a:bodyPr>
          <a:lstStyle/>
          <a:p>
            <a:pPr algn="ctr" indent="0" marL="0">
              <a:spcBef>
                <a:spcPts val="0"/>
              </a:spcBef>
              <a:spcAft>
                <a:spcPts val="0"/>
              </a:spcAft>
              <a:buNone/>
            </a:pPr>
            <a:r>
              <a:rPr sz="2200" b="1">
                <a:solidFill>
                  <a:srgbClr val="25344E"/>
                </a:solidFill>
                <a:latin typeface="Arial"/>
              </a:rPr>
              <a:t>Team and responsibilities</a:t>
            </a:r>
            <a:endParaRPr lang="en-US" sz="2400" dirty="0"/>
          </a:p>
        </p:txBody>
      </p:sp>
      <p:sp>
        <p:nvSpPr>
          <p:cNvPr id="24" name="Shape 22"/>
          <p:cNvSpPr/>
          <p:nvPr/>
        </p:nvSpPr>
        <p:spPr>
          <a:xfrm>
            <a:off x="896112" y="2642616"/>
            <a:ext cx="2221992" cy="722376"/>
          </a:xfrm>
          <a:prstGeom prst="roundRect">
            <a:avLst>
              <a:gd name="adj" fmla="val 16456"/>
            </a:avLst>
          </a:prstGeom>
          <a:solidFill>
            <a:srgbClr val="EAF2FE"/>
          </a:solidFill>
          <a:ln w="10160">
            <a:solidFill>
              <a:srgbClr val="EAF2FE"/>
            </a:solidFill>
            <a:prstDash val="solid"/>
          </a:ln>
        </p:spPr>
        <p:txBody>
          <a:bodyPr/>
          <a:p/>
        </p:txBody>
      </p:sp>
      <p:sp>
        <p:nvSpPr>
          <p:cNvPr id="25" name="Text 23"/>
          <p:cNvSpPr/>
          <p:nvPr/>
        </p:nvSpPr>
        <p:spPr>
          <a:xfrm>
            <a:off x="987552" y="2724912"/>
            <a:ext cx="2039112" cy="557784"/>
          </a:xfrm>
          <a:prstGeom prst="rect">
            <a:avLst/>
          </a:prstGeom>
          <a:noFill/>
          <a:ln/>
        </p:spPr>
        <p:txBody>
          <a:bodyPr wrap="square" lIns="0" tIns="0" rIns="0" bIns="0" rtlCol="0" anchor="ctr">
            <a:normAutofit/>
          </a:bodyPr>
          <a:lstStyle/>
          <a:p>
            <a:pPr algn="ctr" indent="0" marL="0">
              <a:buNone/>
            </a:pPr>
            <a:r>
              <a:rPr lang="en-US" sz="2150" b="1" dirty="0">
                <a:solidFill>
                  <a:srgbClr val="3977D5"/>
                </a:solidFill>
                <a:latin typeface="Arial" pitchFamily="34" charset="0"/>
                <a:ea typeface="Arial" pitchFamily="34" charset="-122"/>
                <a:cs typeface="Arial" pitchFamily="34" charset="-120"/>
              </a:rPr>
              <a:t>Python</a:t>
            </a:r>
            <a:endParaRPr lang="en-US" sz="2150" dirty="0"/>
          </a:p>
        </p:txBody>
      </p:sp>
      <p:sp>
        <p:nvSpPr>
          <p:cNvPr id="26" name="Shape 24"/>
          <p:cNvSpPr/>
          <p:nvPr/>
        </p:nvSpPr>
        <p:spPr>
          <a:xfrm>
            <a:off x="3328416" y="2642616"/>
            <a:ext cx="2221992" cy="722376"/>
          </a:xfrm>
          <a:prstGeom prst="roundRect">
            <a:avLst>
              <a:gd name="adj" fmla="val 16456"/>
            </a:avLst>
          </a:prstGeom>
          <a:solidFill>
            <a:srgbClr val="FFF4DE"/>
          </a:solidFill>
          <a:ln w="10160">
            <a:solidFill>
              <a:srgbClr val="FFF4DE"/>
            </a:solidFill>
            <a:prstDash val="solid"/>
          </a:ln>
        </p:spPr>
        <p:txBody>
          <a:bodyPr/>
          <a:p/>
        </p:txBody>
      </p:sp>
      <p:sp>
        <p:nvSpPr>
          <p:cNvPr id="27" name="Text 25"/>
          <p:cNvSpPr/>
          <p:nvPr/>
        </p:nvSpPr>
        <p:spPr>
          <a:xfrm>
            <a:off x="3419856" y="2724912"/>
            <a:ext cx="2039112" cy="557784"/>
          </a:xfrm>
          <a:prstGeom prst="rect">
            <a:avLst/>
          </a:prstGeom>
          <a:noFill/>
          <a:ln/>
        </p:spPr>
        <p:txBody>
          <a:bodyPr wrap="square" lIns="0" tIns="0" rIns="0" bIns="0" rtlCol="0" anchor="ctr">
            <a:normAutofit/>
          </a:bodyPr>
          <a:lstStyle/>
          <a:p>
            <a:pPr algn="ctr" indent="0" marL="0">
              <a:buNone/>
            </a:pPr>
            <a:r>
              <a:rPr lang="en-US" sz="1900" b="1" dirty="0">
                <a:solidFill>
                  <a:srgbClr val="C48B25"/>
                </a:solidFill>
                <a:latin typeface="Arial" pitchFamily="34" charset="0"/>
                <a:ea typeface="Arial" pitchFamily="34" charset="-122"/>
                <a:cs typeface="Arial" pitchFamily="34" charset="-120"/>
              </a:rPr>
              <a:t>Pygame or</a:t>
            </a:r>
            <a:endParaRPr lang="en-US" sz="1900" dirty="0"/>
          </a:p>
          <a:p>
            <a:pPr algn="ctr" indent="0" marL="0">
              <a:buNone/>
            </a:pPr>
            <a:r>
              <a:rPr lang="en-US" sz="1900" b="1" dirty="0">
                <a:solidFill>
                  <a:srgbClr val="C48B25"/>
                </a:solidFill>
                <a:latin typeface="Arial" pitchFamily="34" charset="0"/>
                <a:ea typeface="Arial" pitchFamily="34" charset="-122"/>
                <a:cs typeface="Arial" pitchFamily="34" charset="-120"/>
              </a:rPr>
              <a:t>Streamlit</a:t>
            </a:r>
            <a:endParaRPr lang="en-US" sz="1900" dirty="0"/>
          </a:p>
        </p:txBody>
      </p:sp>
      <p:sp>
        <p:nvSpPr>
          <p:cNvPr id="28" name="Shape 26"/>
          <p:cNvSpPr/>
          <p:nvPr/>
        </p:nvSpPr>
        <p:spPr>
          <a:xfrm>
            <a:off x="896112" y="3557016"/>
            <a:ext cx="2221992" cy="722376"/>
          </a:xfrm>
          <a:prstGeom prst="roundRect">
            <a:avLst>
              <a:gd name="adj" fmla="val 16456"/>
            </a:avLst>
          </a:prstGeom>
          <a:solidFill>
            <a:srgbClr val="EAF2FE"/>
          </a:solidFill>
          <a:ln w="10160">
            <a:solidFill>
              <a:srgbClr val="EAF2FE"/>
            </a:solidFill>
            <a:prstDash val="solid"/>
          </a:ln>
        </p:spPr>
        <p:txBody>
          <a:bodyPr/>
          <a:p/>
        </p:txBody>
      </p:sp>
      <p:sp>
        <p:nvSpPr>
          <p:cNvPr id="29" name="Text 27"/>
          <p:cNvSpPr/>
          <p:nvPr/>
        </p:nvSpPr>
        <p:spPr>
          <a:xfrm>
            <a:off x="987552" y="3639312"/>
            <a:ext cx="2039112" cy="557784"/>
          </a:xfrm>
          <a:prstGeom prst="rect">
            <a:avLst/>
          </a:prstGeom>
          <a:noFill/>
          <a:ln/>
        </p:spPr>
        <p:txBody>
          <a:bodyPr wrap="square" lIns="0" tIns="0" rIns="0" bIns="0" rtlCol="0" anchor="ctr">
            <a:normAutofit/>
          </a:bodyPr>
          <a:lstStyle/>
          <a:p>
            <a:pPr algn="ctr" indent="0" marL="0">
              <a:buNone/>
            </a:pPr>
            <a:r>
              <a:rPr lang="en-US" sz="2150" b="1" dirty="0">
                <a:solidFill>
                  <a:srgbClr val="3977D5"/>
                </a:solidFill>
                <a:latin typeface="Arial" pitchFamily="34" charset="0"/>
                <a:ea typeface="Arial" pitchFamily="34" charset="-122"/>
                <a:cs typeface="Arial" pitchFamily="34" charset="-120"/>
              </a:rPr>
              <a:t>NumPy</a:t>
            </a:r>
            <a:endParaRPr lang="en-US" sz="2150" dirty="0"/>
          </a:p>
        </p:txBody>
      </p:sp>
      <p:sp>
        <p:nvSpPr>
          <p:cNvPr id="30" name="Shape 28"/>
          <p:cNvSpPr/>
          <p:nvPr/>
        </p:nvSpPr>
        <p:spPr>
          <a:xfrm>
            <a:off x="3328416" y="3557016"/>
            <a:ext cx="2221992" cy="722376"/>
          </a:xfrm>
          <a:prstGeom prst="roundRect">
            <a:avLst>
              <a:gd name="adj" fmla="val 16456"/>
            </a:avLst>
          </a:prstGeom>
          <a:solidFill>
            <a:srgbClr val="EAF2FE"/>
          </a:solidFill>
          <a:ln w="10160">
            <a:solidFill>
              <a:srgbClr val="EAF2FE"/>
            </a:solidFill>
            <a:prstDash val="solid"/>
          </a:ln>
        </p:spPr>
        <p:txBody>
          <a:bodyPr/>
          <a:p/>
        </p:txBody>
      </p:sp>
      <p:sp>
        <p:nvSpPr>
          <p:cNvPr id="31" name="Text 29"/>
          <p:cNvSpPr/>
          <p:nvPr/>
        </p:nvSpPr>
        <p:spPr>
          <a:xfrm>
            <a:off x="3419856" y="3639312"/>
            <a:ext cx="2039112" cy="557784"/>
          </a:xfrm>
          <a:prstGeom prst="rect">
            <a:avLst/>
          </a:prstGeom>
          <a:noFill/>
          <a:ln/>
        </p:spPr>
        <p:txBody>
          <a:bodyPr wrap="square" lIns="0" tIns="0" rIns="0" bIns="0" rtlCol="0" anchor="ctr">
            <a:normAutofit/>
          </a:bodyPr>
          <a:lstStyle/>
          <a:p>
            <a:pPr algn="ctr" indent="0" marL="0">
              <a:buNone/>
            </a:pPr>
            <a:r>
              <a:rPr lang="en-US" sz="2150" b="1" dirty="0">
                <a:solidFill>
                  <a:srgbClr val="3977D5"/>
                </a:solidFill>
                <a:latin typeface="Arial" pitchFamily="34" charset="0"/>
                <a:ea typeface="Arial" pitchFamily="34" charset="-122"/>
                <a:cs typeface="Arial" pitchFamily="34" charset="-120"/>
              </a:rPr>
              <a:t>Pandas</a:t>
            </a:r>
            <a:endParaRPr lang="en-US" sz="2150" dirty="0"/>
          </a:p>
        </p:txBody>
      </p:sp>
      <p:sp>
        <p:nvSpPr>
          <p:cNvPr id="32" name="Shape 30"/>
          <p:cNvSpPr/>
          <p:nvPr/>
        </p:nvSpPr>
        <p:spPr>
          <a:xfrm>
            <a:off x="896112" y="4471416"/>
            <a:ext cx="2221992" cy="722376"/>
          </a:xfrm>
          <a:prstGeom prst="roundRect">
            <a:avLst>
              <a:gd name="adj" fmla="val 16456"/>
            </a:avLst>
          </a:prstGeom>
          <a:solidFill>
            <a:srgbClr val="EAF2FE"/>
          </a:solidFill>
          <a:ln w="10160">
            <a:solidFill>
              <a:srgbClr val="EAF2FE"/>
            </a:solidFill>
            <a:prstDash val="solid"/>
          </a:ln>
        </p:spPr>
        <p:txBody>
          <a:bodyPr/>
          <a:p/>
        </p:txBody>
      </p:sp>
      <p:sp>
        <p:nvSpPr>
          <p:cNvPr id="33" name="Text 31"/>
          <p:cNvSpPr/>
          <p:nvPr/>
        </p:nvSpPr>
        <p:spPr>
          <a:xfrm>
            <a:off x="987552" y="4553712"/>
            <a:ext cx="2039112" cy="557784"/>
          </a:xfrm>
          <a:prstGeom prst="rect">
            <a:avLst/>
          </a:prstGeom>
          <a:noFill/>
          <a:ln/>
        </p:spPr>
        <p:txBody>
          <a:bodyPr wrap="square" lIns="0" tIns="0" rIns="0" bIns="0" rtlCol="0" anchor="ctr">
            <a:normAutofit/>
          </a:bodyPr>
          <a:lstStyle/>
          <a:p>
            <a:pPr algn="ctr" indent="0" marL="0">
              <a:buNone/>
            </a:pPr>
            <a:r>
              <a:rPr lang="en-US" sz="2150" b="1" dirty="0">
                <a:solidFill>
                  <a:srgbClr val="3977D5"/>
                </a:solidFill>
                <a:latin typeface="Arial" pitchFamily="34" charset="0"/>
                <a:ea typeface="Arial" pitchFamily="34" charset="-122"/>
                <a:cs typeface="Arial" pitchFamily="34" charset="-120"/>
              </a:rPr>
              <a:t>Matplotlib</a:t>
            </a:r>
            <a:endParaRPr lang="en-US" sz="2150" dirty="0"/>
          </a:p>
        </p:txBody>
      </p:sp>
      <p:sp>
        <p:nvSpPr>
          <p:cNvPr id="34" name="Shape 32"/>
          <p:cNvSpPr/>
          <p:nvPr/>
        </p:nvSpPr>
        <p:spPr>
          <a:xfrm>
            <a:off x="3328416" y="4471416"/>
            <a:ext cx="2221992" cy="722376"/>
          </a:xfrm>
          <a:prstGeom prst="roundRect">
            <a:avLst>
              <a:gd name="adj" fmla="val 16456"/>
            </a:avLst>
          </a:prstGeom>
          <a:solidFill>
            <a:srgbClr val="EAF2FE"/>
          </a:solidFill>
          <a:ln w="10160">
            <a:solidFill>
              <a:srgbClr val="EAF2FE"/>
            </a:solidFill>
            <a:prstDash val="solid"/>
          </a:ln>
        </p:spPr>
        <p:txBody>
          <a:bodyPr/>
          <a:p/>
        </p:txBody>
      </p:sp>
      <p:sp>
        <p:nvSpPr>
          <p:cNvPr id="35" name="Text 33"/>
          <p:cNvSpPr/>
          <p:nvPr/>
        </p:nvSpPr>
        <p:spPr>
          <a:xfrm>
            <a:off x="3419856" y="4553712"/>
            <a:ext cx="2039112" cy="557784"/>
          </a:xfrm>
          <a:prstGeom prst="rect">
            <a:avLst/>
          </a:prstGeom>
          <a:noFill/>
          <a:ln/>
        </p:spPr>
        <p:txBody>
          <a:bodyPr wrap="square" lIns="0" tIns="0" rIns="0" bIns="0" rtlCol="0" anchor="ctr">
            <a:normAutofit/>
          </a:bodyPr>
          <a:lstStyle/>
          <a:p>
            <a:pPr algn="ctr" indent="0" marL="0">
              <a:buNone/>
            </a:pPr>
            <a:r>
              <a:rPr lang="en-US" sz="2150" b="1" dirty="0">
                <a:solidFill>
                  <a:srgbClr val="3977D5"/>
                </a:solidFill>
                <a:latin typeface="Arial" pitchFamily="34" charset="0"/>
                <a:ea typeface="Arial" pitchFamily="34" charset="-122"/>
                <a:cs typeface="Arial" pitchFamily="34" charset="-120"/>
              </a:rPr>
              <a:t>Git + GitHub</a:t>
            </a:r>
            <a:endParaRPr lang="en-US" sz="2150" dirty="0"/>
          </a:p>
        </p:txBody>
      </p:sp>
      <p:sp>
        <p:nvSpPr>
          <p:cNvPr id="36" name="Shape 34"/>
          <p:cNvSpPr/>
          <p:nvPr/>
        </p:nvSpPr>
        <p:spPr>
          <a:xfrm>
            <a:off x="6510528" y="2450592"/>
            <a:ext cx="4837176" cy="704088"/>
          </a:xfrm>
          <a:prstGeom prst="roundRect">
            <a:avLst>
              <a:gd name="adj" fmla="val 11475"/>
            </a:avLst>
          </a:prstGeom>
          <a:solidFill>
            <a:srgbClr val="FFFFFF"/>
          </a:solidFill>
          <a:ln w="10160">
            <a:solidFill>
              <a:srgbClr val="DFE6F2"/>
            </a:solidFill>
            <a:prstDash val="solid"/>
          </a:ln>
        </p:spPr>
        <p:txBody>
          <a:bodyPr/>
          <a:p/>
        </p:txBody>
      </p:sp>
      <p:sp>
        <p:nvSpPr>
          <p:cNvPr id="37" name="Shape 35"/>
          <p:cNvSpPr/>
          <p:nvPr/>
        </p:nvSpPr>
        <p:spPr>
          <a:xfrm>
            <a:off x="6684264" y="2638044"/>
            <a:ext cx="329184" cy="329184"/>
          </a:xfrm>
          <a:prstGeom prst="ellipse">
            <a:avLst/>
          </a:prstGeom>
          <a:solidFill>
            <a:srgbClr val="EFECFD"/>
          </a:solidFill>
          <a:ln w="12700">
            <a:solidFill>
              <a:srgbClr val="EFECFD">
                <a:alpha val="0"/>
              </a:srgbClr>
            </a:solidFill>
            <a:prstDash val="solid"/>
          </a:ln>
        </p:spPr>
        <p:txBody>
          <a:bodyPr/>
          <a:p/>
        </p:txBody>
      </p:sp>
      <p:sp>
        <p:nvSpPr>
          <p:cNvPr id="38" name="Text 36"/>
          <p:cNvSpPr/>
          <p:nvPr/>
        </p:nvSpPr>
        <p:spPr>
          <a:xfrm>
            <a:off x="6684264" y="2651760"/>
            <a:ext cx="329184" cy="301752"/>
          </a:xfrm>
          <a:prstGeom prst="rect">
            <a:avLst/>
          </a:prstGeom>
          <a:noFill/>
          <a:ln/>
        </p:spPr>
        <p:txBody>
          <a:bodyPr wrap="square" lIns="0" tIns="0" rIns="0" bIns="0" rtlCol="0" anchor="ctr">
            <a:normAutofit/>
          </a:bodyPr>
          <a:lstStyle/>
          <a:p>
            <a:pPr algn="ctr" indent="0" marL="0">
              <a:buNone/>
            </a:pPr>
            <a:r>
              <a:rPr lang="en-US" sz="1200" b="1" dirty="0">
                <a:solidFill>
                  <a:srgbClr val="6C5CE7"/>
                </a:solidFill>
                <a:latin typeface="Arial" pitchFamily="34" charset="0"/>
                <a:ea typeface="Arial" pitchFamily="34" charset="-122"/>
                <a:cs typeface="Arial" pitchFamily="34" charset="-120"/>
              </a:rPr>
              <a:t>01</a:t>
            </a:r>
            <a:endParaRPr lang="en-US" sz="1200" dirty="0"/>
          </a:p>
        </p:txBody>
      </p:sp>
      <p:sp>
        <p:nvSpPr>
          <p:cNvPr id="39" name="Text 37"/>
          <p:cNvSpPr/>
          <p:nvPr/>
        </p:nvSpPr>
        <p:spPr>
          <a:xfrm>
            <a:off x="7150608" y="2519172"/>
            <a:ext cx="4014215" cy="274320"/>
          </a:xfrm>
          <a:prstGeom prst="rect">
            <a:avLst/>
          </a:prstGeom>
          <a:noFill/>
          <a:ln/>
        </p:spPr>
        <p:txBody>
          <a:bodyPr wrap="none" lIns="0" tIns="0" rIns="0" bIns="0" rtlCol="0" anchor="ctr">
            <a:noAutofit/>
          </a:bodyPr>
          <a:lstStyle/>
          <a:p>
            <a:pPr algn="ctr" indent="0" marL="0">
              <a:spcBef>
                <a:spcPts val="0"/>
              </a:spcBef>
              <a:spcAft>
                <a:spcPts val="0"/>
              </a:spcAft>
              <a:buNone/>
            </a:pPr>
            <a:r>
              <a:rPr sz="1720" b="1">
                <a:solidFill>
                  <a:srgbClr val="25344E"/>
                </a:solidFill>
                <a:latin typeface="Arial"/>
              </a:rPr>
              <a:t>Rafsana Fariha Nipun</a:t>
            </a:r>
            <a:endParaRPr lang="en-US" sz="1950" dirty="0"/>
          </a:p>
        </p:txBody>
      </p:sp>
      <p:sp>
        <p:nvSpPr>
          <p:cNvPr id="40" name="Shape 38"/>
          <p:cNvSpPr/>
          <p:nvPr/>
        </p:nvSpPr>
        <p:spPr>
          <a:xfrm>
            <a:off x="6510528" y="3264408"/>
            <a:ext cx="4837176" cy="704088"/>
          </a:xfrm>
          <a:prstGeom prst="roundRect">
            <a:avLst>
              <a:gd name="adj" fmla="val 11475"/>
            </a:avLst>
          </a:prstGeom>
          <a:solidFill>
            <a:srgbClr val="FFFFFF"/>
          </a:solidFill>
          <a:ln w="10160">
            <a:solidFill>
              <a:srgbClr val="DFE6F2"/>
            </a:solidFill>
            <a:prstDash val="solid"/>
          </a:ln>
        </p:spPr>
        <p:txBody>
          <a:bodyPr/>
          <a:p/>
        </p:txBody>
      </p:sp>
      <p:sp>
        <p:nvSpPr>
          <p:cNvPr id="41" name="Shape 39"/>
          <p:cNvSpPr/>
          <p:nvPr/>
        </p:nvSpPr>
        <p:spPr>
          <a:xfrm>
            <a:off x="6684264" y="3451860"/>
            <a:ext cx="329184" cy="329184"/>
          </a:xfrm>
          <a:prstGeom prst="ellipse">
            <a:avLst/>
          </a:prstGeom>
          <a:solidFill>
            <a:srgbClr val="E7F6F2"/>
          </a:solidFill>
          <a:ln w="12700">
            <a:solidFill>
              <a:srgbClr val="E7F6F2">
                <a:alpha val="0"/>
              </a:srgbClr>
            </a:solidFill>
            <a:prstDash val="solid"/>
          </a:ln>
        </p:spPr>
        <p:txBody>
          <a:bodyPr/>
          <a:p/>
        </p:txBody>
      </p:sp>
      <p:sp>
        <p:nvSpPr>
          <p:cNvPr id="42" name="Text 40"/>
          <p:cNvSpPr/>
          <p:nvPr/>
        </p:nvSpPr>
        <p:spPr>
          <a:xfrm>
            <a:off x="6684264" y="3465576"/>
            <a:ext cx="329184" cy="301752"/>
          </a:xfrm>
          <a:prstGeom prst="rect">
            <a:avLst/>
          </a:prstGeom>
          <a:noFill/>
          <a:ln/>
        </p:spPr>
        <p:txBody>
          <a:bodyPr wrap="square" lIns="0" tIns="0" rIns="0" bIns="0" rtlCol="0" anchor="ctr">
            <a:normAutofit/>
          </a:bodyPr>
          <a:lstStyle/>
          <a:p>
            <a:pPr algn="ctr" indent="0" marL="0">
              <a:buNone/>
            </a:pPr>
            <a:r>
              <a:rPr lang="en-US" sz="1200" b="1" dirty="0">
                <a:solidFill>
                  <a:srgbClr val="138D87"/>
                </a:solidFill>
                <a:latin typeface="Arial" pitchFamily="34" charset="0"/>
                <a:ea typeface="Arial" pitchFamily="34" charset="-122"/>
                <a:cs typeface="Arial" pitchFamily="34" charset="-120"/>
              </a:rPr>
              <a:t>02</a:t>
            </a:r>
            <a:endParaRPr lang="en-US" sz="1200" dirty="0"/>
          </a:p>
        </p:txBody>
      </p:sp>
      <p:sp>
        <p:nvSpPr>
          <p:cNvPr id="43" name="Text 41"/>
          <p:cNvSpPr/>
          <p:nvPr/>
        </p:nvSpPr>
        <p:spPr>
          <a:xfrm>
            <a:off x="7150608" y="3332988"/>
            <a:ext cx="4014215" cy="274320"/>
          </a:xfrm>
          <a:prstGeom prst="rect">
            <a:avLst/>
          </a:prstGeom>
          <a:noFill/>
          <a:ln/>
        </p:spPr>
        <p:txBody>
          <a:bodyPr wrap="none" lIns="0" tIns="0" rIns="0" bIns="0" rtlCol="0" anchor="ctr">
            <a:noAutofit/>
          </a:bodyPr>
          <a:lstStyle/>
          <a:p>
            <a:pPr algn="ctr" indent="0" marL="0">
              <a:spcBef>
                <a:spcPts val="0"/>
              </a:spcBef>
              <a:spcAft>
                <a:spcPts val="0"/>
              </a:spcAft>
              <a:buNone/>
            </a:pPr>
            <a:r>
              <a:rPr sz="1720" b="1">
                <a:solidFill>
                  <a:srgbClr val="25344E"/>
                </a:solidFill>
                <a:latin typeface="Arial"/>
              </a:rPr>
              <a:t>Mashkwat Hossain Ome</a:t>
            </a:r>
            <a:endParaRPr lang="en-US" sz="1950" dirty="0"/>
          </a:p>
        </p:txBody>
      </p:sp>
      <p:sp>
        <p:nvSpPr>
          <p:cNvPr id="44" name="Shape 42"/>
          <p:cNvSpPr/>
          <p:nvPr/>
        </p:nvSpPr>
        <p:spPr>
          <a:xfrm>
            <a:off x="6510528" y="4078224"/>
            <a:ext cx="4837176" cy="704088"/>
          </a:xfrm>
          <a:prstGeom prst="roundRect">
            <a:avLst>
              <a:gd name="adj" fmla="val 11475"/>
            </a:avLst>
          </a:prstGeom>
          <a:solidFill>
            <a:srgbClr val="FFFFFF"/>
          </a:solidFill>
          <a:ln w="10160">
            <a:solidFill>
              <a:srgbClr val="DFE6F2"/>
            </a:solidFill>
            <a:prstDash val="solid"/>
          </a:ln>
        </p:spPr>
        <p:txBody>
          <a:bodyPr/>
          <a:p/>
        </p:txBody>
      </p:sp>
      <p:sp>
        <p:nvSpPr>
          <p:cNvPr id="45" name="Shape 43"/>
          <p:cNvSpPr/>
          <p:nvPr/>
        </p:nvSpPr>
        <p:spPr>
          <a:xfrm>
            <a:off x="6684264" y="4265676"/>
            <a:ext cx="329184" cy="329184"/>
          </a:xfrm>
          <a:prstGeom prst="ellipse">
            <a:avLst/>
          </a:prstGeom>
          <a:solidFill>
            <a:srgbClr val="EAF2FE"/>
          </a:solidFill>
          <a:ln w="12700">
            <a:solidFill>
              <a:srgbClr val="EAF2FE">
                <a:alpha val="0"/>
              </a:srgbClr>
            </a:solidFill>
            <a:prstDash val="solid"/>
          </a:ln>
        </p:spPr>
        <p:txBody>
          <a:bodyPr/>
          <a:p/>
        </p:txBody>
      </p:sp>
      <p:sp>
        <p:nvSpPr>
          <p:cNvPr id="46" name="Text 44"/>
          <p:cNvSpPr/>
          <p:nvPr/>
        </p:nvSpPr>
        <p:spPr>
          <a:xfrm>
            <a:off x="6684264" y="4279392"/>
            <a:ext cx="329184" cy="301752"/>
          </a:xfrm>
          <a:prstGeom prst="rect">
            <a:avLst/>
          </a:prstGeom>
          <a:noFill/>
          <a:ln/>
        </p:spPr>
        <p:txBody>
          <a:bodyPr wrap="square" lIns="0" tIns="0" rIns="0" bIns="0" rtlCol="0" anchor="ctr">
            <a:normAutofit/>
          </a:bodyPr>
          <a:lstStyle/>
          <a:p>
            <a:pPr algn="ctr" indent="0" marL="0">
              <a:buNone/>
            </a:pPr>
            <a:r>
              <a:rPr lang="en-US" sz="1200" b="1" dirty="0">
                <a:solidFill>
                  <a:srgbClr val="3977D5"/>
                </a:solidFill>
                <a:latin typeface="Arial" pitchFamily="34" charset="0"/>
                <a:ea typeface="Arial" pitchFamily="34" charset="-122"/>
                <a:cs typeface="Arial" pitchFamily="34" charset="-120"/>
              </a:rPr>
              <a:t>03</a:t>
            </a:r>
            <a:endParaRPr lang="en-US" sz="1200" dirty="0"/>
          </a:p>
        </p:txBody>
      </p:sp>
      <p:sp>
        <p:nvSpPr>
          <p:cNvPr id="47" name="Text 45"/>
          <p:cNvSpPr/>
          <p:nvPr/>
        </p:nvSpPr>
        <p:spPr>
          <a:xfrm>
            <a:off x="7150608" y="4146804"/>
            <a:ext cx="4014215" cy="274320"/>
          </a:xfrm>
          <a:prstGeom prst="rect">
            <a:avLst/>
          </a:prstGeom>
          <a:noFill/>
          <a:ln/>
        </p:spPr>
        <p:txBody>
          <a:bodyPr wrap="none" lIns="0" tIns="0" rIns="0" bIns="0" rtlCol="0" anchor="ctr">
            <a:noAutofit/>
          </a:bodyPr>
          <a:lstStyle/>
          <a:p>
            <a:pPr algn="ctr" indent="0" marL="0">
              <a:spcBef>
                <a:spcPts val="0"/>
              </a:spcBef>
              <a:spcAft>
                <a:spcPts val="0"/>
              </a:spcAft>
              <a:buNone/>
            </a:pPr>
            <a:r>
              <a:rPr sz="1720" b="1">
                <a:solidFill>
                  <a:srgbClr val="25344E"/>
                </a:solidFill>
                <a:latin typeface="Arial"/>
              </a:rPr>
              <a:t>Shabab Ahmed</a:t>
            </a:r>
            <a:endParaRPr lang="en-US" sz="1950" dirty="0"/>
          </a:p>
        </p:txBody>
      </p:sp>
      <p:sp>
        <p:nvSpPr>
          <p:cNvPr id="48" name="Shape 46"/>
          <p:cNvSpPr/>
          <p:nvPr/>
        </p:nvSpPr>
        <p:spPr>
          <a:xfrm>
            <a:off x="6510528" y="4892040"/>
            <a:ext cx="4837176" cy="704088"/>
          </a:xfrm>
          <a:prstGeom prst="roundRect">
            <a:avLst>
              <a:gd name="adj" fmla="val 11475"/>
            </a:avLst>
          </a:prstGeom>
          <a:solidFill>
            <a:srgbClr val="FFFFFF"/>
          </a:solidFill>
          <a:ln w="10160">
            <a:solidFill>
              <a:srgbClr val="DFE6F2"/>
            </a:solidFill>
            <a:prstDash val="solid"/>
          </a:ln>
        </p:spPr>
        <p:txBody>
          <a:bodyPr/>
          <a:p/>
        </p:txBody>
      </p:sp>
      <p:sp>
        <p:nvSpPr>
          <p:cNvPr id="49" name="Shape 47"/>
          <p:cNvSpPr/>
          <p:nvPr/>
        </p:nvSpPr>
        <p:spPr>
          <a:xfrm>
            <a:off x="6684264" y="5079492"/>
            <a:ext cx="329184" cy="329184"/>
          </a:xfrm>
          <a:prstGeom prst="ellipse">
            <a:avLst/>
          </a:prstGeom>
          <a:solidFill>
            <a:srgbClr val="FFF4DE"/>
          </a:solidFill>
          <a:ln w="12700">
            <a:solidFill>
              <a:srgbClr val="FFF4DE">
                <a:alpha val="0"/>
              </a:srgbClr>
            </a:solidFill>
            <a:prstDash val="solid"/>
          </a:ln>
        </p:spPr>
        <p:txBody>
          <a:bodyPr/>
          <a:p/>
        </p:txBody>
      </p:sp>
      <p:sp>
        <p:nvSpPr>
          <p:cNvPr id="50" name="Text 48"/>
          <p:cNvSpPr/>
          <p:nvPr/>
        </p:nvSpPr>
        <p:spPr>
          <a:xfrm>
            <a:off x="6684264" y="5093207"/>
            <a:ext cx="329184" cy="301752"/>
          </a:xfrm>
          <a:prstGeom prst="rect">
            <a:avLst/>
          </a:prstGeom>
          <a:noFill/>
          <a:ln/>
        </p:spPr>
        <p:txBody>
          <a:bodyPr wrap="square" lIns="0" tIns="0" rIns="0" bIns="0" rtlCol="0" anchor="ctr">
            <a:normAutofit/>
          </a:bodyPr>
          <a:lstStyle/>
          <a:p>
            <a:pPr algn="ctr" indent="0" marL="0">
              <a:buNone/>
            </a:pPr>
            <a:r>
              <a:rPr lang="en-US" sz="1200" b="1" dirty="0">
                <a:solidFill>
                  <a:srgbClr val="C48B25"/>
                </a:solidFill>
                <a:latin typeface="Arial" pitchFamily="34" charset="0"/>
                <a:ea typeface="Arial" pitchFamily="34" charset="-122"/>
                <a:cs typeface="Arial" pitchFamily="34" charset="-120"/>
              </a:rPr>
              <a:t>04</a:t>
            </a:r>
            <a:endParaRPr lang="en-US" sz="1200" dirty="0"/>
          </a:p>
        </p:txBody>
      </p:sp>
      <p:sp>
        <p:nvSpPr>
          <p:cNvPr id="51" name="Text 49"/>
          <p:cNvSpPr/>
          <p:nvPr/>
        </p:nvSpPr>
        <p:spPr>
          <a:xfrm>
            <a:off x="7150608" y="4960620"/>
            <a:ext cx="4014215" cy="274320"/>
          </a:xfrm>
          <a:prstGeom prst="rect">
            <a:avLst/>
          </a:prstGeom>
          <a:noFill/>
          <a:ln/>
        </p:spPr>
        <p:txBody>
          <a:bodyPr wrap="none" lIns="0" tIns="0" rIns="0" bIns="0" rtlCol="0" anchor="ctr">
            <a:noAutofit/>
          </a:bodyPr>
          <a:lstStyle/>
          <a:p>
            <a:pPr algn="ctr" indent="0" marL="0">
              <a:spcBef>
                <a:spcPts val="0"/>
              </a:spcBef>
              <a:spcAft>
                <a:spcPts val="0"/>
              </a:spcAft>
              <a:buNone/>
            </a:pPr>
            <a:r>
              <a:rPr sz="1720" b="1">
                <a:solidFill>
                  <a:srgbClr val="25344E"/>
                </a:solidFill>
                <a:latin typeface="Arial"/>
              </a:rPr>
              <a:t>Siam Ibne Sarwar</a:t>
            </a:r>
            <a:endParaRPr lang="en-US" sz="1950" dirty="0"/>
          </a:p>
        </p:txBody>
      </p:sp>
      <p:sp>
        <p:nvSpPr>
          <p:cNvPr id="52" name="Shape 50"/>
          <p:cNvSpPr/>
          <p:nvPr/>
        </p:nvSpPr>
        <p:spPr>
          <a:xfrm>
            <a:off x="585216" y="5897880"/>
            <a:ext cx="11021568" cy="429768"/>
          </a:xfrm>
          <a:prstGeom prst="roundRect">
            <a:avLst>
              <a:gd name="adj" fmla="val 27660"/>
            </a:avLst>
          </a:prstGeom>
          <a:solidFill>
            <a:srgbClr val="E7F6F2"/>
          </a:solidFill>
          <a:ln w="10160">
            <a:solidFill>
              <a:srgbClr val="E7F6F2"/>
            </a:solidFill>
            <a:prstDash val="solid"/>
          </a:ln>
        </p:spPr>
        <p:txBody>
          <a:bodyPr/>
          <a:p/>
        </p:txBody>
      </p:sp>
      <p:sp>
        <p:nvSpPr>
          <p:cNvPr id="53" name="Text 51"/>
          <p:cNvSpPr/>
          <p:nvPr/>
        </p:nvSpPr>
        <p:spPr>
          <a:xfrm>
            <a:off x="722376" y="5939028"/>
            <a:ext cx="10747248" cy="342900"/>
          </a:xfrm>
          <a:prstGeom prst="rect">
            <a:avLst/>
          </a:prstGeom>
          <a:noFill/>
          <a:ln/>
        </p:spPr>
        <p:txBody>
          <a:bodyPr wrap="square" lIns="0" tIns="0" rIns="0" bIns="0" rtlCol="0" anchor="ctr">
            <a:normAutofit/>
          </a:bodyPr>
          <a:lstStyle/>
          <a:p>
            <a:pPr algn="ctr" indent="0" marL="0">
              <a:buNone/>
            </a:pPr>
            <a:r>
              <a:rPr lang="en-US" sz="1950" b="1" dirty="0">
                <a:solidFill>
                  <a:srgbClr val="138D87"/>
                </a:solidFill>
                <a:latin typeface="Arial" pitchFamily="34" charset="0"/>
                <a:ea typeface="Arial" pitchFamily="34" charset="-122"/>
                <a:cs typeface="Arial" pitchFamily="34" charset="-120"/>
              </a:rPr>
              <a:t>Shared: testing and presentation practice</a:t>
            </a:r>
            <a:endParaRPr lang="en-US" sz="1950" dirty="0"/>
          </a:p>
        </p:txBody>
      </p:sp>
      <p:sp>
        <p:nvSpPr>
          <p:cNvPr id="54" name="Team 1 ID and role"/>
          <p:cNvSpPr txBox="1"/>
          <p:nvPr/>
        </p:nvSpPr>
        <p:spPr>
          <a:xfrm>
            <a:off x="7150608" y="2843784"/>
            <a:ext cx="4014215" cy="219456"/>
          </a:xfrm>
          <a:prstGeom prst="rect">
            <a:avLst/>
          </a:prstGeom>
          <a:noFill/>
        </p:spPr>
        <p:txBody>
          <a:bodyPr wrap="none" lIns="0" rIns="0" tIns="0" bIns="0" anchor="ctr">
            <a:noAutofit/>
          </a:bodyPr>
          <a:lstStyle/>
          <a:p>
            <a:pPr algn="ctr">
              <a:spcBef>
                <a:spcPts val="0"/>
              </a:spcBef>
              <a:spcAft>
                <a:spcPts val="0"/>
              </a:spcAft>
            </a:pPr>
            <a:r>
              <a:rPr sz="1250" b="0">
                <a:solidFill>
                  <a:srgbClr val="4E5F7B"/>
                </a:solidFill>
                <a:latin typeface="Arial"/>
              </a:rPr>
              <a:t>0112330843  |  Map &amp; scenarios</a:t>
            </a:r>
          </a:p>
        </p:txBody>
      </p:sp>
      <p:sp>
        <p:nvSpPr>
          <p:cNvPr id="55" name="Team 2 ID and role"/>
          <p:cNvSpPr txBox="1"/>
          <p:nvPr/>
        </p:nvSpPr>
        <p:spPr>
          <a:xfrm>
            <a:off x="7150608" y="3657600"/>
            <a:ext cx="4014215" cy="219456"/>
          </a:xfrm>
          <a:prstGeom prst="rect">
            <a:avLst/>
          </a:prstGeom>
          <a:noFill/>
        </p:spPr>
        <p:txBody>
          <a:bodyPr wrap="none" lIns="0" rIns="0" tIns="0" bIns="0" anchor="ctr">
            <a:noAutofit/>
          </a:bodyPr>
          <a:lstStyle/>
          <a:p>
            <a:pPr algn="ctr">
              <a:spcBef>
                <a:spcPts val="0"/>
              </a:spcBef>
              <a:spcAft>
                <a:spcPts val="0"/>
              </a:spcAft>
            </a:pPr>
            <a:r>
              <a:rPr sz="1250" b="0">
                <a:solidFill>
                  <a:srgbClr val="4E5F7B"/>
                </a:solidFill>
                <a:latin typeface="Arial"/>
              </a:rPr>
              <a:t>0112310156  |  A* &amp; features</a:t>
            </a:r>
          </a:p>
        </p:txBody>
      </p:sp>
      <p:sp>
        <p:nvSpPr>
          <p:cNvPr id="56" name="Team 3 ID and role"/>
          <p:cNvSpPr txBox="1"/>
          <p:nvPr/>
        </p:nvSpPr>
        <p:spPr>
          <a:xfrm>
            <a:off x="7150608" y="4471416"/>
            <a:ext cx="4014215" cy="219456"/>
          </a:xfrm>
          <a:prstGeom prst="rect">
            <a:avLst/>
          </a:prstGeom>
          <a:noFill/>
        </p:spPr>
        <p:txBody>
          <a:bodyPr wrap="none" lIns="0" rIns="0" tIns="0" bIns="0" anchor="ctr">
            <a:noAutofit/>
          </a:bodyPr>
          <a:lstStyle/>
          <a:p>
            <a:pPr algn="ctr">
              <a:spcBef>
                <a:spcPts val="0"/>
              </a:spcBef>
              <a:spcAft>
                <a:spcPts val="0"/>
              </a:spcAft>
            </a:pPr>
            <a:r>
              <a:rPr sz="1250" b="0">
                <a:solidFill>
                  <a:srgbClr val="4E5F7B"/>
                </a:solidFill>
                <a:latin typeface="Arial"/>
              </a:rPr>
              <a:t>0112330860  |  Algorithms &amp; evaluation</a:t>
            </a:r>
          </a:p>
        </p:txBody>
      </p:sp>
      <p:sp>
        <p:nvSpPr>
          <p:cNvPr id="57" name="Team 4 ID and role"/>
          <p:cNvSpPr txBox="1"/>
          <p:nvPr/>
        </p:nvSpPr>
        <p:spPr>
          <a:xfrm>
            <a:off x="7150608" y="5285231"/>
            <a:ext cx="4014215" cy="219456"/>
          </a:xfrm>
          <a:prstGeom prst="rect">
            <a:avLst/>
          </a:prstGeom>
          <a:noFill/>
        </p:spPr>
        <p:txBody>
          <a:bodyPr wrap="none" lIns="0" rIns="0" tIns="0" bIns="0" anchor="ctr">
            <a:noAutofit/>
          </a:bodyPr>
          <a:lstStyle/>
          <a:p>
            <a:pPr algn="ctr">
              <a:spcBef>
                <a:spcPts val="0"/>
              </a:spcBef>
              <a:spcAft>
                <a:spcPts val="0"/>
              </a:spcAft>
            </a:pPr>
            <a:r>
              <a:rPr sz="1250" b="0">
                <a:solidFill>
                  <a:srgbClr val="4E5F7B"/>
                </a:solidFill>
                <a:latin typeface="Arial"/>
              </a:rPr>
              <a:t>0112330839  |  Interface &amp; demo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F"/>
        </a:solidFill>
      </p:bgPr>
    </p:bg>
    <p:spTree>
      <p:nvGrpSpPr>
        <p:cNvPr id="1" name=""/>
        <p:cNvGrpSpPr/>
        <p:nvPr/>
      </p:nvGrpSpPr>
      <p:grpSpPr>
        <a:xfrm>
          <a:off x="0" y="0"/>
          <a:ext cx="0" cy="0"/>
          <a:chOff x="0" y="0"/>
          <a:chExt cx="0" cy="0"/>
        </a:xfrm>
      </p:grpSpPr>
      <p:sp>
        <p:nvSpPr>
          <p:cNvPr id="4" name="Text 2"/>
          <p:cNvSpPr/>
          <p:nvPr/>
        </p:nvSpPr>
        <p:spPr>
          <a:xfrm>
            <a:off x="585216" y="832104"/>
            <a:ext cx="10314432" cy="530352"/>
          </a:xfrm>
          <a:prstGeom prst="rect">
            <a:avLst/>
          </a:prstGeom>
          <a:noFill/>
          <a:ln/>
        </p:spPr>
        <p:txBody>
          <a:bodyPr wrap="square" lIns="0" tIns="0" rIns="0" bIns="0" rtlCol="0" anchor="ctr">
            <a:normAutofit/>
          </a:bodyPr>
          <a:lstStyle/>
          <a:p>
            <a:pPr algn="l" indent="0" marL="0">
              <a:buNone/>
            </a:pPr>
            <a:r>
              <a:rPr lang="en-US" sz="2900" b="1" dirty="0">
                <a:solidFill>
                  <a:srgbClr val="25344E"/>
                </a:solidFill>
                <a:latin typeface="Arial" pitchFamily="34" charset="0"/>
                <a:ea typeface="Arial" pitchFamily="34" charset="-122"/>
                <a:cs typeface="Arial" pitchFamily="34" charset="-120"/>
              </a:rPr>
              <a:t>Three-Week Roadmap</a:t>
            </a:r>
            <a:endParaRPr lang="en-US" sz="2900" dirty="0"/>
          </a:p>
        </p:txBody>
      </p:sp>
      <p:sp>
        <p:nvSpPr>
          <p:cNvPr id="5" name="Shape 3"/>
          <p:cNvSpPr/>
          <p:nvPr/>
        </p:nvSpPr>
        <p:spPr>
          <a:xfrm>
            <a:off x="10991088" y="877824"/>
            <a:ext cx="448056" cy="411480"/>
          </a:xfrm>
          <a:prstGeom prst="roundRect">
            <a:avLst>
              <a:gd name="adj" fmla="val 28889"/>
            </a:avLst>
          </a:prstGeom>
          <a:solidFill>
            <a:srgbClr val="FFFFFF"/>
          </a:solidFill>
          <a:ln w="10160">
            <a:solidFill>
              <a:srgbClr val="FFFFFF"/>
            </a:solidFill>
            <a:prstDash val="solid"/>
          </a:ln>
        </p:spPr>
        <p:txBody>
          <a:bodyPr/>
          <a:p/>
        </p:txBody>
      </p:sp>
      <p:sp>
        <p:nvSpPr>
          <p:cNvPr id="6" name="Text 4"/>
          <p:cNvSpPr/>
          <p:nvPr/>
        </p:nvSpPr>
        <p:spPr>
          <a:xfrm>
            <a:off x="11064240" y="900684"/>
            <a:ext cx="301752" cy="365760"/>
          </a:xfrm>
          <a:prstGeom prst="rect">
            <a:avLst/>
          </a:prstGeom>
          <a:noFill/>
          <a:ln/>
        </p:spPr>
        <p:txBody>
          <a:bodyPr wrap="square" lIns="0" tIns="0" rIns="0" bIns="0" rtlCol="0" anchor="ctr">
            <a:normAutofit/>
          </a:bodyPr>
          <a:lstStyle/>
          <a:p>
            <a:pPr algn="ctr" indent="0" marL="0">
              <a:buNone/>
            </a:pPr>
            <a:r>
              <a:rPr lang="en-US" sz="1300" b="1" dirty="0">
                <a:solidFill>
                  <a:srgbClr val="6C5CE7"/>
                </a:solidFill>
                <a:latin typeface="Arial" pitchFamily="34" charset="0"/>
                <a:ea typeface="Arial" pitchFamily="34" charset="-122"/>
                <a:cs typeface="Arial" pitchFamily="34" charset="-120"/>
              </a:rPr>
              <a:t>09</a:t>
            </a:r>
            <a:endParaRPr lang="en-US" sz="1300" dirty="0"/>
          </a:p>
        </p:txBody>
      </p:sp>
      <p:sp>
        <p:nvSpPr>
          <p:cNvPr id="7" name="Shape 5"/>
          <p:cNvSpPr/>
          <p:nvPr/>
        </p:nvSpPr>
        <p:spPr>
          <a:xfrm>
            <a:off x="585216" y="6451092"/>
            <a:ext cx="11021568" cy="0"/>
          </a:xfrm>
          <a:prstGeom prst="line">
            <a:avLst/>
          </a:prstGeom>
          <a:noFill/>
          <a:ln w="9525">
            <a:solidFill>
              <a:srgbClr val="DFE6F2"/>
            </a:solidFill>
            <a:prstDash val="solid"/>
            <a:headEnd type="none"/>
            <a:tailEnd type="none"/>
          </a:ln>
        </p:spPr>
        <p:txBody>
          <a:bodyPr/>
          <a:p/>
        </p:txBody>
      </p:sp>
      <p:sp>
        <p:nvSpPr>
          <p:cNvPr id="9" name="Shape 7"/>
          <p:cNvSpPr/>
          <p:nvPr/>
        </p:nvSpPr>
        <p:spPr>
          <a:xfrm>
            <a:off x="10131552" y="6588252"/>
            <a:ext cx="27432" cy="27432"/>
          </a:xfrm>
          <a:prstGeom prst="ellipse">
            <a:avLst/>
          </a:prstGeom>
          <a:solidFill>
            <a:srgbClr val="DFE6F2"/>
          </a:solidFill>
          <a:ln w="12700">
            <a:solidFill>
              <a:srgbClr val="DFE6F2">
                <a:alpha val="0"/>
              </a:srgbClr>
            </a:solidFill>
            <a:prstDash val="solid"/>
          </a:ln>
        </p:spPr>
        <p:txBody>
          <a:bodyPr/>
          <a:p/>
        </p:txBody>
      </p:sp>
      <p:sp>
        <p:nvSpPr>
          <p:cNvPr id="10" name="Shape 8"/>
          <p:cNvSpPr/>
          <p:nvPr/>
        </p:nvSpPr>
        <p:spPr>
          <a:xfrm>
            <a:off x="10232136" y="6588252"/>
            <a:ext cx="27432" cy="27432"/>
          </a:xfrm>
          <a:prstGeom prst="ellipse">
            <a:avLst/>
          </a:prstGeom>
          <a:solidFill>
            <a:srgbClr val="DFE6F2"/>
          </a:solidFill>
          <a:ln w="12700">
            <a:solidFill>
              <a:srgbClr val="DFE6F2">
                <a:alpha val="0"/>
              </a:srgbClr>
            </a:solidFill>
            <a:prstDash val="solid"/>
          </a:ln>
        </p:spPr>
        <p:txBody>
          <a:bodyPr/>
          <a:p/>
        </p:txBody>
      </p:sp>
      <p:sp>
        <p:nvSpPr>
          <p:cNvPr id="11" name="Shape 9"/>
          <p:cNvSpPr/>
          <p:nvPr/>
        </p:nvSpPr>
        <p:spPr>
          <a:xfrm>
            <a:off x="10332720" y="6588252"/>
            <a:ext cx="27432" cy="27432"/>
          </a:xfrm>
          <a:prstGeom prst="ellipse">
            <a:avLst/>
          </a:prstGeom>
          <a:solidFill>
            <a:srgbClr val="DFE6F2"/>
          </a:solidFill>
          <a:ln w="12700">
            <a:solidFill>
              <a:srgbClr val="DFE6F2">
                <a:alpha val="0"/>
              </a:srgbClr>
            </a:solidFill>
            <a:prstDash val="solid"/>
          </a:ln>
        </p:spPr>
        <p:txBody>
          <a:bodyPr/>
          <a:p/>
        </p:txBody>
      </p:sp>
      <p:sp>
        <p:nvSpPr>
          <p:cNvPr id="12" name="Shape 10"/>
          <p:cNvSpPr/>
          <p:nvPr/>
        </p:nvSpPr>
        <p:spPr>
          <a:xfrm>
            <a:off x="10433304" y="6588252"/>
            <a:ext cx="27432" cy="27432"/>
          </a:xfrm>
          <a:prstGeom prst="ellipse">
            <a:avLst/>
          </a:prstGeom>
          <a:solidFill>
            <a:srgbClr val="DFE6F2"/>
          </a:solidFill>
          <a:ln w="12700">
            <a:solidFill>
              <a:srgbClr val="DFE6F2">
                <a:alpha val="0"/>
              </a:srgbClr>
            </a:solidFill>
            <a:prstDash val="solid"/>
          </a:ln>
        </p:spPr>
        <p:txBody>
          <a:bodyPr/>
          <a:p/>
        </p:txBody>
      </p:sp>
      <p:sp>
        <p:nvSpPr>
          <p:cNvPr id="13" name="Shape 11"/>
          <p:cNvSpPr/>
          <p:nvPr/>
        </p:nvSpPr>
        <p:spPr>
          <a:xfrm>
            <a:off x="10533888" y="6588252"/>
            <a:ext cx="27432" cy="27432"/>
          </a:xfrm>
          <a:prstGeom prst="ellipse">
            <a:avLst/>
          </a:prstGeom>
          <a:solidFill>
            <a:srgbClr val="DFE6F2"/>
          </a:solidFill>
          <a:ln w="12700">
            <a:solidFill>
              <a:srgbClr val="DFE6F2">
                <a:alpha val="0"/>
              </a:srgbClr>
            </a:solidFill>
            <a:prstDash val="solid"/>
          </a:ln>
        </p:spPr>
        <p:txBody>
          <a:bodyPr/>
          <a:p/>
        </p:txBody>
      </p:sp>
      <p:sp>
        <p:nvSpPr>
          <p:cNvPr id="14" name="Shape 12"/>
          <p:cNvSpPr/>
          <p:nvPr/>
        </p:nvSpPr>
        <p:spPr>
          <a:xfrm>
            <a:off x="10634472" y="6588252"/>
            <a:ext cx="27432" cy="27432"/>
          </a:xfrm>
          <a:prstGeom prst="ellipse">
            <a:avLst/>
          </a:prstGeom>
          <a:solidFill>
            <a:srgbClr val="DFE6F2"/>
          </a:solidFill>
          <a:ln w="12700">
            <a:solidFill>
              <a:srgbClr val="DFE6F2">
                <a:alpha val="0"/>
              </a:srgbClr>
            </a:solidFill>
            <a:prstDash val="solid"/>
          </a:ln>
        </p:spPr>
        <p:txBody>
          <a:bodyPr/>
          <a:p/>
        </p:txBody>
      </p:sp>
      <p:sp>
        <p:nvSpPr>
          <p:cNvPr id="15" name="Shape 13"/>
          <p:cNvSpPr/>
          <p:nvPr/>
        </p:nvSpPr>
        <p:spPr>
          <a:xfrm>
            <a:off x="10735056" y="6588252"/>
            <a:ext cx="27432" cy="27432"/>
          </a:xfrm>
          <a:prstGeom prst="ellipse">
            <a:avLst/>
          </a:prstGeom>
          <a:solidFill>
            <a:srgbClr val="DFE6F2"/>
          </a:solidFill>
          <a:ln w="12700">
            <a:solidFill>
              <a:srgbClr val="DFE6F2">
                <a:alpha val="0"/>
              </a:srgbClr>
            </a:solidFill>
            <a:prstDash val="solid"/>
          </a:ln>
        </p:spPr>
        <p:txBody>
          <a:bodyPr/>
          <a:p/>
        </p:txBody>
      </p:sp>
      <p:sp>
        <p:nvSpPr>
          <p:cNvPr id="16" name="Shape 14"/>
          <p:cNvSpPr/>
          <p:nvPr/>
        </p:nvSpPr>
        <p:spPr>
          <a:xfrm>
            <a:off x="10835640" y="6588252"/>
            <a:ext cx="27432" cy="27432"/>
          </a:xfrm>
          <a:prstGeom prst="ellipse">
            <a:avLst/>
          </a:prstGeom>
          <a:solidFill>
            <a:srgbClr val="DFE6F2"/>
          </a:solidFill>
          <a:ln w="12700">
            <a:solidFill>
              <a:srgbClr val="DFE6F2">
                <a:alpha val="0"/>
              </a:srgbClr>
            </a:solidFill>
            <a:prstDash val="solid"/>
          </a:ln>
        </p:spPr>
        <p:txBody>
          <a:bodyPr/>
          <a:p/>
        </p:txBody>
      </p:sp>
      <p:sp>
        <p:nvSpPr>
          <p:cNvPr id="17" name="Shape 15"/>
          <p:cNvSpPr/>
          <p:nvPr/>
        </p:nvSpPr>
        <p:spPr>
          <a:xfrm>
            <a:off x="10936224" y="6588252"/>
            <a:ext cx="27432" cy="27432"/>
          </a:xfrm>
          <a:prstGeom prst="ellipse">
            <a:avLst/>
          </a:prstGeom>
          <a:solidFill>
            <a:srgbClr val="6C5CE7"/>
          </a:solidFill>
          <a:ln w="12700">
            <a:solidFill>
              <a:srgbClr val="6C5CE7">
                <a:alpha val="0"/>
              </a:srgbClr>
            </a:solidFill>
            <a:prstDash val="solid"/>
          </a:ln>
        </p:spPr>
        <p:txBody>
          <a:bodyPr/>
          <a:p/>
        </p:txBody>
      </p:sp>
      <p:sp>
        <p:nvSpPr>
          <p:cNvPr id="18" name="Shape 16"/>
          <p:cNvSpPr/>
          <p:nvPr/>
        </p:nvSpPr>
        <p:spPr>
          <a:xfrm>
            <a:off x="11036808" y="6588252"/>
            <a:ext cx="27432" cy="27432"/>
          </a:xfrm>
          <a:prstGeom prst="ellipse">
            <a:avLst/>
          </a:prstGeom>
          <a:solidFill>
            <a:srgbClr val="DFE6F2"/>
          </a:solidFill>
          <a:ln w="12700">
            <a:solidFill>
              <a:srgbClr val="DFE6F2">
                <a:alpha val="0"/>
              </a:srgbClr>
            </a:solidFill>
            <a:prstDash val="solid"/>
          </a:ln>
        </p:spPr>
        <p:txBody>
          <a:bodyPr/>
          <a:p/>
        </p:txBody>
      </p:sp>
      <p:sp>
        <p:nvSpPr>
          <p:cNvPr id="19" name="Text 17"/>
          <p:cNvSpPr/>
          <p:nvPr/>
        </p:nvSpPr>
        <p:spPr>
          <a:xfrm>
            <a:off x="11228832" y="6519672"/>
            <a:ext cx="338328" cy="173736"/>
          </a:xfrm>
          <a:prstGeom prst="rect">
            <a:avLst/>
          </a:prstGeom>
          <a:noFill/>
          <a:ln/>
        </p:spPr>
        <p:txBody>
          <a:bodyPr wrap="square" lIns="0" tIns="0" rIns="0" bIns="0" rtlCol="0" anchor="ctr">
            <a:normAutofit/>
          </a:bodyPr>
          <a:lstStyle/>
          <a:p>
            <a:pPr algn="ctr" indent="0" marL="0">
              <a:buNone/>
            </a:pPr>
            <a:r>
              <a:rPr lang="en-US" sz="920" b="1" dirty="0">
                <a:solidFill>
                  <a:srgbClr val="4E5F7B"/>
                </a:solidFill>
                <a:latin typeface="Arial" pitchFamily="34" charset="0"/>
                <a:ea typeface="Arial" pitchFamily="34" charset="-122"/>
                <a:cs typeface="Arial" pitchFamily="34" charset="-120"/>
              </a:rPr>
              <a:t>09</a:t>
            </a:r>
            <a:endParaRPr lang="en-US" sz="920" dirty="0"/>
          </a:p>
        </p:txBody>
      </p:sp>
      <p:sp>
        <p:nvSpPr>
          <p:cNvPr id="20" name="Shape 18"/>
          <p:cNvSpPr/>
          <p:nvPr/>
        </p:nvSpPr>
        <p:spPr>
          <a:xfrm>
            <a:off x="585216" y="1719072"/>
            <a:ext cx="3447288" cy="3447288"/>
          </a:xfrm>
          <a:prstGeom prst="roundRect">
            <a:avLst>
              <a:gd name="adj" fmla="val 3448"/>
            </a:avLst>
          </a:prstGeom>
          <a:solidFill>
            <a:srgbClr val="FFFFFF"/>
          </a:solidFill>
          <a:ln w="10160">
            <a:solidFill>
              <a:srgbClr val="DFE6F2"/>
            </a:solidFill>
            <a:prstDash val="solid"/>
          </a:ln>
        </p:spPr>
        <p:txBody>
          <a:bodyPr/>
          <a:p/>
        </p:txBody>
      </p:sp>
      <p:sp>
        <p:nvSpPr>
          <p:cNvPr id="21" name="Shape 19"/>
          <p:cNvSpPr/>
          <p:nvPr/>
        </p:nvSpPr>
        <p:spPr>
          <a:xfrm>
            <a:off x="1417320" y="2002536"/>
            <a:ext cx="1783080" cy="402336"/>
          </a:xfrm>
          <a:prstGeom prst="roundRect">
            <a:avLst>
              <a:gd name="adj" fmla="val 29545"/>
            </a:avLst>
          </a:prstGeom>
          <a:solidFill>
            <a:srgbClr val="EFECFD"/>
          </a:solidFill>
          <a:ln w="10160">
            <a:solidFill>
              <a:srgbClr val="EFECFD"/>
            </a:solidFill>
            <a:prstDash val="solid"/>
          </a:ln>
        </p:spPr>
        <p:txBody>
          <a:bodyPr/>
          <a:p/>
        </p:txBody>
      </p:sp>
      <p:sp>
        <p:nvSpPr>
          <p:cNvPr id="22" name="Text 20"/>
          <p:cNvSpPr/>
          <p:nvPr/>
        </p:nvSpPr>
        <p:spPr>
          <a:xfrm>
            <a:off x="1490472" y="2025396"/>
            <a:ext cx="1636776" cy="356616"/>
          </a:xfrm>
          <a:prstGeom prst="rect">
            <a:avLst/>
          </a:prstGeom>
          <a:noFill/>
          <a:ln/>
        </p:spPr>
        <p:txBody>
          <a:bodyPr wrap="square" lIns="0" tIns="0" rIns="0" bIns="0" rtlCol="0" anchor="ctr">
            <a:normAutofit/>
          </a:bodyPr>
          <a:lstStyle/>
          <a:p>
            <a:pPr algn="ctr" indent="0" marL="0">
              <a:buNone/>
            </a:pPr>
            <a:r>
              <a:rPr lang="en-US" sz="1600" b="1" dirty="0">
                <a:solidFill>
                  <a:srgbClr val="6C5CE7"/>
                </a:solidFill>
                <a:latin typeface="Arial" pitchFamily="34" charset="0"/>
                <a:ea typeface="Arial" pitchFamily="34" charset="-122"/>
                <a:cs typeface="Arial" pitchFamily="34" charset="-120"/>
              </a:rPr>
              <a:t>Week 1</a:t>
            </a:r>
            <a:endParaRPr lang="en-US" sz="1600" dirty="0"/>
          </a:p>
        </p:txBody>
      </p:sp>
      <p:sp>
        <p:nvSpPr>
          <p:cNvPr id="23" name="Text 21"/>
          <p:cNvSpPr/>
          <p:nvPr/>
        </p:nvSpPr>
        <p:spPr>
          <a:xfrm>
            <a:off x="768096" y="2724912"/>
            <a:ext cx="3081528" cy="822960"/>
          </a:xfrm>
          <a:prstGeom prst="rect">
            <a:avLst/>
          </a:prstGeom>
          <a:noFill/>
          <a:ln/>
        </p:spPr>
        <p:txBody>
          <a:bodyPr wrap="square" lIns="0" tIns="0" rIns="0" bIns="0" rtlCol="0" anchor="ctr">
            <a:normAutofit/>
          </a:bodyPr>
          <a:lstStyle/>
          <a:p>
            <a:pPr algn="ctr" indent="0" marL="0">
              <a:buNone/>
            </a:pPr>
            <a:r>
              <a:rPr lang="en-US" sz="2600" b="1" dirty="0">
                <a:solidFill>
                  <a:srgbClr val="25344E"/>
                </a:solidFill>
                <a:latin typeface="Arial" pitchFamily="34" charset="0"/>
                <a:ea typeface="Arial" pitchFamily="34" charset="-122"/>
                <a:cs typeface="Arial" pitchFamily="34" charset="-120"/>
              </a:rPr>
              <a:t>Core route</a:t>
            </a:r>
            <a:endParaRPr lang="en-US" sz="2600" dirty="0"/>
          </a:p>
          <a:p>
            <a:pPr algn="ctr" indent="0" marL="0">
              <a:buNone/>
            </a:pPr>
            <a:r>
              <a:rPr lang="en-US" sz="2600" b="1" dirty="0">
                <a:solidFill>
                  <a:srgbClr val="25344E"/>
                </a:solidFill>
                <a:latin typeface="Arial" pitchFamily="34" charset="0"/>
                <a:ea typeface="Arial" pitchFamily="34" charset="-122"/>
                <a:cs typeface="Arial" pitchFamily="34" charset="-120"/>
              </a:rPr>
              <a:t>engine</a:t>
            </a:r>
            <a:endParaRPr lang="en-US" sz="2600" dirty="0"/>
          </a:p>
        </p:txBody>
      </p:sp>
      <p:sp>
        <p:nvSpPr>
          <p:cNvPr id="24" name="Text 22"/>
          <p:cNvSpPr/>
          <p:nvPr/>
        </p:nvSpPr>
        <p:spPr>
          <a:xfrm>
            <a:off x="804672" y="4023360"/>
            <a:ext cx="3008376" cy="210312"/>
          </a:xfrm>
          <a:prstGeom prst="rect">
            <a:avLst/>
          </a:prstGeom>
          <a:noFill/>
          <a:ln/>
        </p:spPr>
        <p:txBody>
          <a:bodyPr wrap="square" lIns="0" tIns="0" rIns="0" bIns="0" rtlCol="0" anchor="ctr">
            <a:normAutofit/>
          </a:bodyPr>
          <a:lstStyle/>
          <a:p>
            <a:pPr algn="ctr" indent="0" marL="0">
              <a:buNone/>
            </a:pPr>
            <a:r>
              <a:rPr lang="en-US" sz="1040" b="1" dirty="0">
                <a:solidFill>
                  <a:srgbClr val="8390A7"/>
                </a:solidFill>
                <a:latin typeface="Arial" pitchFamily="34" charset="0"/>
                <a:ea typeface="Arial" pitchFamily="34" charset="-122"/>
                <a:cs typeface="Arial" pitchFamily="34" charset="-120"/>
              </a:rPr>
              <a:t>MILESTONE</a:t>
            </a:r>
            <a:endParaRPr lang="en-US" sz="1040" dirty="0"/>
          </a:p>
        </p:txBody>
      </p:sp>
      <p:sp>
        <p:nvSpPr>
          <p:cNvPr id="25" name="Shape 23"/>
          <p:cNvSpPr/>
          <p:nvPr/>
        </p:nvSpPr>
        <p:spPr>
          <a:xfrm>
            <a:off x="795528" y="4498848"/>
            <a:ext cx="3026664" cy="420624"/>
          </a:xfrm>
          <a:prstGeom prst="roundRect">
            <a:avLst>
              <a:gd name="adj" fmla="val 28261"/>
            </a:avLst>
          </a:prstGeom>
          <a:solidFill>
            <a:srgbClr val="EFECFD"/>
          </a:solidFill>
          <a:ln w="10160">
            <a:solidFill>
              <a:srgbClr val="EFECFD"/>
            </a:solidFill>
            <a:prstDash val="solid"/>
          </a:ln>
        </p:spPr>
        <p:txBody>
          <a:bodyPr/>
          <a:p/>
        </p:txBody>
      </p:sp>
      <p:sp>
        <p:nvSpPr>
          <p:cNvPr id="26" name="Text 24"/>
          <p:cNvSpPr/>
          <p:nvPr/>
        </p:nvSpPr>
        <p:spPr>
          <a:xfrm>
            <a:off x="877824" y="4553712"/>
            <a:ext cx="2862072" cy="301752"/>
          </a:xfrm>
          <a:prstGeom prst="rect">
            <a:avLst/>
          </a:prstGeom>
          <a:noFill/>
          <a:ln/>
        </p:spPr>
        <p:txBody>
          <a:bodyPr wrap="square" lIns="0" tIns="0" rIns="0" bIns="0" rtlCol="0" anchor="ctr">
            <a:normAutofit/>
          </a:bodyPr>
          <a:lstStyle/>
          <a:p>
            <a:pPr algn="ctr" indent="0" marL="0">
              <a:buNone/>
            </a:pPr>
            <a:r>
              <a:rPr lang="en-US" sz="1780" b="1" dirty="0">
                <a:solidFill>
                  <a:srgbClr val="6C5CE7"/>
                </a:solidFill>
                <a:latin typeface="Arial" pitchFamily="34" charset="0"/>
                <a:ea typeface="Arial" pitchFamily="34" charset="-122"/>
                <a:cs typeface="Arial" pitchFamily="34" charset="-120"/>
              </a:rPr>
              <a:t>Static-map routing</a:t>
            </a:r>
            <a:endParaRPr lang="en-US" sz="1780" dirty="0"/>
          </a:p>
        </p:txBody>
      </p:sp>
      <p:sp>
        <p:nvSpPr>
          <p:cNvPr id="27" name="Shape 25"/>
          <p:cNvSpPr/>
          <p:nvPr/>
        </p:nvSpPr>
        <p:spPr>
          <a:xfrm>
            <a:off x="4370832" y="1719072"/>
            <a:ext cx="3447288" cy="3447288"/>
          </a:xfrm>
          <a:prstGeom prst="roundRect">
            <a:avLst>
              <a:gd name="adj" fmla="val 3448"/>
            </a:avLst>
          </a:prstGeom>
          <a:solidFill>
            <a:srgbClr val="FFFFFF"/>
          </a:solidFill>
          <a:ln w="10160">
            <a:solidFill>
              <a:srgbClr val="DFE6F2"/>
            </a:solidFill>
            <a:prstDash val="solid"/>
          </a:ln>
        </p:spPr>
        <p:txBody>
          <a:bodyPr/>
          <a:p/>
        </p:txBody>
      </p:sp>
      <p:sp>
        <p:nvSpPr>
          <p:cNvPr id="28" name="Shape 26"/>
          <p:cNvSpPr/>
          <p:nvPr/>
        </p:nvSpPr>
        <p:spPr>
          <a:xfrm>
            <a:off x="5202936" y="2002536"/>
            <a:ext cx="1783080" cy="402336"/>
          </a:xfrm>
          <a:prstGeom prst="roundRect">
            <a:avLst>
              <a:gd name="adj" fmla="val 29545"/>
            </a:avLst>
          </a:prstGeom>
          <a:solidFill>
            <a:srgbClr val="E7F6F2"/>
          </a:solidFill>
          <a:ln w="10160">
            <a:solidFill>
              <a:srgbClr val="E7F6F2"/>
            </a:solidFill>
            <a:prstDash val="solid"/>
          </a:ln>
        </p:spPr>
        <p:txBody>
          <a:bodyPr/>
          <a:p/>
        </p:txBody>
      </p:sp>
      <p:sp>
        <p:nvSpPr>
          <p:cNvPr id="29" name="Text 27"/>
          <p:cNvSpPr/>
          <p:nvPr/>
        </p:nvSpPr>
        <p:spPr>
          <a:xfrm>
            <a:off x="5276088" y="2025396"/>
            <a:ext cx="1636776" cy="356616"/>
          </a:xfrm>
          <a:prstGeom prst="rect">
            <a:avLst/>
          </a:prstGeom>
          <a:noFill/>
          <a:ln/>
        </p:spPr>
        <p:txBody>
          <a:bodyPr wrap="square" lIns="0" tIns="0" rIns="0" bIns="0" rtlCol="0" anchor="ctr">
            <a:normAutofit/>
          </a:bodyPr>
          <a:lstStyle/>
          <a:p>
            <a:pPr algn="ctr" indent="0" marL="0">
              <a:buNone/>
            </a:pPr>
            <a:r>
              <a:rPr lang="en-US" sz="1600" b="1" dirty="0">
                <a:solidFill>
                  <a:srgbClr val="138D87"/>
                </a:solidFill>
                <a:latin typeface="Arial" pitchFamily="34" charset="0"/>
                <a:ea typeface="Arial" pitchFamily="34" charset="-122"/>
                <a:cs typeface="Arial" pitchFamily="34" charset="-120"/>
              </a:rPr>
              <a:t>Week 2</a:t>
            </a:r>
            <a:endParaRPr lang="en-US" sz="1600" dirty="0"/>
          </a:p>
        </p:txBody>
      </p:sp>
      <p:sp>
        <p:nvSpPr>
          <p:cNvPr id="30" name="Text 28"/>
          <p:cNvSpPr/>
          <p:nvPr/>
        </p:nvSpPr>
        <p:spPr>
          <a:xfrm>
            <a:off x="4553712" y="2724912"/>
            <a:ext cx="3081528" cy="822960"/>
          </a:xfrm>
          <a:prstGeom prst="rect">
            <a:avLst/>
          </a:prstGeom>
          <a:noFill/>
          <a:ln/>
        </p:spPr>
        <p:txBody>
          <a:bodyPr wrap="square" lIns="0" tIns="0" rIns="0" bIns="0" rtlCol="0" anchor="ctr">
            <a:normAutofit/>
          </a:bodyPr>
          <a:lstStyle/>
          <a:p>
            <a:pPr algn="ctr" indent="0" marL="0">
              <a:buNone/>
            </a:pPr>
            <a:r>
              <a:rPr lang="en-US" sz="2600" b="1" dirty="0">
                <a:solidFill>
                  <a:srgbClr val="25344E"/>
                </a:solidFill>
                <a:latin typeface="Arial" pitchFamily="34" charset="0"/>
                <a:ea typeface="Arial" pitchFamily="34" charset="-122"/>
                <a:cs typeface="Arial" pitchFamily="34" charset="-120"/>
              </a:rPr>
              <a:t>Hazards &amp;</a:t>
            </a:r>
            <a:endParaRPr lang="en-US" sz="2600" dirty="0"/>
          </a:p>
          <a:p>
            <a:pPr algn="ctr" indent="0" marL="0">
              <a:buNone/>
            </a:pPr>
            <a:r>
              <a:rPr lang="en-US" sz="2600" b="1" dirty="0">
                <a:solidFill>
                  <a:srgbClr val="25344E"/>
                </a:solidFill>
                <a:latin typeface="Arial" pitchFamily="34" charset="0"/>
                <a:ea typeface="Arial" pitchFamily="34" charset="-122"/>
                <a:cs typeface="Arial" pitchFamily="34" charset="-120"/>
              </a:rPr>
              <a:t>comparison</a:t>
            </a:r>
            <a:endParaRPr lang="en-US" sz="2600" dirty="0"/>
          </a:p>
        </p:txBody>
      </p:sp>
      <p:sp>
        <p:nvSpPr>
          <p:cNvPr id="31" name="Text 29"/>
          <p:cNvSpPr/>
          <p:nvPr/>
        </p:nvSpPr>
        <p:spPr>
          <a:xfrm>
            <a:off x="4590288" y="4023360"/>
            <a:ext cx="3008376" cy="210312"/>
          </a:xfrm>
          <a:prstGeom prst="rect">
            <a:avLst/>
          </a:prstGeom>
          <a:noFill/>
          <a:ln/>
        </p:spPr>
        <p:txBody>
          <a:bodyPr wrap="square" lIns="0" tIns="0" rIns="0" bIns="0" rtlCol="0" anchor="ctr">
            <a:normAutofit/>
          </a:bodyPr>
          <a:lstStyle/>
          <a:p>
            <a:pPr algn="ctr" indent="0" marL="0">
              <a:buNone/>
            </a:pPr>
            <a:r>
              <a:rPr lang="en-US" sz="1040" b="1" dirty="0">
                <a:solidFill>
                  <a:srgbClr val="8390A7"/>
                </a:solidFill>
                <a:latin typeface="Arial" pitchFamily="34" charset="0"/>
                <a:ea typeface="Arial" pitchFamily="34" charset="-122"/>
                <a:cs typeface="Arial" pitchFamily="34" charset="-120"/>
              </a:rPr>
              <a:t>MILESTONE</a:t>
            </a:r>
            <a:endParaRPr lang="en-US" sz="1040" dirty="0"/>
          </a:p>
        </p:txBody>
      </p:sp>
      <p:sp>
        <p:nvSpPr>
          <p:cNvPr id="32" name="Shape 30"/>
          <p:cNvSpPr/>
          <p:nvPr/>
        </p:nvSpPr>
        <p:spPr>
          <a:xfrm>
            <a:off x="4581144" y="4498848"/>
            <a:ext cx="3026664" cy="420624"/>
          </a:xfrm>
          <a:prstGeom prst="roundRect">
            <a:avLst>
              <a:gd name="adj" fmla="val 28261"/>
            </a:avLst>
          </a:prstGeom>
          <a:solidFill>
            <a:srgbClr val="E7F6F2"/>
          </a:solidFill>
          <a:ln w="10160">
            <a:solidFill>
              <a:srgbClr val="E7F6F2"/>
            </a:solidFill>
            <a:prstDash val="solid"/>
          </a:ln>
        </p:spPr>
        <p:txBody>
          <a:bodyPr/>
          <a:p/>
        </p:txBody>
      </p:sp>
      <p:sp>
        <p:nvSpPr>
          <p:cNvPr id="33" name="Text 31"/>
          <p:cNvSpPr/>
          <p:nvPr/>
        </p:nvSpPr>
        <p:spPr>
          <a:xfrm>
            <a:off x="4663440" y="4553712"/>
            <a:ext cx="2862072" cy="301752"/>
          </a:xfrm>
          <a:prstGeom prst="rect">
            <a:avLst/>
          </a:prstGeom>
          <a:noFill/>
          <a:ln/>
        </p:spPr>
        <p:txBody>
          <a:bodyPr wrap="square" lIns="0" tIns="0" rIns="0" bIns="0" rtlCol="0" anchor="ctr">
            <a:normAutofit/>
          </a:bodyPr>
          <a:lstStyle/>
          <a:p>
            <a:pPr algn="ctr" indent="0" marL="0">
              <a:buNone/>
            </a:pPr>
            <a:r>
              <a:rPr lang="en-US" sz="1780" b="1" dirty="0">
                <a:solidFill>
                  <a:srgbClr val="138D87"/>
                </a:solidFill>
                <a:latin typeface="Arial" pitchFamily="34" charset="0"/>
                <a:ea typeface="Arial" pitchFamily="34" charset="-122"/>
                <a:cs typeface="Arial" pitchFamily="34" charset="-120"/>
              </a:rPr>
              <a:t>Comparison data</a:t>
            </a:r>
            <a:endParaRPr lang="en-US" sz="1780" dirty="0"/>
          </a:p>
        </p:txBody>
      </p:sp>
      <p:sp>
        <p:nvSpPr>
          <p:cNvPr id="34" name="Shape 32"/>
          <p:cNvSpPr/>
          <p:nvPr/>
        </p:nvSpPr>
        <p:spPr>
          <a:xfrm>
            <a:off x="8156448" y="1719072"/>
            <a:ext cx="3447288" cy="3447288"/>
          </a:xfrm>
          <a:prstGeom prst="roundRect">
            <a:avLst>
              <a:gd name="adj" fmla="val 3448"/>
            </a:avLst>
          </a:prstGeom>
          <a:solidFill>
            <a:srgbClr val="FFFFFF"/>
          </a:solidFill>
          <a:ln w="10160">
            <a:solidFill>
              <a:srgbClr val="DFE6F2"/>
            </a:solidFill>
            <a:prstDash val="solid"/>
          </a:ln>
        </p:spPr>
        <p:txBody>
          <a:bodyPr/>
          <a:p/>
        </p:txBody>
      </p:sp>
      <p:sp>
        <p:nvSpPr>
          <p:cNvPr id="35" name="Shape 33"/>
          <p:cNvSpPr/>
          <p:nvPr/>
        </p:nvSpPr>
        <p:spPr>
          <a:xfrm>
            <a:off x="8988552" y="2002536"/>
            <a:ext cx="1783080" cy="402336"/>
          </a:xfrm>
          <a:prstGeom prst="roundRect">
            <a:avLst>
              <a:gd name="adj" fmla="val 29545"/>
            </a:avLst>
          </a:prstGeom>
          <a:solidFill>
            <a:srgbClr val="EAF2FE"/>
          </a:solidFill>
          <a:ln w="10160">
            <a:solidFill>
              <a:srgbClr val="EAF2FE"/>
            </a:solidFill>
            <a:prstDash val="solid"/>
          </a:ln>
        </p:spPr>
        <p:txBody>
          <a:bodyPr/>
          <a:p/>
        </p:txBody>
      </p:sp>
      <p:sp>
        <p:nvSpPr>
          <p:cNvPr id="36" name="Text 34"/>
          <p:cNvSpPr/>
          <p:nvPr/>
        </p:nvSpPr>
        <p:spPr>
          <a:xfrm>
            <a:off x="9061704" y="2025396"/>
            <a:ext cx="1636776" cy="356616"/>
          </a:xfrm>
          <a:prstGeom prst="rect">
            <a:avLst/>
          </a:prstGeom>
          <a:noFill/>
          <a:ln/>
        </p:spPr>
        <p:txBody>
          <a:bodyPr wrap="square" lIns="0" tIns="0" rIns="0" bIns="0" rtlCol="0" anchor="ctr">
            <a:normAutofit/>
          </a:bodyPr>
          <a:lstStyle/>
          <a:p>
            <a:pPr algn="ctr" indent="0" marL="0">
              <a:buNone/>
            </a:pPr>
            <a:r>
              <a:rPr lang="en-US" sz="1600" b="1" dirty="0">
                <a:solidFill>
                  <a:srgbClr val="3977D5"/>
                </a:solidFill>
                <a:latin typeface="Arial" pitchFamily="34" charset="0"/>
                <a:ea typeface="Arial" pitchFamily="34" charset="-122"/>
                <a:cs typeface="Arial" pitchFamily="34" charset="-120"/>
              </a:rPr>
              <a:t>Week 3</a:t>
            </a:r>
            <a:endParaRPr lang="en-US" sz="1600" dirty="0"/>
          </a:p>
        </p:txBody>
      </p:sp>
      <p:sp>
        <p:nvSpPr>
          <p:cNvPr id="37" name="Text 35"/>
          <p:cNvSpPr/>
          <p:nvPr/>
        </p:nvSpPr>
        <p:spPr>
          <a:xfrm>
            <a:off x="8339328" y="2724912"/>
            <a:ext cx="3081528" cy="822960"/>
          </a:xfrm>
          <a:prstGeom prst="rect">
            <a:avLst/>
          </a:prstGeom>
          <a:noFill/>
          <a:ln/>
        </p:spPr>
        <p:txBody>
          <a:bodyPr wrap="square" lIns="0" tIns="0" rIns="0" bIns="0" rtlCol="0" anchor="ctr">
            <a:normAutofit/>
          </a:bodyPr>
          <a:lstStyle/>
          <a:p>
            <a:pPr algn="ctr" indent="0" marL="0">
              <a:buNone/>
            </a:pPr>
            <a:r>
              <a:rPr lang="en-US" sz="2600" b="1" dirty="0">
                <a:solidFill>
                  <a:srgbClr val="25344E"/>
                </a:solidFill>
                <a:latin typeface="Arial" pitchFamily="34" charset="0"/>
                <a:ea typeface="Arial" pitchFamily="34" charset="-122"/>
                <a:cs typeface="Arial" pitchFamily="34" charset="-120"/>
              </a:rPr>
              <a:t>Interface &amp;</a:t>
            </a:r>
            <a:endParaRPr lang="en-US" sz="2600" dirty="0"/>
          </a:p>
          <a:p>
            <a:pPr algn="ctr" indent="0" marL="0">
              <a:buNone/>
            </a:pPr>
            <a:r>
              <a:rPr lang="en-US" sz="2600" b="1" dirty="0">
                <a:solidFill>
                  <a:srgbClr val="25344E"/>
                </a:solidFill>
                <a:latin typeface="Arial" pitchFamily="34" charset="0"/>
                <a:ea typeface="Arial" pitchFamily="34" charset="-122"/>
                <a:cs typeface="Arial" pitchFamily="34" charset="-120"/>
              </a:rPr>
              <a:t>delivery</a:t>
            </a:r>
            <a:endParaRPr lang="en-US" sz="2600" dirty="0"/>
          </a:p>
        </p:txBody>
      </p:sp>
      <p:sp>
        <p:nvSpPr>
          <p:cNvPr id="38" name="Text 36"/>
          <p:cNvSpPr/>
          <p:nvPr/>
        </p:nvSpPr>
        <p:spPr>
          <a:xfrm>
            <a:off x="8375904" y="4023360"/>
            <a:ext cx="3008376" cy="210312"/>
          </a:xfrm>
          <a:prstGeom prst="rect">
            <a:avLst/>
          </a:prstGeom>
          <a:noFill/>
          <a:ln/>
        </p:spPr>
        <p:txBody>
          <a:bodyPr wrap="square" lIns="0" tIns="0" rIns="0" bIns="0" rtlCol="0" anchor="ctr">
            <a:normAutofit/>
          </a:bodyPr>
          <a:lstStyle/>
          <a:p>
            <a:pPr algn="ctr" indent="0" marL="0">
              <a:buNone/>
            </a:pPr>
            <a:r>
              <a:rPr lang="en-US" sz="1040" b="1" dirty="0">
                <a:solidFill>
                  <a:srgbClr val="8390A7"/>
                </a:solidFill>
                <a:latin typeface="Arial" pitchFamily="34" charset="0"/>
                <a:ea typeface="Arial" pitchFamily="34" charset="-122"/>
                <a:cs typeface="Arial" pitchFamily="34" charset="-120"/>
              </a:rPr>
              <a:t>MILESTONE</a:t>
            </a:r>
            <a:endParaRPr lang="en-US" sz="1040" dirty="0"/>
          </a:p>
        </p:txBody>
      </p:sp>
      <p:sp>
        <p:nvSpPr>
          <p:cNvPr id="39" name="Shape 37"/>
          <p:cNvSpPr/>
          <p:nvPr/>
        </p:nvSpPr>
        <p:spPr>
          <a:xfrm>
            <a:off x="8366760" y="4498848"/>
            <a:ext cx="3026664" cy="420624"/>
          </a:xfrm>
          <a:prstGeom prst="roundRect">
            <a:avLst>
              <a:gd name="adj" fmla="val 28261"/>
            </a:avLst>
          </a:prstGeom>
          <a:solidFill>
            <a:srgbClr val="EAF2FE"/>
          </a:solidFill>
          <a:ln w="10160">
            <a:solidFill>
              <a:srgbClr val="EAF2FE"/>
            </a:solidFill>
            <a:prstDash val="solid"/>
          </a:ln>
        </p:spPr>
        <p:txBody>
          <a:bodyPr/>
          <a:p/>
        </p:txBody>
      </p:sp>
      <p:sp>
        <p:nvSpPr>
          <p:cNvPr id="40" name="Text 38"/>
          <p:cNvSpPr/>
          <p:nvPr/>
        </p:nvSpPr>
        <p:spPr>
          <a:xfrm>
            <a:off x="8449056" y="4553712"/>
            <a:ext cx="2862072" cy="301752"/>
          </a:xfrm>
          <a:prstGeom prst="rect">
            <a:avLst/>
          </a:prstGeom>
          <a:noFill/>
          <a:ln/>
        </p:spPr>
        <p:txBody>
          <a:bodyPr wrap="square" lIns="0" tIns="0" rIns="0" bIns="0" rtlCol="0" anchor="ctr">
            <a:normAutofit/>
          </a:bodyPr>
          <a:lstStyle/>
          <a:p>
            <a:pPr algn="ctr" indent="0" marL="0">
              <a:buNone/>
            </a:pPr>
            <a:r>
              <a:rPr lang="en-US" sz="1780" b="1" dirty="0">
                <a:solidFill>
                  <a:srgbClr val="3977D5"/>
                </a:solidFill>
                <a:latin typeface="Arial" pitchFamily="34" charset="0"/>
                <a:ea typeface="Arial" pitchFamily="34" charset="-122"/>
                <a:cs typeface="Arial" pitchFamily="34" charset="-120"/>
              </a:rPr>
              <a:t>Live demonstration</a:t>
            </a:r>
            <a:endParaRPr lang="en-US" sz="1780" dirty="0"/>
          </a:p>
        </p:txBody>
      </p:sp>
      <p:sp>
        <p:nvSpPr>
          <p:cNvPr id="41" name="Text 39"/>
          <p:cNvSpPr/>
          <p:nvPr/>
        </p:nvSpPr>
        <p:spPr>
          <a:xfrm>
            <a:off x="585216" y="5477256"/>
            <a:ext cx="11021568" cy="320040"/>
          </a:xfrm>
          <a:prstGeom prst="rect">
            <a:avLst/>
          </a:prstGeom>
          <a:noFill/>
          <a:ln/>
        </p:spPr>
        <p:txBody>
          <a:bodyPr wrap="square" lIns="0" tIns="0" rIns="0" bIns="0" rtlCol="0" anchor="ctr">
            <a:normAutofit/>
          </a:bodyPr>
          <a:lstStyle/>
          <a:p>
            <a:pPr algn="ctr" indent="0" marL="0">
              <a:buNone/>
            </a:pPr>
            <a:r>
              <a:rPr lang="en-US" sz="2000" b="1" dirty="0">
                <a:solidFill>
                  <a:srgbClr val="25344E"/>
                </a:solidFill>
                <a:latin typeface="Arial" pitchFamily="34" charset="0"/>
                <a:ea typeface="Arial" pitchFamily="34" charset="-122"/>
                <a:cs typeface="Arial" pitchFamily="34" charset="-120"/>
              </a:rPr>
              <a:t>Final demonstration</a:t>
            </a:r>
            <a:endParaRPr lang="en-US" sz="2000" dirty="0"/>
          </a:p>
        </p:txBody>
      </p:sp>
      <p:sp>
        <p:nvSpPr>
          <p:cNvPr id="42" name="Shape 40"/>
          <p:cNvSpPr/>
          <p:nvPr/>
        </p:nvSpPr>
        <p:spPr>
          <a:xfrm>
            <a:off x="585216" y="5916168"/>
            <a:ext cx="11021568" cy="429768"/>
          </a:xfrm>
          <a:prstGeom prst="roundRect">
            <a:avLst>
              <a:gd name="adj" fmla="val 27660"/>
            </a:avLst>
          </a:prstGeom>
          <a:solidFill>
            <a:srgbClr val="EAF2FE"/>
          </a:solidFill>
          <a:ln w="10160">
            <a:solidFill>
              <a:srgbClr val="EAF2FE"/>
            </a:solidFill>
            <a:prstDash val="solid"/>
          </a:ln>
        </p:spPr>
        <p:txBody>
          <a:bodyPr/>
          <a:p/>
        </p:txBody>
      </p:sp>
      <p:sp>
        <p:nvSpPr>
          <p:cNvPr id="43" name="Text 41"/>
          <p:cNvSpPr/>
          <p:nvPr/>
        </p:nvSpPr>
        <p:spPr>
          <a:xfrm>
            <a:off x="722376" y="5957316"/>
            <a:ext cx="10747248" cy="342900"/>
          </a:xfrm>
          <a:prstGeom prst="rect">
            <a:avLst/>
          </a:prstGeom>
          <a:noFill/>
          <a:ln/>
        </p:spPr>
        <p:txBody>
          <a:bodyPr wrap="square" lIns="0" tIns="0" rIns="0" bIns="0" rtlCol="0" anchor="ctr">
            <a:normAutofit/>
          </a:bodyPr>
          <a:lstStyle/>
          <a:p>
            <a:pPr algn="ctr" indent="0" marL="0">
              <a:buNone/>
            </a:pPr>
            <a:r>
              <a:rPr lang="en-US" sz="1950" b="1" dirty="0">
                <a:solidFill>
                  <a:srgbClr val="3977D5"/>
                </a:solidFill>
                <a:latin typeface="Arial" pitchFamily="34" charset="0"/>
                <a:ea typeface="Arial" pitchFamily="34" charset="-122"/>
                <a:cs typeface="Arial" pitchFamily="34" charset="-120"/>
              </a:rPr>
              <a:t>Set scenario → Run A* → Show route → Compare</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F"/>
        </a:solidFill>
      </p:bgPr>
    </p:bg>
    <p:spTree>
      <p:nvGrpSpPr>
        <p:cNvPr id="1" name=""/>
        <p:cNvGrpSpPr/>
        <p:nvPr/>
      </p:nvGrpSpPr>
      <p:grpSpPr>
        <a:xfrm>
          <a:off x="0" y="0"/>
          <a:ext cx="0" cy="0"/>
          <a:chOff x="0" y="0"/>
          <a:chExt cx="0" cy="0"/>
        </a:xfrm>
      </p:grpSpPr>
      <p:sp>
        <p:nvSpPr>
          <p:cNvPr id="4" name="Shape 2"/>
          <p:cNvSpPr/>
          <p:nvPr/>
        </p:nvSpPr>
        <p:spPr>
          <a:xfrm>
            <a:off x="585216" y="6451092"/>
            <a:ext cx="11021568" cy="0"/>
          </a:xfrm>
          <a:prstGeom prst="line">
            <a:avLst/>
          </a:prstGeom>
          <a:noFill/>
          <a:ln w="9525">
            <a:solidFill>
              <a:srgbClr val="DFE6F2"/>
            </a:solidFill>
            <a:prstDash val="solid"/>
            <a:headEnd type="none"/>
            <a:tailEnd type="none"/>
          </a:ln>
        </p:spPr>
        <p:txBody>
          <a:bodyPr/>
          <a:p/>
        </p:txBody>
      </p:sp>
      <p:sp>
        <p:nvSpPr>
          <p:cNvPr id="6" name="Shape 4"/>
          <p:cNvSpPr/>
          <p:nvPr/>
        </p:nvSpPr>
        <p:spPr>
          <a:xfrm>
            <a:off x="10131552" y="6588252"/>
            <a:ext cx="27432" cy="27432"/>
          </a:xfrm>
          <a:prstGeom prst="ellipse">
            <a:avLst/>
          </a:prstGeom>
          <a:solidFill>
            <a:srgbClr val="DFE6F2"/>
          </a:solidFill>
          <a:ln w="12700">
            <a:solidFill>
              <a:srgbClr val="DFE6F2">
                <a:alpha val="0"/>
              </a:srgbClr>
            </a:solidFill>
            <a:prstDash val="solid"/>
          </a:ln>
        </p:spPr>
        <p:txBody>
          <a:bodyPr/>
          <a:p/>
        </p:txBody>
      </p:sp>
      <p:sp>
        <p:nvSpPr>
          <p:cNvPr id="7" name="Shape 5"/>
          <p:cNvSpPr/>
          <p:nvPr/>
        </p:nvSpPr>
        <p:spPr>
          <a:xfrm>
            <a:off x="10232136" y="6588252"/>
            <a:ext cx="27432" cy="27432"/>
          </a:xfrm>
          <a:prstGeom prst="ellipse">
            <a:avLst/>
          </a:prstGeom>
          <a:solidFill>
            <a:srgbClr val="DFE6F2"/>
          </a:solidFill>
          <a:ln w="12700">
            <a:solidFill>
              <a:srgbClr val="DFE6F2">
                <a:alpha val="0"/>
              </a:srgbClr>
            </a:solidFill>
            <a:prstDash val="solid"/>
          </a:ln>
        </p:spPr>
        <p:txBody>
          <a:bodyPr/>
          <a:p/>
        </p:txBody>
      </p:sp>
      <p:sp>
        <p:nvSpPr>
          <p:cNvPr id="8" name="Shape 6"/>
          <p:cNvSpPr/>
          <p:nvPr/>
        </p:nvSpPr>
        <p:spPr>
          <a:xfrm>
            <a:off x="10332720" y="6588252"/>
            <a:ext cx="27432" cy="27432"/>
          </a:xfrm>
          <a:prstGeom prst="ellipse">
            <a:avLst/>
          </a:prstGeom>
          <a:solidFill>
            <a:srgbClr val="DFE6F2"/>
          </a:solidFill>
          <a:ln w="12700">
            <a:solidFill>
              <a:srgbClr val="DFE6F2">
                <a:alpha val="0"/>
              </a:srgbClr>
            </a:solidFill>
            <a:prstDash val="solid"/>
          </a:ln>
        </p:spPr>
        <p:txBody>
          <a:bodyPr/>
          <a:p/>
        </p:txBody>
      </p:sp>
      <p:sp>
        <p:nvSpPr>
          <p:cNvPr id="9" name="Shape 7"/>
          <p:cNvSpPr/>
          <p:nvPr/>
        </p:nvSpPr>
        <p:spPr>
          <a:xfrm>
            <a:off x="10433304" y="6588252"/>
            <a:ext cx="27432" cy="27432"/>
          </a:xfrm>
          <a:prstGeom prst="ellipse">
            <a:avLst/>
          </a:prstGeom>
          <a:solidFill>
            <a:srgbClr val="DFE6F2"/>
          </a:solidFill>
          <a:ln w="12700">
            <a:solidFill>
              <a:srgbClr val="DFE6F2">
                <a:alpha val="0"/>
              </a:srgbClr>
            </a:solidFill>
            <a:prstDash val="solid"/>
          </a:ln>
        </p:spPr>
        <p:txBody>
          <a:bodyPr/>
          <a:p/>
        </p:txBody>
      </p:sp>
      <p:sp>
        <p:nvSpPr>
          <p:cNvPr id="10" name="Shape 8"/>
          <p:cNvSpPr/>
          <p:nvPr/>
        </p:nvSpPr>
        <p:spPr>
          <a:xfrm>
            <a:off x="10533888" y="6588252"/>
            <a:ext cx="27432" cy="27432"/>
          </a:xfrm>
          <a:prstGeom prst="ellipse">
            <a:avLst/>
          </a:prstGeom>
          <a:solidFill>
            <a:srgbClr val="DFE6F2"/>
          </a:solidFill>
          <a:ln w="12700">
            <a:solidFill>
              <a:srgbClr val="DFE6F2">
                <a:alpha val="0"/>
              </a:srgbClr>
            </a:solidFill>
            <a:prstDash val="solid"/>
          </a:ln>
        </p:spPr>
        <p:txBody>
          <a:bodyPr/>
          <a:p/>
        </p:txBody>
      </p:sp>
      <p:sp>
        <p:nvSpPr>
          <p:cNvPr id="11" name="Shape 9"/>
          <p:cNvSpPr/>
          <p:nvPr/>
        </p:nvSpPr>
        <p:spPr>
          <a:xfrm>
            <a:off x="10634472" y="6588252"/>
            <a:ext cx="27432" cy="27432"/>
          </a:xfrm>
          <a:prstGeom prst="ellipse">
            <a:avLst/>
          </a:prstGeom>
          <a:solidFill>
            <a:srgbClr val="DFE6F2"/>
          </a:solidFill>
          <a:ln w="12700">
            <a:solidFill>
              <a:srgbClr val="DFE6F2">
                <a:alpha val="0"/>
              </a:srgbClr>
            </a:solidFill>
            <a:prstDash val="solid"/>
          </a:ln>
        </p:spPr>
        <p:txBody>
          <a:bodyPr/>
          <a:p/>
        </p:txBody>
      </p:sp>
      <p:sp>
        <p:nvSpPr>
          <p:cNvPr id="12" name="Shape 10"/>
          <p:cNvSpPr/>
          <p:nvPr/>
        </p:nvSpPr>
        <p:spPr>
          <a:xfrm>
            <a:off x="10735056" y="6588252"/>
            <a:ext cx="27432" cy="27432"/>
          </a:xfrm>
          <a:prstGeom prst="ellipse">
            <a:avLst/>
          </a:prstGeom>
          <a:solidFill>
            <a:srgbClr val="DFE6F2"/>
          </a:solidFill>
          <a:ln w="12700">
            <a:solidFill>
              <a:srgbClr val="DFE6F2">
                <a:alpha val="0"/>
              </a:srgbClr>
            </a:solidFill>
            <a:prstDash val="solid"/>
          </a:ln>
        </p:spPr>
        <p:txBody>
          <a:bodyPr/>
          <a:p/>
        </p:txBody>
      </p:sp>
      <p:sp>
        <p:nvSpPr>
          <p:cNvPr id="13" name="Shape 11"/>
          <p:cNvSpPr/>
          <p:nvPr/>
        </p:nvSpPr>
        <p:spPr>
          <a:xfrm>
            <a:off x="10835640" y="6588252"/>
            <a:ext cx="27432" cy="27432"/>
          </a:xfrm>
          <a:prstGeom prst="ellipse">
            <a:avLst/>
          </a:prstGeom>
          <a:solidFill>
            <a:srgbClr val="DFE6F2"/>
          </a:solidFill>
          <a:ln w="12700">
            <a:solidFill>
              <a:srgbClr val="DFE6F2">
                <a:alpha val="0"/>
              </a:srgbClr>
            </a:solidFill>
            <a:prstDash val="solid"/>
          </a:ln>
        </p:spPr>
        <p:txBody>
          <a:bodyPr/>
          <a:p/>
        </p:txBody>
      </p:sp>
      <p:sp>
        <p:nvSpPr>
          <p:cNvPr id="14" name="Shape 12"/>
          <p:cNvSpPr/>
          <p:nvPr/>
        </p:nvSpPr>
        <p:spPr>
          <a:xfrm>
            <a:off x="10936224" y="6588252"/>
            <a:ext cx="27432" cy="27432"/>
          </a:xfrm>
          <a:prstGeom prst="ellipse">
            <a:avLst/>
          </a:prstGeom>
          <a:solidFill>
            <a:srgbClr val="DFE6F2"/>
          </a:solidFill>
          <a:ln w="12700">
            <a:solidFill>
              <a:srgbClr val="DFE6F2">
                <a:alpha val="0"/>
              </a:srgbClr>
            </a:solidFill>
            <a:prstDash val="solid"/>
          </a:ln>
        </p:spPr>
        <p:txBody>
          <a:bodyPr/>
          <a:p/>
        </p:txBody>
      </p:sp>
      <p:sp>
        <p:nvSpPr>
          <p:cNvPr id="15" name="Shape 13"/>
          <p:cNvSpPr/>
          <p:nvPr/>
        </p:nvSpPr>
        <p:spPr>
          <a:xfrm>
            <a:off x="11036808" y="6588252"/>
            <a:ext cx="27432" cy="27432"/>
          </a:xfrm>
          <a:prstGeom prst="ellipse">
            <a:avLst/>
          </a:prstGeom>
          <a:solidFill>
            <a:srgbClr val="6C5CE7"/>
          </a:solidFill>
          <a:ln w="12700">
            <a:solidFill>
              <a:srgbClr val="6C5CE7">
                <a:alpha val="0"/>
              </a:srgbClr>
            </a:solidFill>
            <a:prstDash val="solid"/>
          </a:ln>
        </p:spPr>
        <p:txBody>
          <a:bodyPr/>
          <a:p/>
        </p:txBody>
      </p:sp>
      <p:sp>
        <p:nvSpPr>
          <p:cNvPr id="16" name="Text 14"/>
          <p:cNvSpPr/>
          <p:nvPr/>
        </p:nvSpPr>
        <p:spPr>
          <a:xfrm>
            <a:off x="11228832" y="6519672"/>
            <a:ext cx="338328" cy="173736"/>
          </a:xfrm>
          <a:prstGeom prst="rect">
            <a:avLst/>
          </a:prstGeom>
          <a:noFill/>
          <a:ln/>
        </p:spPr>
        <p:txBody>
          <a:bodyPr wrap="square" lIns="0" tIns="0" rIns="0" bIns="0" rtlCol="0" anchor="ctr">
            <a:normAutofit/>
          </a:bodyPr>
          <a:lstStyle/>
          <a:p>
            <a:pPr algn="ctr" indent="0" marL="0">
              <a:buNone/>
            </a:pPr>
            <a:r>
              <a:rPr lang="en-US" sz="920" b="1" dirty="0">
                <a:solidFill>
                  <a:srgbClr val="4E5F7B"/>
                </a:solidFill>
                <a:latin typeface="Arial" pitchFamily="34" charset="0"/>
                <a:ea typeface="Arial" pitchFamily="34" charset="-122"/>
                <a:cs typeface="Arial" pitchFamily="34" charset="-120"/>
              </a:rPr>
              <a:t>10</a:t>
            </a:r>
            <a:endParaRPr lang="en-US" sz="920" dirty="0"/>
          </a:p>
        </p:txBody>
      </p:sp>
      <p:sp>
        <p:nvSpPr>
          <p:cNvPr id="17" name="Shape 15"/>
          <p:cNvSpPr/>
          <p:nvPr/>
        </p:nvSpPr>
        <p:spPr>
          <a:xfrm>
            <a:off x="1508760" y="1298448"/>
            <a:ext cx="9171432" cy="4663440"/>
          </a:xfrm>
          <a:prstGeom prst="roundRect">
            <a:avLst>
              <a:gd name="adj" fmla="val 2549"/>
            </a:avLst>
          </a:prstGeom>
          <a:solidFill>
            <a:srgbClr val="FFFFFF"/>
          </a:solidFill>
          <a:ln w="10160">
            <a:solidFill>
              <a:srgbClr val="DFE6F2"/>
            </a:solidFill>
            <a:prstDash val="solid"/>
          </a:ln>
        </p:spPr>
        <p:txBody>
          <a:bodyPr/>
          <a:p/>
        </p:txBody>
      </p:sp>
      <p:sp>
        <p:nvSpPr>
          <p:cNvPr id="18" name="Shape 16"/>
          <p:cNvSpPr/>
          <p:nvPr/>
        </p:nvSpPr>
        <p:spPr>
          <a:xfrm>
            <a:off x="4096512" y="2039112"/>
            <a:ext cx="548640" cy="548640"/>
          </a:xfrm>
          <a:prstGeom prst="ellipse">
            <a:avLst/>
          </a:prstGeom>
          <a:solidFill>
            <a:srgbClr val="EFECFD"/>
          </a:solidFill>
          <a:ln w="12700">
            <a:solidFill>
              <a:srgbClr val="EFECFD">
                <a:alpha val="0"/>
              </a:srgbClr>
            </a:solidFill>
            <a:prstDash val="solid"/>
          </a:ln>
        </p:spPr>
        <p:txBody>
          <a:bodyPr/>
          <a:p/>
        </p:txBody>
      </p:sp>
      <p:sp>
        <p:nvSpPr>
          <p:cNvPr id="19" name="Text 17"/>
          <p:cNvSpPr/>
          <p:nvPr/>
        </p:nvSpPr>
        <p:spPr>
          <a:xfrm>
            <a:off x="4096512" y="2048256"/>
            <a:ext cx="548640" cy="530352"/>
          </a:xfrm>
          <a:prstGeom prst="rect">
            <a:avLst/>
          </a:prstGeom>
          <a:noFill/>
          <a:ln/>
        </p:spPr>
        <p:txBody>
          <a:bodyPr wrap="square" lIns="0" tIns="0" rIns="0" bIns="0" rtlCol="0" anchor="ctr">
            <a:normAutofit/>
          </a:bodyPr>
          <a:lstStyle/>
          <a:p>
            <a:pPr algn="ctr" indent="0" marL="0">
              <a:buNone/>
            </a:pPr>
            <a:r>
              <a:rPr lang="en-US" sz="1900" b="1" dirty="0">
                <a:solidFill>
                  <a:srgbClr val="6C5CE7"/>
                </a:solidFill>
                <a:latin typeface="Arial" pitchFamily="34" charset="0"/>
                <a:ea typeface="Arial" pitchFamily="34" charset="-122"/>
                <a:cs typeface="Arial" pitchFamily="34" charset="-120"/>
              </a:rPr>
              <a:t>S</a:t>
            </a:r>
            <a:endParaRPr lang="en-US" sz="1900" dirty="0"/>
          </a:p>
        </p:txBody>
      </p:sp>
      <p:sp>
        <p:nvSpPr>
          <p:cNvPr id="20" name="Shape 18"/>
          <p:cNvSpPr/>
          <p:nvPr/>
        </p:nvSpPr>
        <p:spPr>
          <a:xfrm>
            <a:off x="4645152" y="2313432"/>
            <a:ext cx="594360" cy="0"/>
          </a:xfrm>
          <a:prstGeom prst="line">
            <a:avLst/>
          </a:prstGeom>
          <a:noFill/>
          <a:ln w="25400">
            <a:solidFill>
              <a:srgbClr val="138D87"/>
            </a:solidFill>
            <a:prstDash val="solid"/>
            <a:headEnd type="none"/>
            <a:tailEnd type="none"/>
          </a:ln>
        </p:spPr>
        <p:txBody>
          <a:bodyPr/>
          <a:p/>
        </p:txBody>
      </p:sp>
      <p:sp>
        <p:nvSpPr>
          <p:cNvPr id="21" name="Shape 19"/>
          <p:cNvSpPr/>
          <p:nvPr/>
        </p:nvSpPr>
        <p:spPr>
          <a:xfrm>
            <a:off x="5239512" y="1993392"/>
            <a:ext cx="0" cy="320040"/>
          </a:xfrm>
          <a:prstGeom prst="line">
            <a:avLst/>
          </a:prstGeom>
          <a:noFill/>
          <a:ln w="25400">
            <a:solidFill>
              <a:srgbClr val="138D87"/>
            </a:solidFill>
            <a:prstDash val="solid"/>
            <a:headEnd type="none"/>
            <a:tailEnd type="none"/>
          </a:ln>
        </p:spPr>
        <p:txBody>
          <a:bodyPr/>
          <a:p/>
        </p:txBody>
      </p:sp>
      <p:sp>
        <p:nvSpPr>
          <p:cNvPr id="22" name="Shape 20"/>
          <p:cNvSpPr/>
          <p:nvPr/>
        </p:nvSpPr>
        <p:spPr>
          <a:xfrm>
            <a:off x="5239512" y="1993392"/>
            <a:ext cx="1819656" cy="0"/>
          </a:xfrm>
          <a:prstGeom prst="line">
            <a:avLst/>
          </a:prstGeom>
          <a:noFill/>
          <a:ln w="25400">
            <a:solidFill>
              <a:srgbClr val="138D87"/>
            </a:solidFill>
            <a:prstDash val="solid"/>
            <a:headEnd type="none"/>
            <a:tailEnd type="none"/>
          </a:ln>
        </p:spPr>
        <p:txBody>
          <a:bodyPr/>
          <a:p/>
        </p:txBody>
      </p:sp>
      <p:sp>
        <p:nvSpPr>
          <p:cNvPr id="23" name="Shape 21"/>
          <p:cNvSpPr/>
          <p:nvPr/>
        </p:nvSpPr>
        <p:spPr>
          <a:xfrm>
            <a:off x="7059168" y="1993392"/>
            <a:ext cx="0" cy="320040"/>
          </a:xfrm>
          <a:prstGeom prst="line">
            <a:avLst/>
          </a:prstGeom>
          <a:noFill/>
          <a:ln w="25400">
            <a:solidFill>
              <a:srgbClr val="138D87"/>
            </a:solidFill>
            <a:prstDash val="solid"/>
            <a:headEnd type="none"/>
            <a:tailEnd type="none"/>
          </a:ln>
        </p:spPr>
        <p:txBody>
          <a:bodyPr/>
          <a:p/>
        </p:txBody>
      </p:sp>
      <p:sp>
        <p:nvSpPr>
          <p:cNvPr id="24" name="Shape 22"/>
          <p:cNvSpPr/>
          <p:nvPr/>
        </p:nvSpPr>
        <p:spPr>
          <a:xfrm>
            <a:off x="7059168" y="2313432"/>
            <a:ext cx="548640" cy="0"/>
          </a:xfrm>
          <a:prstGeom prst="line">
            <a:avLst/>
          </a:prstGeom>
          <a:noFill/>
          <a:ln w="25400">
            <a:solidFill>
              <a:srgbClr val="138D87"/>
            </a:solidFill>
            <a:prstDash val="solid"/>
            <a:headEnd type="none"/>
            <a:tailEnd type="none"/>
          </a:ln>
        </p:spPr>
        <p:txBody>
          <a:bodyPr/>
          <a:p/>
        </p:txBody>
      </p:sp>
      <p:sp>
        <p:nvSpPr>
          <p:cNvPr id="25" name="Shape 23"/>
          <p:cNvSpPr/>
          <p:nvPr/>
        </p:nvSpPr>
        <p:spPr>
          <a:xfrm>
            <a:off x="7607808" y="2039112"/>
            <a:ext cx="667512" cy="548640"/>
          </a:xfrm>
          <a:prstGeom prst="roundRect">
            <a:avLst>
              <a:gd name="adj" fmla="val 21667"/>
            </a:avLst>
          </a:prstGeom>
          <a:solidFill>
            <a:srgbClr val="E7F6F2"/>
          </a:solidFill>
          <a:ln w="10160">
            <a:solidFill>
              <a:srgbClr val="E7F6F2"/>
            </a:solidFill>
            <a:prstDash val="solid"/>
          </a:ln>
        </p:spPr>
        <p:txBody>
          <a:bodyPr/>
          <a:p/>
        </p:txBody>
      </p:sp>
      <p:sp>
        <p:nvSpPr>
          <p:cNvPr id="26" name="Text 24"/>
          <p:cNvSpPr/>
          <p:nvPr/>
        </p:nvSpPr>
        <p:spPr>
          <a:xfrm>
            <a:off x="7680960" y="2061972"/>
            <a:ext cx="521208" cy="502920"/>
          </a:xfrm>
          <a:prstGeom prst="rect">
            <a:avLst/>
          </a:prstGeom>
          <a:noFill/>
          <a:ln/>
        </p:spPr>
        <p:txBody>
          <a:bodyPr wrap="square" lIns="0" tIns="0" rIns="0" bIns="0" rtlCol="0" anchor="ctr">
            <a:normAutofit/>
          </a:bodyPr>
          <a:lstStyle/>
          <a:p>
            <a:pPr algn="ctr" indent="0" marL="0">
              <a:buNone/>
            </a:pPr>
            <a:r>
              <a:rPr lang="en-US" sz="1200" b="1" dirty="0">
                <a:solidFill>
                  <a:srgbClr val="138D87"/>
                </a:solidFill>
                <a:latin typeface="Arial" pitchFamily="34" charset="0"/>
                <a:ea typeface="Arial" pitchFamily="34" charset="-122"/>
                <a:cs typeface="Arial" pitchFamily="34" charset="-120"/>
              </a:rPr>
              <a:t>EXIT</a:t>
            </a:r>
            <a:endParaRPr lang="en-US" sz="1200" dirty="0"/>
          </a:p>
        </p:txBody>
      </p:sp>
      <p:sp>
        <p:nvSpPr>
          <p:cNvPr id="27" name="Text 25"/>
          <p:cNvSpPr/>
          <p:nvPr/>
        </p:nvSpPr>
        <p:spPr>
          <a:xfrm>
            <a:off x="1828800" y="3054096"/>
            <a:ext cx="8540496" cy="777240"/>
          </a:xfrm>
          <a:prstGeom prst="rect">
            <a:avLst/>
          </a:prstGeom>
          <a:noFill/>
          <a:ln/>
        </p:spPr>
        <p:txBody>
          <a:bodyPr wrap="square" lIns="0" tIns="0" rIns="0" bIns="0" rtlCol="0" anchor="ctr">
            <a:normAutofit/>
          </a:bodyPr>
          <a:lstStyle/>
          <a:p>
            <a:pPr algn="ctr" indent="0" marL="0">
              <a:buNone/>
            </a:pPr>
            <a:r>
              <a:rPr lang="en-US" sz="4700" b="1" dirty="0">
                <a:solidFill>
                  <a:srgbClr val="25344E"/>
                </a:solidFill>
                <a:latin typeface="Arial" pitchFamily="34" charset="0"/>
                <a:ea typeface="Arial" pitchFamily="34" charset="-122"/>
                <a:cs typeface="Arial" pitchFamily="34" charset="-120"/>
              </a:rPr>
              <a:t>Thank you!</a:t>
            </a:r>
            <a:endParaRPr lang="en-US" sz="4700" dirty="0"/>
          </a:p>
        </p:txBody>
      </p:sp>
      <p:sp>
        <p:nvSpPr>
          <p:cNvPr id="28" name="Text 26"/>
          <p:cNvSpPr/>
          <p:nvPr/>
        </p:nvSpPr>
        <p:spPr>
          <a:xfrm>
            <a:off x="1828800" y="4169664"/>
            <a:ext cx="8540496" cy="466344"/>
          </a:xfrm>
          <a:prstGeom prst="rect">
            <a:avLst/>
          </a:prstGeom>
          <a:noFill/>
          <a:ln/>
        </p:spPr>
        <p:txBody>
          <a:bodyPr wrap="square" lIns="0" tIns="0" rIns="0" bIns="0" rtlCol="0" anchor="ctr">
            <a:normAutofit/>
          </a:bodyPr>
          <a:lstStyle/>
          <a:p>
            <a:pPr algn="ctr" indent="0" marL="0">
              <a:buNone/>
            </a:pPr>
            <a:r>
              <a:rPr lang="en-US" sz="2700" b="1" dirty="0">
                <a:solidFill>
                  <a:srgbClr val="6C5CE7"/>
                </a:solidFill>
                <a:latin typeface="Arial" pitchFamily="34" charset="0"/>
                <a:ea typeface="Arial" pitchFamily="34" charset="-122"/>
                <a:cs typeface="Arial" pitchFamily="34" charset="-120"/>
              </a:rPr>
              <a:t>Questions?</a:t>
            </a:r>
            <a:endParaRPr lang="en-US" sz="2700" dirty="0"/>
          </a:p>
        </p:txBody>
      </p:sp>
      <p:sp>
        <p:nvSpPr>
          <p:cNvPr id="29" name="Text 27"/>
          <p:cNvSpPr/>
          <p:nvPr/>
        </p:nvSpPr>
        <p:spPr>
          <a:xfrm>
            <a:off x="1828800" y="5266944"/>
            <a:ext cx="8540496" cy="320040"/>
          </a:xfrm>
          <a:prstGeom prst="rect">
            <a:avLst/>
          </a:prstGeom>
          <a:noFill/>
          <a:ln/>
        </p:spPr>
        <p:txBody>
          <a:bodyPr wrap="square" lIns="0" tIns="0" rIns="0" bIns="0" rtlCol="0" anchor="ctr">
            <a:normAutofit/>
          </a:bodyPr>
          <a:lstStyle/>
          <a:p>
            <a:pPr algn="ctr" indent="0" marL="0">
              <a:buNone/>
            </a:pPr>
            <a:r>
              <a:rPr lang="en-US" sz="1700" dirty="0">
                <a:solidFill>
                  <a:srgbClr val="8390A7"/>
                </a:solidFill>
                <a:latin typeface="Arial" pitchFamily="34" charset="0"/>
                <a:ea typeface="Arial" pitchFamily="34" charset="-122"/>
                <a:cs typeface="Arial" pitchFamily="34" charset="-120"/>
              </a:rPr>
              <a:t>Campus Emergency Evacuation Route Planner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Lab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Emergency Evacuation Route Planner</dc:title>
  <dc:subject>Campus Emergency Evacuation Route Planner - presentation cues</dc:subject>
  <dc:creator>Project Team</dc:creator>
  <cp:lastModifiedBy>Project Team</cp:lastModifiedBy>
  <cp:revision>1</cp:revision>
  <dcterms:created xsi:type="dcterms:W3CDTF">2026-09-13T16:56:52Z</dcterms:created>
  <dcterms:modified xsi:type="dcterms:W3CDTF">2026-09-13T16:56:52Z</dcterms:modified>
</cp:coreProperties>
</file>